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56" r:id="rId2"/>
    <p:sldId id="323" r:id="rId3"/>
    <p:sldId id="257" r:id="rId4"/>
    <p:sldId id="258" r:id="rId5"/>
    <p:sldId id="259" r:id="rId6"/>
    <p:sldId id="260" r:id="rId7"/>
    <p:sldId id="261" r:id="rId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1936"/>
    <a:srgbClr val="FF775C"/>
    <a:srgbClr val="4A76F5"/>
    <a:srgbClr val="DB4F9E"/>
    <a:srgbClr val="A858BD"/>
    <a:srgbClr val="946EF5"/>
    <a:srgbClr val="5F708D"/>
    <a:srgbClr val="F9F7F4"/>
    <a:srgbClr val="E36080"/>
    <a:srgbClr val="6B7B9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48"/>
    <p:restoredTop sz="96164"/>
  </p:normalViewPr>
  <p:slideViewPr>
    <p:cSldViewPr snapToGrid="0" snapToObjects="1">
      <p:cViewPr varScale="1">
        <p:scale>
          <a:sx n="157" d="100"/>
          <a:sy n="157" d="100"/>
        </p:scale>
        <p:origin x="688" y="5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265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E"/>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A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is the handover, not the agent. Use the telecom care agent on the left: one agent, three handovers, three different authorities. Then the plot: vertical is how alone it acts, horizontal is what it costs to be wrong, the staircase is the ceiling. The two ringed dots are deliberately above the line — both are correct designs, because the authority lives in an approved rule set rather than in the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implementation answer. The questions are closed, the mapping is deterministic, and the person answering is the process owner rather than an AI specialist. Run it live in the room on something the client already has in production — most cannot answer Q2 for at least one handover, and almost nobody can answer Q6.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failures, one diagnosis. Then invert it: the ceiling is not only a brake, it is a shipping plan — it tells you which handovers are already permitted at full autonomy today. Close on the evidence strip.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artefact a client actually receives per handover. Note that no step required an AI specialist — every answer came from the person who runs the operation.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point: 'vision defect reject' and 'grid load shed' are both automated decisions, and they sit five bands apart. Nothing about the model or the vendor determines that. Only reversibility and reach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4C12F907-4A07-BD7A-4B72-34C2950B985E}"/>
              </a:ext>
            </a:extLst>
          </p:cNvPr>
          <p:cNvSpPr/>
          <p:nvPr userDrawn="1"/>
        </p:nvSpPr>
        <p:spPr>
          <a:xfrm>
            <a:off x="0" y="0"/>
            <a:ext cx="9144000" cy="5143500"/>
          </a:xfrm>
          <a:prstGeom prst="rect">
            <a:avLst/>
          </a:prstGeom>
          <a:solidFill>
            <a:srgbClr val="071936"/>
          </a:solidFill>
          <a:ln/>
        </p:spPr>
        <p:txBody>
          <a:bodyPr/>
          <a:lstStyle/>
          <a:p>
            <a:endParaRPr lang="en-AE"/>
          </a:p>
        </p:txBody>
      </p:sp>
      <p:pic>
        <p:nvPicPr>
          <p:cNvPr id="8" name="Image 0" descr="preencoded.png">
            <a:extLst>
              <a:ext uri="{FF2B5EF4-FFF2-40B4-BE49-F238E27FC236}">
                <a16:creationId xmlns:a16="http://schemas.microsoft.com/office/drawing/2014/main" id="{0437B906-5525-33E3-4FD9-3A8AEDB8FB83}"/>
              </a:ext>
            </a:extLst>
          </p:cNvPr>
          <p:cNvPicPr>
            <a:picLocks noChangeAspect="1"/>
          </p:cNvPicPr>
          <p:nvPr userDrawn="1"/>
        </p:nvPicPr>
        <p:blipFill>
          <a:blip r:embed="rId2">
            <a:alphaModFix amt="80000"/>
          </a:blip>
          <a:stretch>
            <a:fillRect/>
          </a:stretch>
        </p:blipFill>
        <p:spPr>
          <a:xfrm>
            <a:off x="3839542" y="0"/>
            <a:ext cx="5305425" cy="5143500"/>
          </a:xfrm>
          <a:prstGeom prst="rect">
            <a:avLst/>
          </a:prstGeom>
        </p:spPr>
      </p:pic>
      <p:sp>
        <p:nvSpPr>
          <p:cNvPr id="6" name="Slide Number Placeholder 5"/>
          <p:cNvSpPr>
            <a:spLocks noGrp="1"/>
          </p:cNvSpPr>
          <p:nvPr>
            <p:ph type="sldNum" sz="quarter" idx="12"/>
          </p:nvPr>
        </p:nvSpPr>
        <p:spPr>
          <a:xfrm>
            <a:off x="6553200" y="4938711"/>
            <a:ext cx="2133600" cy="112713"/>
          </a:xfrm>
          <a:prstGeom prst="rect">
            <a:avLst/>
          </a:prstGeom>
        </p:spPr>
        <p:txBody>
          <a:bodyPr lIns="0" tIns="0" rIns="0" bIns="0" anchor="ctr"/>
          <a:lstStyle/>
          <a:p>
            <a:fld id="{C1FF6DA9-008F-8B48-92A6-B652298478BF}" type="slidenum">
              <a:rPr lang="en-US" smtClean="0"/>
              <a:t>‹#›</a:t>
            </a:fld>
            <a:endParaRPr lang="en-US"/>
          </a:p>
        </p:txBody>
      </p:sp>
      <p:sp>
        <p:nvSpPr>
          <p:cNvPr id="22" name="Rectangle 21">
            <a:extLst>
              <a:ext uri="{FF2B5EF4-FFF2-40B4-BE49-F238E27FC236}">
                <a16:creationId xmlns:a16="http://schemas.microsoft.com/office/drawing/2014/main" id="{08AC3C89-1285-C4B8-B2E2-A857DE716188}"/>
              </a:ext>
            </a:extLst>
          </p:cNvPr>
          <p:cNvSpPr/>
          <p:nvPr userDrawn="1"/>
        </p:nvSpPr>
        <p:spPr>
          <a:xfrm>
            <a:off x="0" y="0"/>
            <a:ext cx="9150263" cy="5142567"/>
          </a:xfrm>
          <a:prstGeom prst="rect">
            <a:avLst/>
          </a:prstGeom>
          <a:gradFill flip="none" rotWithShape="1">
            <a:gsLst>
              <a:gs pos="0">
                <a:srgbClr val="061936"/>
              </a:gs>
              <a:gs pos="63011">
                <a:srgbClr val="FFFFFF">
                  <a:alpha val="0"/>
                </a:srgbClr>
              </a:gs>
              <a:gs pos="50000">
                <a:srgbClr val="061936">
                  <a:alpha val="49927"/>
                </a:srgbClr>
              </a:gs>
              <a:gs pos="42000">
                <a:srgbClr val="061936"/>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E"/>
          </a:p>
        </p:txBody>
      </p:sp>
      <p:pic>
        <p:nvPicPr>
          <p:cNvPr id="10" name="Image 2" descr="preencoded.png">
            <a:extLst>
              <a:ext uri="{FF2B5EF4-FFF2-40B4-BE49-F238E27FC236}">
                <a16:creationId xmlns:a16="http://schemas.microsoft.com/office/drawing/2014/main" id="{DFAD5371-41DC-0D8B-AB8F-7E7BC5B34EC7}"/>
              </a:ext>
            </a:extLst>
          </p:cNvPr>
          <p:cNvPicPr>
            <a:picLocks noChangeAspect="1"/>
          </p:cNvPicPr>
          <p:nvPr userDrawn="1"/>
        </p:nvPicPr>
        <p:blipFill>
          <a:blip r:embed="rId3"/>
          <a:stretch>
            <a:fillRect/>
          </a:stretch>
        </p:blipFill>
        <p:spPr>
          <a:xfrm>
            <a:off x="457646" y="256654"/>
            <a:ext cx="1004887" cy="671513"/>
          </a:xfrm>
          <a:prstGeom prst="rect">
            <a:avLst/>
          </a:prstGeom>
        </p:spPr>
      </p:pic>
      <p:pic>
        <p:nvPicPr>
          <p:cNvPr id="15" name="Image 3" descr="preencoded.png">
            <a:extLst>
              <a:ext uri="{FF2B5EF4-FFF2-40B4-BE49-F238E27FC236}">
                <a16:creationId xmlns:a16="http://schemas.microsoft.com/office/drawing/2014/main" id="{0ABB278E-A6F9-7193-55BA-A1E6E5014CF2}"/>
              </a:ext>
            </a:extLst>
          </p:cNvPr>
          <p:cNvPicPr>
            <a:picLocks noChangeAspect="1"/>
          </p:cNvPicPr>
          <p:nvPr userDrawn="1"/>
        </p:nvPicPr>
        <p:blipFill>
          <a:blip r:embed="rId4"/>
          <a:stretch>
            <a:fillRect/>
          </a:stretch>
        </p:blipFill>
        <p:spPr>
          <a:xfrm>
            <a:off x="457200" y="4861582"/>
            <a:ext cx="2743200" cy="23812"/>
          </a:xfrm>
          <a:prstGeom prst="rect">
            <a:avLst/>
          </a:prstGeom>
        </p:spPr>
      </p:pic>
      <p:sp>
        <p:nvSpPr>
          <p:cNvPr id="2" name="Title 1"/>
          <p:cNvSpPr>
            <a:spLocks noGrp="1"/>
          </p:cNvSpPr>
          <p:nvPr>
            <p:ph type="ctrTitle" hasCustomPrompt="1"/>
          </p:nvPr>
        </p:nvSpPr>
        <p:spPr>
          <a:xfrm>
            <a:off x="457199" y="1658293"/>
            <a:ext cx="5158259" cy="584775"/>
          </a:xfrm>
          <a:noFill/>
          <a:ln/>
        </p:spPr>
        <p:txBody>
          <a:bodyPr wrap="none" lIns="0" tIns="0" rIns="0" bIns="0" rtlCol="0" anchor="ctr"/>
          <a:lstStyle>
            <a:lvl1pPr>
              <a:defRPr lang="en-US" sz="3800" kern="0" spc="-374">
                <a:solidFill>
                  <a:srgbClr val="FFFFFF"/>
                </a:solidFill>
                <a:latin typeface="Comfortaa Medium" pitchFamily="2" charset="0"/>
                <a:ea typeface="Comfortaa Medium" pitchFamily="2" charset="0"/>
                <a:cs typeface="Comfortaa Medium" pitchFamily="2" charset="0"/>
              </a:defRPr>
            </a:lvl1pPr>
          </a:lstStyle>
          <a:p>
            <a:pPr marL="0" lvl="0" indent="0">
              <a:spcBef>
                <a:spcPts val="1620"/>
              </a:spcBef>
            </a:pPr>
            <a:r>
              <a:rPr lang="en-US" dirty="0"/>
              <a:t>Click to edit title line 1</a:t>
            </a:r>
          </a:p>
        </p:txBody>
      </p:sp>
      <p:sp>
        <p:nvSpPr>
          <p:cNvPr id="5" name="Footer Placeholder 4"/>
          <p:cNvSpPr>
            <a:spLocks noGrp="1"/>
          </p:cNvSpPr>
          <p:nvPr>
            <p:ph type="ftr" sz="quarter" idx="11"/>
          </p:nvPr>
        </p:nvSpPr>
        <p:spPr>
          <a:xfrm>
            <a:off x="457200" y="4938711"/>
            <a:ext cx="2898003" cy="151471"/>
          </a:xfrm>
          <a:prstGeom prst="rect">
            <a:avLst/>
          </a:prstGeom>
        </p:spPr>
        <p:txBody>
          <a:bodyPr lIns="0" tIns="0" rIns="0" bIns="0"/>
          <a:lstStyle/>
          <a:p>
            <a:r>
              <a:rPr lang="en-US" dirty="0"/>
              <a:t>© Cognirise 2026. All Rights Reserved.</a:t>
            </a:r>
          </a:p>
        </p:txBody>
      </p:sp>
      <p:sp>
        <p:nvSpPr>
          <p:cNvPr id="19" name="Text Placeholder 18">
            <a:extLst>
              <a:ext uri="{FF2B5EF4-FFF2-40B4-BE49-F238E27FC236}">
                <a16:creationId xmlns:a16="http://schemas.microsoft.com/office/drawing/2014/main" id="{656CD224-EA2A-3B4E-4707-216D055749F4}"/>
              </a:ext>
            </a:extLst>
          </p:cNvPr>
          <p:cNvSpPr>
            <a:spLocks noGrp="1"/>
          </p:cNvSpPr>
          <p:nvPr>
            <p:ph type="body" sz="quarter" idx="14" hasCustomPrompt="1"/>
          </p:nvPr>
        </p:nvSpPr>
        <p:spPr>
          <a:xfrm>
            <a:off x="456233" y="1219437"/>
            <a:ext cx="5159226" cy="344487"/>
          </a:xfrm>
          <a:noFill/>
          <a:ln/>
        </p:spPr>
        <p:txBody>
          <a:bodyPr wrap="none" lIns="0" tIns="0" rIns="0" bIns="0" rtlCol="0" anchor="ctr">
            <a:normAutofit/>
          </a:bodyPr>
          <a:lstStyle>
            <a:lvl1pPr marL="4763" indent="-4763">
              <a:buNone/>
              <a:tabLst/>
              <a:defRPr lang="en-US" sz="900" b="1" kern="0" spc="151" smtClean="0">
                <a:solidFill>
                  <a:srgbClr val="FFFFFF"/>
                </a:solidFill>
                <a:latin typeface="Inter" panose="02000503000000020004" pitchFamily="2" charset="0"/>
                <a:ea typeface="Inter" panose="02000503000000020004" pitchFamily="2" charset="0"/>
                <a:cs typeface="Inter" panose="02000503000000020004" pitchFamily="2" charset="0"/>
              </a:defRPr>
            </a:lvl1pPr>
            <a:lvl2pPr>
              <a:defRPr lang="en-US" sz="1800" smtClean="0"/>
            </a:lvl2pPr>
            <a:lvl3pPr>
              <a:defRPr lang="en-US" sz="1800" smtClean="0"/>
            </a:lvl3pPr>
            <a:lvl4pPr>
              <a:defRPr lang="en-US" sz="1800" smtClean="0"/>
            </a:lvl4pPr>
            <a:lvl5pPr>
              <a:defRPr lang="en-AE" sz="1800"/>
            </a:lvl5pPr>
          </a:lstStyle>
          <a:p>
            <a:pPr marL="342900" lvl="0" indent="-342900"/>
            <a:r>
              <a:rPr lang="en-US" dirty="0"/>
              <a:t>Click to edit Section Header</a:t>
            </a:r>
          </a:p>
        </p:txBody>
      </p:sp>
      <p:sp>
        <p:nvSpPr>
          <p:cNvPr id="21" name="Text Placeholder 20">
            <a:extLst>
              <a:ext uri="{FF2B5EF4-FFF2-40B4-BE49-F238E27FC236}">
                <a16:creationId xmlns:a16="http://schemas.microsoft.com/office/drawing/2014/main" id="{1898EBDA-DEB3-D3AF-CEE0-8B98669C38AA}"/>
              </a:ext>
            </a:extLst>
          </p:cNvPr>
          <p:cNvSpPr>
            <a:spLocks noGrp="1"/>
          </p:cNvSpPr>
          <p:nvPr>
            <p:ph type="body" sz="quarter" idx="15" hasCustomPrompt="1"/>
          </p:nvPr>
        </p:nvSpPr>
        <p:spPr>
          <a:xfrm>
            <a:off x="455265" y="3328640"/>
            <a:ext cx="3647010" cy="754062"/>
          </a:xfrm>
          <a:noFill/>
          <a:ln/>
        </p:spPr>
        <p:txBody>
          <a:bodyPr wrap="square" lIns="0" tIns="0" rIns="0" bIns="0" rtlCol="0" anchor="t">
            <a:normAutofit/>
          </a:bodyPr>
          <a:lstStyle>
            <a:lvl1pPr marL="4763" indent="-4763">
              <a:buNone/>
              <a:tabLst/>
              <a:defRPr lang="en-US" sz="1400" dirty="0" smtClean="0">
                <a:solidFill>
                  <a:srgbClr val="DBE3F0"/>
                </a:solidFill>
                <a:latin typeface="Comfortaa Medium" pitchFamily="2" charset="0"/>
                <a:ea typeface="Inter" panose="02000503000000020004" pitchFamily="2" charset="0"/>
                <a:cs typeface="Comfortaa Medium" pitchFamily="2" charset="0"/>
              </a:defRPr>
            </a:lvl1pPr>
            <a:lvl2pPr>
              <a:defRPr lang="en-US" sz="1800" dirty="0" smtClean="0"/>
            </a:lvl2pPr>
            <a:lvl3pPr>
              <a:defRPr lang="en-US" sz="1800" dirty="0" smtClean="0"/>
            </a:lvl3pPr>
            <a:lvl4pPr>
              <a:defRPr lang="en-US" sz="1800" dirty="0" smtClean="0"/>
            </a:lvl4pPr>
            <a:lvl5pPr>
              <a:defRPr lang="en-AE" sz="1800" dirty="0"/>
            </a:lvl5pPr>
          </a:lstStyle>
          <a:p>
            <a:pPr marL="342900" lvl="0" indent="-342900">
              <a:lnSpc>
                <a:spcPts val="2088"/>
              </a:lnSpc>
            </a:pPr>
            <a:r>
              <a:rPr lang="en-US" dirty="0"/>
              <a:t>Click to edit Section Description</a:t>
            </a:r>
          </a:p>
        </p:txBody>
      </p:sp>
    </p:spTree>
    <p:extLst>
      <p:ext uri="{BB962C8B-B14F-4D97-AF65-F5344CB8AC3E}">
        <p14:creationId xmlns:p14="http://schemas.microsoft.com/office/powerpoint/2010/main" val="316807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hold" nodeType="afterEffect">
                                  <p:stCondLst>
                                    <p:cond delay="0"/>
                                  </p:stCondLst>
                                  <p:endCondLst>
                                    <p:cond evt="onNext" delay="0">
                                      <p:tgtEl>
                                        <p:sldTgt/>
                                      </p:tgtEl>
                                    </p:cond>
                                  </p:endCondLst>
                                  <p:childTnLst>
                                    <p:animScale>
                                      <p:cBhvr>
                                        <p:cTn id="6" dur="60000" fill="hold"/>
                                        <p:tgtEl>
                                          <p:spTgt spid="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4C12F907-4A07-BD7A-4B72-34C2950B985E}"/>
              </a:ext>
            </a:extLst>
          </p:cNvPr>
          <p:cNvSpPr/>
          <p:nvPr userDrawn="1"/>
        </p:nvSpPr>
        <p:spPr>
          <a:xfrm>
            <a:off x="0" y="-933"/>
            <a:ext cx="9144000" cy="5143500"/>
          </a:xfrm>
          <a:prstGeom prst="rect">
            <a:avLst/>
          </a:prstGeom>
          <a:solidFill>
            <a:srgbClr val="071936"/>
          </a:solidFill>
          <a:ln/>
        </p:spPr>
        <p:txBody>
          <a:bodyPr/>
          <a:lstStyle/>
          <a:p>
            <a:endParaRPr lang="en-AE"/>
          </a:p>
        </p:txBody>
      </p:sp>
      <p:pic>
        <p:nvPicPr>
          <p:cNvPr id="3" name="Image 0" descr="preencoded.png">
            <a:extLst>
              <a:ext uri="{FF2B5EF4-FFF2-40B4-BE49-F238E27FC236}">
                <a16:creationId xmlns:a16="http://schemas.microsoft.com/office/drawing/2014/main" id="{AD7A7DD3-6985-339A-BF16-5C86E9AD1AAB}"/>
              </a:ext>
            </a:extLst>
          </p:cNvPr>
          <p:cNvPicPr>
            <a:picLocks noChangeAspect="1"/>
          </p:cNvPicPr>
          <p:nvPr userDrawn="1"/>
        </p:nvPicPr>
        <p:blipFill>
          <a:blip r:embed="rId2">
            <a:alphaModFix amt="75000"/>
          </a:blip>
          <a:stretch>
            <a:fillRect/>
          </a:stretch>
        </p:blipFill>
        <p:spPr>
          <a:xfrm>
            <a:off x="4114800" y="0"/>
            <a:ext cx="5029200" cy="5143500"/>
          </a:xfrm>
          <a:prstGeom prst="rect">
            <a:avLst/>
          </a:prstGeom>
        </p:spPr>
      </p:pic>
      <p:sp>
        <p:nvSpPr>
          <p:cNvPr id="6" name="Slide Number Placeholder 5"/>
          <p:cNvSpPr>
            <a:spLocks noGrp="1"/>
          </p:cNvSpPr>
          <p:nvPr>
            <p:ph type="sldNum" sz="quarter" idx="12"/>
          </p:nvPr>
        </p:nvSpPr>
        <p:spPr>
          <a:xfrm>
            <a:off x="6553200" y="4938711"/>
            <a:ext cx="2133600" cy="112713"/>
          </a:xfrm>
          <a:prstGeom prst="rect">
            <a:avLst/>
          </a:prstGeom>
        </p:spPr>
        <p:txBody>
          <a:bodyPr lIns="0" tIns="0" rIns="0" bIns="0" anchor="ctr"/>
          <a:lstStyle/>
          <a:p>
            <a:fld id="{C1FF6DA9-008F-8B48-92A6-B652298478BF}" type="slidenum">
              <a:rPr lang="en-US" smtClean="0"/>
              <a:t>‹#›</a:t>
            </a:fld>
            <a:endParaRPr lang="en-US"/>
          </a:p>
        </p:txBody>
      </p:sp>
      <p:sp>
        <p:nvSpPr>
          <p:cNvPr id="4" name="Rectangle 3">
            <a:extLst>
              <a:ext uri="{FF2B5EF4-FFF2-40B4-BE49-F238E27FC236}">
                <a16:creationId xmlns:a16="http://schemas.microsoft.com/office/drawing/2014/main" id="{53FD2E92-5E2A-CFFD-341F-87828B292C8C}"/>
              </a:ext>
            </a:extLst>
          </p:cNvPr>
          <p:cNvSpPr/>
          <p:nvPr userDrawn="1"/>
        </p:nvSpPr>
        <p:spPr>
          <a:xfrm>
            <a:off x="0" y="0"/>
            <a:ext cx="9150263" cy="5142567"/>
          </a:xfrm>
          <a:prstGeom prst="rect">
            <a:avLst/>
          </a:prstGeom>
          <a:gradFill flip="none" rotWithShape="1">
            <a:gsLst>
              <a:gs pos="0">
                <a:srgbClr val="061936"/>
              </a:gs>
              <a:gs pos="60000">
                <a:schemeClr val="bg1">
                  <a:alpha val="0"/>
                </a:schemeClr>
              </a:gs>
              <a:gs pos="47000">
                <a:srgbClr val="061936"/>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E"/>
          </a:p>
        </p:txBody>
      </p:sp>
      <p:pic>
        <p:nvPicPr>
          <p:cNvPr id="10" name="Image 2" descr="preencoded.png">
            <a:extLst>
              <a:ext uri="{FF2B5EF4-FFF2-40B4-BE49-F238E27FC236}">
                <a16:creationId xmlns:a16="http://schemas.microsoft.com/office/drawing/2014/main" id="{DFAD5371-41DC-0D8B-AB8F-7E7BC5B34EC7}"/>
              </a:ext>
            </a:extLst>
          </p:cNvPr>
          <p:cNvPicPr>
            <a:picLocks noChangeAspect="1"/>
          </p:cNvPicPr>
          <p:nvPr userDrawn="1"/>
        </p:nvPicPr>
        <p:blipFill>
          <a:blip r:embed="rId3"/>
          <a:stretch>
            <a:fillRect/>
          </a:stretch>
        </p:blipFill>
        <p:spPr>
          <a:xfrm>
            <a:off x="457646" y="256654"/>
            <a:ext cx="1004887" cy="671513"/>
          </a:xfrm>
          <a:prstGeom prst="rect">
            <a:avLst/>
          </a:prstGeom>
        </p:spPr>
      </p:pic>
      <p:pic>
        <p:nvPicPr>
          <p:cNvPr id="15" name="Image 3" descr="preencoded.png">
            <a:extLst>
              <a:ext uri="{FF2B5EF4-FFF2-40B4-BE49-F238E27FC236}">
                <a16:creationId xmlns:a16="http://schemas.microsoft.com/office/drawing/2014/main" id="{0ABB278E-A6F9-7193-55BA-A1E6E5014CF2}"/>
              </a:ext>
            </a:extLst>
          </p:cNvPr>
          <p:cNvPicPr>
            <a:picLocks noChangeAspect="1"/>
          </p:cNvPicPr>
          <p:nvPr userDrawn="1"/>
        </p:nvPicPr>
        <p:blipFill>
          <a:blip r:embed="rId4"/>
          <a:stretch>
            <a:fillRect/>
          </a:stretch>
        </p:blipFill>
        <p:spPr>
          <a:xfrm>
            <a:off x="457200" y="4861582"/>
            <a:ext cx="2743200" cy="23812"/>
          </a:xfrm>
          <a:prstGeom prst="rect">
            <a:avLst/>
          </a:prstGeom>
        </p:spPr>
      </p:pic>
      <p:sp>
        <p:nvSpPr>
          <p:cNvPr id="2" name="Title 1"/>
          <p:cNvSpPr>
            <a:spLocks noGrp="1"/>
          </p:cNvSpPr>
          <p:nvPr>
            <p:ph type="ctrTitle" hasCustomPrompt="1"/>
          </p:nvPr>
        </p:nvSpPr>
        <p:spPr>
          <a:xfrm>
            <a:off x="457199" y="1658293"/>
            <a:ext cx="5158260" cy="584775"/>
          </a:xfrm>
          <a:noFill/>
          <a:ln/>
        </p:spPr>
        <p:txBody>
          <a:bodyPr wrap="none" lIns="0" tIns="0" rIns="0" bIns="0" rtlCol="0" anchor="ctr"/>
          <a:lstStyle>
            <a:lvl1pPr>
              <a:defRPr lang="en-US" sz="3800" kern="0" spc="-374">
                <a:solidFill>
                  <a:srgbClr val="FFFFFF"/>
                </a:solidFill>
                <a:latin typeface="Comfortaa Medium" pitchFamily="2" charset="0"/>
                <a:ea typeface="Comfortaa Medium" pitchFamily="2" charset="0"/>
                <a:cs typeface="Comfortaa Medium" pitchFamily="2" charset="0"/>
              </a:defRPr>
            </a:lvl1pPr>
          </a:lstStyle>
          <a:p>
            <a:pPr marL="0" lvl="0" indent="0">
              <a:spcBef>
                <a:spcPts val="1620"/>
              </a:spcBef>
            </a:pPr>
            <a:r>
              <a:rPr lang="en-US" dirty="0"/>
              <a:t>Click to edit title text</a:t>
            </a:r>
          </a:p>
        </p:txBody>
      </p:sp>
      <p:sp>
        <p:nvSpPr>
          <p:cNvPr id="5" name="Footer Placeholder 4"/>
          <p:cNvSpPr>
            <a:spLocks noGrp="1"/>
          </p:cNvSpPr>
          <p:nvPr>
            <p:ph type="ftr" sz="quarter" idx="11"/>
          </p:nvPr>
        </p:nvSpPr>
        <p:spPr>
          <a:xfrm>
            <a:off x="457200" y="4938711"/>
            <a:ext cx="2898003" cy="151471"/>
          </a:xfrm>
          <a:prstGeom prst="rect">
            <a:avLst/>
          </a:prstGeom>
        </p:spPr>
        <p:txBody>
          <a:bodyPr lIns="0" tIns="0" rIns="0" bIns="0"/>
          <a:lstStyle/>
          <a:p>
            <a:r>
              <a:rPr lang="en-US" dirty="0"/>
              <a:t>© Cognirise 2026. All Rights Reserved.</a:t>
            </a:r>
          </a:p>
        </p:txBody>
      </p:sp>
      <p:sp>
        <p:nvSpPr>
          <p:cNvPr id="19" name="Text Placeholder 18">
            <a:extLst>
              <a:ext uri="{FF2B5EF4-FFF2-40B4-BE49-F238E27FC236}">
                <a16:creationId xmlns:a16="http://schemas.microsoft.com/office/drawing/2014/main" id="{656CD224-EA2A-3B4E-4707-216D055749F4}"/>
              </a:ext>
            </a:extLst>
          </p:cNvPr>
          <p:cNvSpPr>
            <a:spLocks noGrp="1"/>
          </p:cNvSpPr>
          <p:nvPr>
            <p:ph type="body" sz="quarter" idx="14" hasCustomPrompt="1"/>
          </p:nvPr>
        </p:nvSpPr>
        <p:spPr>
          <a:xfrm>
            <a:off x="456233" y="1219437"/>
            <a:ext cx="5159226" cy="344487"/>
          </a:xfrm>
          <a:noFill/>
          <a:ln/>
        </p:spPr>
        <p:txBody>
          <a:bodyPr wrap="none" lIns="0" tIns="0" rIns="0" bIns="0" rtlCol="0" anchor="ctr">
            <a:normAutofit/>
          </a:bodyPr>
          <a:lstStyle>
            <a:lvl1pPr marL="4763" indent="-4763">
              <a:buNone/>
              <a:tabLst/>
              <a:defRPr lang="en-US" sz="900" b="1" kern="0" spc="151" smtClean="0">
                <a:solidFill>
                  <a:srgbClr val="FFFFFF"/>
                </a:solidFill>
                <a:latin typeface="Inter" panose="02000503000000020004" pitchFamily="2" charset="0"/>
                <a:ea typeface="Inter" panose="02000503000000020004" pitchFamily="2" charset="0"/>
                <a:cs typeface="Inter" panose="02000503000000020004" pitchFamily="2" charset="0"/>
              </a:defRPr>
            </a:lvl1pPr>
            <a:lvl2pPr>
              <a:defRPr lang="en-US" sz="1800" smtClean="0"/>
            </a:lvl2pPr>
            <a:lvl3pPr>
              <a:defRPr lang="en-US" sz="1800" smtClean="0"/>
            </a:lvl3pPr>
            <a:lvl4pPr>
              <a:defRPr lang="en-US" sz="1800" smtClean="0"/>
            </a:lvl4pPr>
            <a:lvl5pPr>
              <a:defRPr lang="en-AE" sz="1800"/>
            </a:lvl5pPr>
          </a:lstStyle>
          <a:p>
            <a:pPr marL="342900" lvl="0" indent="-342900"/>
            <a:r>
              <a:rPr lang="en-US" dirty="0"/>
              <a:t>Click to edit Section Header</a:t>
            </a:r>
          </a:p>
        </p:txBody>
      </p:sp>
      <p:sp>
        <p:nvSpPr>
          <p:cNvPr id="21" name="Text Placeholder 20">
            <a:extLst>
              <a:ext uri="{FF2B5EF4-FFF2-40B4-BE49-F238E27FC236}">
                <a16:creationId xmlns:a16="http://schemas.microsoft.com/office/drawing/2014/main" id="{1898EBDA-DEB3-D3AF-CEE0-8B98669C38AA}"/>
              </a:ext>
            </a:extLst>
          </p:cNvPr>
          <p:cNvSpPr>
            <a:spLocks noGrp="1"/>
          </p:cNvSpPr>
          <p:nvPr>
            <p:ph type="body" sz="quarter" idx="15" hasCustomPrompt="1"/>
          </p:nvPr>
        </p:nvSpPr>
        <p:spPr>
          <a:xfrm>
            <a:off x="455265" y="3328640"/>
            <a:ext cx="3903794" cy="754062"/>
          </a:xfrm>
          <a:noFill/>
          <a:ln/>
        </p:spPr>
        <p:txBody>
          <a:bodyPr wrap="square" lIns="0" tIns="0" rIns="0" bIns="0" rtlCol="0" anchor="t">
            <a:normAutofit/>
          </a:bodyPr>
          <a:lstStyle>
            <a:lvl1pPr marL="4763" indent="-4763">
              <a:buNone/>
              <a:tabLst/>
              <a:defRPr lang="en-US" sz="1400" dirty="0" smtClean="0">
                <a:solidFill>
                  <a:srgbClr val="DBE3F0"/>
                </a:solidFill>
                <a:latin typeface="Comfortaa Medium" pitchFamily="2" charset="0"/>
                <a:ea typeface="Inter" panose="02000503000000020004" pitchFamily="2" charset="0"/>
                <a:cs typeface="Comfortaa Medium" pitchFamily="2" charset="0"/>
              </a:defRPr>
            </a:lvl1pPr>
            <a:lvl2pPr>
              <a:defRPr lang="en-US" sz="1800" dirty="0" smtClean="0"/>
            </a:lvl2pPr>
            <a:lvl3pPr>
              <a:defRPr lang="en-US" sz="1800" dirty="0" smtClean="0"/>
            </a:lvl3pPr>
            <a:lvl4pPr>
              <a:defRPr lang="en-US" sz="1800" dirty="0" smtClean="0"/>
            </a:lvl4pPr>
            <a:lvl5pPr>
              <a:defRPr lang="en-AE" sz="1800" dirty="0"/>
            </a:lvl5pPr>
          </a:lstStyle>
          <a:p>
            <a:pPr marL="342900" lvl="0" indent="-342900">
              <a:lnSpc>
                <a:spcPts val="2088"/>
              </a:lnSpc>
            </a:pPr>
            <a:r>
              <a:rPr lang="en-US" dirty="0"/>
              <a:t>Click to edit Section Description</a:t>
            </a:r>
          </a:p>
        </p:txBody>
      </p:sp>
    </p:spTree>
    <p:extLst>
      <p:ext uri="{BB962C8B-B14F-4D97-AF65-F5344CB8AC3E}">
        <p14:creationId xmlns:p14="http://schemas.microsoft.com/office/powerpoint/2010/main" val="398020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hold" nodeType="withEffect">
                                  <p:stCondLst>
                                    <p:cond delay="0"/>
                                  </p:stCondLst>
                                  <p:endCondLst>
                                    <p:cond evt="onNext" delay="0">
                                      <p:tgtEl>
                                        <p:sldTgt/>
                                      </p:tgtEl>
                                    </p:cond>
                                  </p:endCondLst>
                                  <p:childTnLst>
                                    <p:animScale>
                                      <p:cBhvr>
                                        <p:cTn id="6" dur="60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4C12F907-4A07-BD7A-4B72-34C2950B985E}"/>
              </a:ext>
            </a:extLst>
          </p:cNvPr>
          <p:cNvSpPr/>
          <p:nvPr userDrawn="1"/>
        </p:nvSpPr>
        <p:spPr>
          <a:xfrm>
            <a:off x="0" y="-933"/>
            <a:ext cx="9144000" cy="5143500"/>
          </a:xfrm>
          <a:prstGeom prst="rect">
            <a:avLst/>
          </a:prstGeom>
          <a:solidFill>
            <a:srgbClr val="071936"/>
          </a:solidFill>
          <a:ln/>
        </p:spPr>
        <p:txBody>
          <a:bodyPr/>
          <a:lstStyle/>
          <a:p>
            <a:endParaRPr lang="en-AE"/>
          </a:p>
        </p:txBody>
      </p:sp>
      <p:pic>
        <p:nvPicPr>
          <p:cNvPr id="4" name="Image 0" descr="preencoded.png">
            <a:extLst>
              <a:ext uri="{FF2B5EF4-FFF2-40B4-BE49-F238E27FC236}">
                <a16:creationId xmlns:a16="http://schemas.microsoft.com/office/drawing/2014/main" id="{AF7F2800-A5CE-CA58-F5E8-FC4E74962720}"/>
              </a:ext>
            </a:extLst>
          </p:cNvPr>
          <p:cNvPicPr>
            <a:picLocks noChangeAspect="1"/>
          </p:cNvPicPr>
          <p:nvPr userDrawn="1"/>
        </p:nvPicPr>
        <p:blipFill>
          <a:blip r:embed="rId2">
            <a:alphaModFix amt="80000"/>
          </a:blip>
          <a:stretch>
            <a:fillRect/>
          </a:stretch>
        </p:blipFill>
        <p:spPr>
          <a:xfrm>
            <a:off x="4023866" y="0"/>
            <a:ext cx="5119688" cy="5143500"/>
          </a:xfrm>
          <a:prstGeom prst="rect">
            <a:avLst/>
          </a:prstGeom>
        </p:spPr>
      </p:pic>
      <p:sp>
        <p:nvSpPr>
          <p:cNvPr id="6" name="Slide Number Placeholder 5"/>
          <p:cNvSpPr>
            <a:spLocks noGrp="1"/>
          </p:cNvSpPr>
          <p:nvPr>
            <p:ph type="sldNum" sz="quarter" idx="12"/>
          </p:nvPr>
        </p:nvSpPr>
        <p:spPr>
          <a:xfrm>
            <a:off x="6553200" y="4938711"/>
            <a:ext cx="2133600" cy="112713"/>
          </a:xfrm>
          <a:prstGeom prst="rect">
            <a:avLst/>
          </a:prstGeom>
        </p:spPr>
        <p:txBody>
          <a:bodyPr lIns="0" tIns="0" rIns="0" bIns="0" anchor="ctr"/>
          <a:lstStyle/>
          <a:p>
            <a:fld id="{C1FF6DA9-008F-8B48-92A6-B652298478BF}" type="slidenum">
              <a:rPr lang="en-US" smtClean="0"/>
              <a:t>‹#›</a:t>
            </a:fld>
            <a:endParaRPr lang="en-US"/>
          </a:p>
        </p:txBody>
      </p:sp>
      <p:sp>
        <p:nvSpPr>
          <p:cNvPr id="11" name="Rectangle 10">
            <a:extLst>
              <a:ext uri="{FF2B5EF4-FFF2-40B4-BE49-F238E27FC236}">
                <a16:creationId xmlns:a16="http://schemas.microsoft.com/office/drawing/2014/main" id="{D8A1E2D0-318D-793C-52DD-8134F64C8641}"/>
              </a:ext>
            </a:extLst>
          </p:cNvPr>
          <p:cNvSpPr/>
          <p:nvPr userDrawn="1"/>
        </p:nvSpPr>
        <p:spPr>
          <a:xfrm>
            <a:off x="0" y="0"/>
            <a:ext cx="9150263" cy="5142567"/>
          </a:xfrm>
          <a:prstGeom prst="rect">
            <a:avLst/>
          </a:prstGeom>
          <a:gradFill flip="none" rotWithShape="1">
            <a:gsLst>
              <a:gs pos="0">
                <a:srgbClr val="061936"/>
              </a:gs>
              <a:gs pos="60000">
                <a:schemeClr val="bg1">
                  <a:alpha val="0"/>
                </a:schemeClr>
              </a:gs>
              <a:gs pos="47000">
                <a:srgbClr val="061936"/>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E"/>
          </a:p>
        </p:txBody>
      </p:sp>
      <p:pic>
        <p:nvPicPr>
          <p:cNvPr id="10" name="Image 2" descr="preencoded.png">
            <a:extLst>
              <a:ext uri="{FF2B5EF4-FFF2-40B4-BE49-F238E27FC236}">
                <a16:creationId xmlns:a16="http://schemas.microsoft.com/office/drawing/2014/main" id="{DFAD5371-41DC-0D8B-AB8F-7E7BC5B34EC7}"/>
              </a:ext>
            </a:extLst>
          </p:cNvPr>
          <p:cNvPicPr>
            <a:picLocks noChangeAspect="1"/>
          </p:cNvPicPr>
          <p:nvPr userDrawn="1"/>
        </p:nvPicPr>
        <p:blipFill>
          <a:blip r:embed="rId3"/>
          <a:stretch>
            <a:fillRect/>
          </a:stretch>
        </p:blipFill>
        <p:spPr>
          <a:xfrm>
            <a:off x="457646" y="256654"/>
            <a:ext cx="1004887" cy="671513"/>
          </a:xfrm>
          <a:prstGeom prst="rect">
            <a:avLst/>
          </a:prstGeom>
        </p:spPr>
      </p:pic>
      <p:pic>
        <p:nvPicPr>
          <p:cNvPr id="15" name="Image 3" descr="preencoded.png">
            <a:extLst>
              <a:ext uri="{FF2B5EF4-FFF2-40B4-BE49-F238E27FC236}">
                <a16:creationId xmlns:a16="http://schemas.microsoft.com/office/drawing/2014/main" id="{0ABB278E-A6F9-7193-55BA-A1E6E5014CF2}"/>
              </a:ext>
            </a:extLst>
          </p:cNvPr>
          <p:cNvPicPr>
            <a:picLocks noChangeAspect="1"/>
          </p:cNvPicPr>
          <p:nvPr userDrawn="1"/>
        </p:nvPicPr>
        <p:blipFill>
          <a:blip r:embed="rId4"/>
          <a:stretch>
            <a:fillRect/>
          </a:stretch>
        </p:blipFill>
        <p:spPr>
          <a:xfrm>
            <a:off x="457200" y="4861582"/>
            <a:ext cx="2743200" cy="23812"/>
          </a:xfrm>
          <a:prstGeom prst="rect">
            <a:avLst/>
          </a:prstGeom>
        </p:spPr>
      </p:pic>
      <p:sp>
        <p:nvSpPr>
          <p:cNvPr id="2" name="Title 1"/>
          <p:cNvSpPr>
            <a:spLocks noGrp="1"/>
          </p:cNvSpPr>
          <p:nvPr>
            <p:ph type="ctrTitle" hasCustomPrompt="1"/>
          </p:nvPr>
        </p:nvSpPr>
        <p:spPr>
          <a:xfrm>
            <a:off x="457199" y="1658293"/>
            <a:ext cx="5158259" cy="584775"/>
          </a:xfrm>
          <a:noFill/>
          <a:ln/>
        </p:spPr>
        <p:txBody>
          <a:bodyPr wrap="none" lIns="0" tIns="0" rIns="0" bIns="0" rtlCol="0" anchor="ctr"/>
          <a:lstStyle>
            <a:lvl1pPr>
              <a:defRPr lang="en-US" sz="3800" kern="0" spc="-374">
                <a:solidFill>
                  <a:srgbClr val="FFFFFF"/>
                </a:solidFill>
                <a:latin typeface="Comfortaa Medium" pitchFamily="2" charset="0"/>
                <a:ea typeface="Comfortaa Medium" pitchFamily="2" charset="0"/>
                <a:cs typeface="Comfortaa Medium" pitchFamily="2" charset="0"/>
              </a:defRPr>
            </a:lvl1pPr>
          </a:lstStyle>
          <a:p>
            <a:pPr marL="0" lvl="0" indent="0">
              <a:spcBef>
                <a:spcPts val="1620"/>
              </a:spcBef>
            </a:pPr>
            <a:r>
              <a:rPr lang="en-US" dirty="0"/>
              <a:t>Click to edit title line 1</a:t>
            </a:r>
          </a:p>
        </p:txBody>
      </p:sp>
      <p:sp>
        <p:nvSpPr>
          <p:cNvPr id="5" name="Footer Placeholder 4"/>
          <p:cNvSpPr>
            <a:spLocks noGrp="1"/>
          </p:cNvSpPr>
          <p:nvPr>
            <p:ph type="ftr" sz="quarter" idx="11"/>
          </p:nvPr>
        </p:nvSpPr>
        <p:spPr>
          <a:xfrm>
            <a:off x="457200" y="4938711"/>
            <a:ext cx="2898003" cy="151471"/>
          </a:xfrm>
          <a:prstGeom prst="rect">
            <a:avLst/>
          </a:prstGeom>
        </p:spPr>
        <p:txBody>
          <a:bodyPr lIns="0" tIns="0" rIns="0" bIns="0"/>
          <a:lstStyle/>
          <a:p>
            <a:r>
              <a:rPr lang="en-US" dirty="0"/>
              <a:t>© Cognirise 2026. All Rights Reserved.</a:t>
            </a:r>
          </a:p>
        </p:txBody>
      </p:sp>
      <p:sp>
        <p:nvSpPr>
          <p:cNvPr id="19" name="Text Placeholder 18">
            <a:extLst>
              <a:ext uri="{FF2B5EF4-FFF2-40B4-BE49-F238E27FC236}">
                <a16:creationId xmlns:a16="http://schemas.microsoft.com/office/drawing/2014/main" id="{656CD224-EA2A-3B4E-4707-216D055749F4}"/>
              </a:ext>
            </a:extLst>
          </p:cNvPr>
          <p:cNvSpPr>
            <a:spLocks noGrp="1"/>
          </p:cNvSpPr>
          <p:nvPr>
            <p:ph type="body" sz="quarter" idx="14" hasCustomPrompt="1"/>
          </p:nvPr>
        </p:nvSpPr>
        <p:spPr>
          <a:xfrm>
            <a:off x="456233" y="1219437"/>
            <a:ext cx="5159226" cy="344487"/>
          </a:xfrm>
          <a:noFill/>
          <a:ln/>
        </p:spPr>
        <p:txBody>
          <a:bodyPr wrap="none" lIns="0" tIns="0" rIns="0" bIns="0" rtlCol="0" anchor="ctr">
            <a:normAutofit/>
          </a:bodyPr>
          <a:lstStyle>
            <a:lvl1pPr marL="4763" indent="-4763">
              <a:buNone/>
              <a:tabLst/>
              <a:defRPr lang="en-US" sz="900" b="1" kern="0" spc="151" smtClean="0">
                <a:solidFill>
                  <a:srgbClr val="FFFFFF"/>
                </a:solidFill>
                <a:latin typeface="Inter" panose="02000503000000020004" pitchFamily="2" charset="0"/>
                <a:ea typeface="Inter" panose="02000503000000020004" pitchFamily="2" charset="0"/>
                <a:cs typeface="Inter" panose="02000503000000020004" pitchFamily="2" charset="0"/>
              </a:defRPr>
            </a:lvl1pPr>
            <a:lvl2pPr>
              <a:defRPr lang="en-US" sz="1800" smtClean="0"/>
            </a:lvl2pPr>
            <a:lvl3pPr>
              <a:defRPr lang="en-US" sz="1800" smtClean="0"/>
            </a:lvl3pPr>
            <a:lvl4pPr>
              <a:defRPr lang="en-US" sz="1800" smtClean="0"/>
            </a:lvl4pPr>
            <a:lvl5pPr>
              <a:defRPr lang="en-AE" sz="1800"/>
            </a:lvl5pPr>
          </a:lstStyle>
          <a:p>
            <a:pPr marL="342900" lvl="0" indent="-342900"/>
            <a:r>
              <a:rPr lang="en-US" dirty="0"/>
              <a:t>Click to edit Section Header</a:t>
            </a:r>
          </a:p>
        </p:txBody>
      </p:sp>
      <p:sp>
        <p:nvSpPr>
          <p:cNvPr id="21" name="Text Placeholder 20">
            <a:extLst>
              <a:ext uri="{FF2B5EF4-FFF2-40B4-BE49-F238E27FC236}">
                <a16:creationId xmlns:a16="http://schemas.microsoft.com/office/drawing/2014/main" id="{1898EBDA-DEB3-D3AF-CEE0-8B98669C38AA}"/>
              </a:ext>
            </a:extLst>
          </p:cNvPr>
          <p:cNvSpPr>
            <a:spLocks noGrp="1"/>
          </p:cNvSpPr>
          <p:nvPr>
            <p:ph type="body" sz="quarter" idx="15" hasCustomPrompt="1"/>
          </p:nvPr>
        </p:nvSpPr>
        <p:spPr>
          <a:xfrm>
            <a:off x="455265" y="3328640"/>
            <a:ext cx="4116736" cy="754062"/>
          </a:xfrm>
          <a:noFill/>
          <a:ln/>
        </p:spPr>
        <p:txBody>
          <a:bodyPr wrap="square" lIns="0" tIns="0" rIns="0" bIns="0" rtlCol="0" anchor="t">
            <a:normAutofit/>
          </a:bodyPr>
          <a:lstStyle>
            <a:lvl1pPr marL="4763" indent="-4763">
              <a:buNone/>
              <a:tabLst/>
              <a:defRPr lang="en-US" sz="1400" dirty="0" smtClean="0">
                <a:solidFill>
                  <a:srgbClr val="DBE3F0"/>
                </a:solidFill>
                <a:latin typeface="Comfortaa Medium" pitchFamily="2" charset="0"/>
                <a:ea typeface="Inter" panose="02000503000000020004" pitchFamily="2" charset="0"/>
                <a:cs typeface="Comfortaa Medium" pitchFamily="2" charset="0"/>
              </a:defRPr>
            </a:lvl1pPr>
            <a:lvl2pPr>
              <a:defRPr lang="en-US" sz="1800" dirty="0" smtClean="0"/>
            </a:lvl2pPr>
            <a:lvl3pPr>
              <a:defRPr lang="en-US" sz="1800" dirty="0" smtClean="0"/>
            </a:lvl3pPr>
            <a:lvl4pPr>
              <a:defRPr lang="en-US" sz="1800" dirty="0" smtClean="0"/>
            </a:lvl4pPr>
            <a:lvl5pPr>
              <a:defRPr lang="en-AE" sz="1800" dirty="0"/>
            </a:lvl5pPr>
          </a:lstStyle>
          <a:p>
            <a:pPr marL="342900" lvl="0" indent="-342900">
              <a:lnSpc>
                <a:spcPts val="2088"/>
              </a:lnSpc>
            </a:pPr>
            <a:r>
              <a:rPr lang="en-US" dirty="0"/>
              <a:t>Click to edit Section Description</a:t>
            </a:r>
          </a:p>
        </p:txBody>
      </p:sp>
    </p:spTree>
    <p:extLst>
      <p:ext uri="{BB962C8B-B14F-4D97-AF65-F5344CB8AC3E}">
        <p14:creationId xmlns:p14="http://schemas.microsoft.com/office/powerpoint/2010/main" val="295485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hold" nodeType="afterEffect">
                                  <p:stCondLst>
                                    <p:cond delay="0"/>
                                  </p:stCondLst>
                                  <p:endCondLst>
                                    <p:cond evt="onNext" delay="0">
                                      <p:tgtEl>
                                        <p:sldTgt/>
                                      </p:tgtEl>
                                    </p:cond>
                                  </p:endCondLst>
                                  <p:childTnLst>
                                    <p:animScale>
                                      <p:cBhvr>
                                        <p:cTn id="6" dur="60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4C12F907-4A07-BD7A-4B72-34C2950B985E}"/>
              </a:ext>
            </a:extLst>
          </p:cNvPr>
          <p:cNvSpPr/>
          <p:nvPr userDrawn="1"/>
        </p:nvSpPr>
        <p:spPr>
          <a:xfrm>
            <a:off x="0" y="-933"/>
            <a:ext cx="9144000" cy="5143500"/>
          </a:xfrm>
          <a:prstGeom prst="rect">
            <a:avLst/>
          </a:prstGeom>
          <a:solidFill>
            <a:srgbClr val="071936"/>
          </a:solidFill>
          <a:ln/>
        </p:spPr>
        <p:txBody>
          <a:bodyPr/>
          <a:lstStyle/>
          <a:p>
            <a:endParaRPr lang="en-AE"/>
          </a:p>
        </p:txBody>
      </p:sp>
      <p:pic>
        <p:nvPicPr>
          <p:cNvPr id="3" name="Picture 2">
            <a:extLst>
              <a:ext uri="{FF2B5EF4-FFF2-40B4-BE49-F238E27FC236}">
                <a16:creationId xmlns:a16="http://schemas.microsoft.com/office/drawing/2014/main" id="{C70695E5-E5F5-D667-49EF-A7D3AA8DC4D3}"/>
              </a:ext>
            </a:extLst>
          </p:cNvPr>
          <p:cNvPicPr>
            <a:picLocks noChangeAspect="1"/>
          </p:cNvPicPr>
          <p:nvPr userDrawn="1"/>
        </p:nvPicPr>
        <p:blipFill>
          <a:blip r:embed="rId2"/>
          <a:srcRect r="3717"/>
          <a:stretch>
            <a:fillRect/>
          </a:stretch>
        </p:blipFill>
        <p:spPr>
          <a:xfrm>
            <a:off x="4191694" y="0"/>
            <a:ext cx="4952306" cy="5143500"/>
          </a:xfrm>
          <a:prstGeom prst="rect">
            <a:avLst/>
          </a:prstGeom>
        </p:spPr>
      </p:pic>
      <p:sp>
        <p:nvSpPr>
          <p:cNvPr id="6" name="Slide Number Placeholder 5"/>
          <p:cNvSpPr>
            <a:spLocks noGrp="1"/>
          </p:cNvSpPr>
          <p:nvPr>
            <p:ph type="sldNum" sz="quarter" idx="12"/>
          </p:nvPr>
        </p:nvSpPr>
        <p:spPr>
          <a:xfrm>
            <a:off x="6553200" y="4938711"/>
            <a:ext cx="2133600" cy="112713"/>
          </a:xfrm>
          <a:prstGeom prst="rect">
            <a:avLst/>
          </a:prstGeom>
        </p:spPr>
        <p:txBody>
          <a:bodyPr lIns="0" tIns="0" rIns="0" bIns="0" anchor="ctr"/>
          <a:lstStyle/>
          <a:p>
            <a:fld id="{C1FF6DA9-008F-8B48-92A6-B652298478BF}" type="slidenum">
              <a:rPr lang="en-US" smtClean="0"/>
              <a:t>‹#›</a:t>
            </a:fld>
            <a:endParaRPr lang="en-US"/>
          </a:p>
        </p:txBody>
      </p:sp>
      <p:pic>
        <p:nvPicPr>
          <p:cNvPr id="15" name="Image 3" descr="preencoded.png">
            <a:extLst>
              <a:ext uri="{FF2B5EF4-FFF2-40B4-BE49-F238E27FC236}">
                <a16:creationId xmlns:a16="http://schemas.microsoft.com/office/drawing/2014/main" id="{0ABB278E-A6F9-7193-55BA-A1E6E5014CF2}"/>
              </a:ext>
            </a:extLst>
          </p:cNvPr>
          <p:cNvPicPr>
            <a:picLocks noChangeAspect="1"/>
          </p:cNvPicPr>
          <p:nvPr userDrawn="1"/>
        </p:nvPicPr>
        <p:blipFill>
          <a:blip r:embed="rId3"/>
          <a:stretch>
            <a:fillRect/>
          </a:stretch>
        </p:blipFill>
        <p:spPr>
          <a:xfrm>
            <a:off x="457200" y="4861582"/>
            <a:ext cx="2743200" cy="23812"/>
          </a:xfrm>
          <a:prstGeom prst="rect">
            <a:avLst/>
          </a:prstGeom>
        </p:spPr>
      </p:pic>
      <p:sp>
        <p:nvSpPr>
          <p:cNvPr id="5" name="Footer Placeholder 4"/>
          <p:cNvSpPr>
            <a:spLocks noGrp="1"/>
          </p:cNvSpPr>
          <p:nvPr>
            <p:ph type="ftr" sz="quarter" idx="11"/>
          </p:nvPr>
        </p:nvSpPr>
        <p:spPr>
          <a:xfrm>
            <a:off x="457200" y="4938711"/>
            <a:ext cx="2898003" cy="151471"/>
          </a:xfrm>
          <a:prstGeom prst="rect">
            <a:avLst/>
          </a:prstGeom>
        </p:spPr>
        <p:txBody>
          <a:bodyPr lIns="0" tIns="0" rIns="0" bIns="0"/>
          <a:lstStyle/>
          <a:p>
            <a:r>
              <a:rPr lang="en-US" dirty="0"/>
              <a:t>© Cognirise 2026. All Rights Reserved.</a:t>
            </a:r>
          </a:p>
        </p:txBody>
      </p:sp>
      <p:sp>
        <p:nvSpPr>
          <p:cNvPr id="8" name="Rectangle 7">
            <a:extLst>
              <a:ext uri="{FF2B5EF4-FFF2-40B4-BE49-F238E27FC236}">
                <a16:creationId xmlns:a16="http://schemas.microsoft.com/office/drawing/2014/main" id="{88F7B9CA-571D-21A8-6A17-647D8DF56D97}"/>
              </a:ext>
            </a:extLst>
          </p:cNvPr>
          <p:cNvSpPr/>
          <p:nvPr userDrawn="1"/>
        </p:nvSpPr>
        <p:spPr>
          <a:xfrm>
            <a:off x="0" y="0"/>
            <a:ext cx="9150263" cy="5142567"/>
          </a:xfrm>
          <a:prstGeom prst="rect">
            <a:avLst/>
          </a:prstGeom>
          <a:gradFill flip="none" rotWithShape="1">
            <a:gsLst>
              <a:gs pos="0">
                <a:srgbClr val="061936"/>
              </a:gs>
              <a:gs pos="60000">
                <a:schemeClr val="bg1">
                  <a:alpha val="0"/>
                </a:schemeClr>
              </a:gs>
              <a:gs pos="47000">
                <a:srgbClr val="061936"/>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E"/>
          </a:p>
        </p:txBody>
      </p:sp>
      <p:pic>
        <p:nvPicPr>
          <p:cNvPr id="10" name="Image 2" descr="preencoded.png">
            <a:extLst>
              <a:ext uri="{FF2B5EF4-FFF2-40B4-BE49-F238E27FC236}">
                <a16:creationId xmlns:a16="http://schemas.microsoft.com/office/drawing/2014/main" id="{DFAD5371-41DC-0D8B-AB8F-7E7BC5B34EC7}"/>
              </a:ext>
            </a:extLst>
          </p:cNvPr>
          <p:cNvPicPr>
            <a:picLocks noChangeAspect="1"/>
          </p:cNvPicPr>
          <p:nvPr userDrawn="1"/>
        </p:nvPicPr>
        <p:blipFill>
          <a:blip r:embed="rId4"/>
          <a:stretch>
            <a:fillRect/>
          </a:stretch>
        </p:blipFill>
        <p:spPr>
          <a:xfrm>
            <a:off x="457646" y="256654"/>
            <a:ext cx="1004887" cy="671513"/>
          </a:xfrm>
          <a:prstGeom prst="rect">
            <a:avLst/>
          </a:prstGeom>
        </p:spPr>
      </p:pic>
      <p:sp>
        <p:nvSpPr>
          <p:cNvPr id="2" name="Title 1"/>
          <p:cNvSpPr>
            <a:spLocks noGrp="1"/>
          </p:cNvSpPr>
          <p:nvPr>
            <p:ph type="ctrTitle" hasCustomPrompt="1"/>
          </p:nvPr>
        </p:nvSpPr>
        <p:spPr>
          <a:xfrm>
            <a:off x="457199" y="1658293"/>
            <a:ext cx="5158259" cy="584775"/>
          </a:xfrm>
          <a:noFill/>
          <a:ln/>
        </p:spPr>
        <p:txBody>
          <a:bodyPr wrap="none" lIns="0" tIns="0" rIns="0" bIns="0" rtlCol="0" anchor="ctr"/>
          <a:lstStyle>
            <a:lvl1pPr>
              <a:defRPr lang="en-US" sz="3800" kern="0" spc="-374">
                <a:solidFill>
                  <a:srgbClr val="FFFFFF"/>
                </a:solidFill>
                <a:latin typeface="Comfortaa Medium" pitchFamily="2" charset="0"/>
                <a:ea typeface="Comfortaa Medium" pitchFamily="2" charset="0"/>
                <a:cs typeface="Comfortaa Medium" pitchFamily="2" charset="0"/>
              </a:defRPr>
            </a:lvl1pPr>
          </a:lstStyle>
          <a:p>
            <a:pPr marL="0" lvl="0" indent="0">
              <a:spcBef>
                <a:spcPts val="1620"/>
              </a:spcBef>
            </a:pPr>
            <a:r>
              <a:rPr lang="en-US" dirty="0"/>
              <a:t>Click to edit title line 1</a:t>
            </a:r>
          </a:p>
        </p:txBody>
      </p:sp>
      <p:sp>
        <p:nvSpPr>
          <p:cNvPr id="19" name="Text Placeholder 18">
            <a:extLst>
              <a:ext uri="{FF2B5EF4-FFF2-40B4-BE49-F238E27FC236}">
                <a16:creationId xmlns:a16="http://schemas.microsoft.com/office/drawing/2014/main" id="{656CD224-EA2A-3B4E-4707-216D055749F4}"/>
              </a:ext>
            </a:extLst>
          </p:cNvPr>
          <p:cNvSpPr>
            <a:spLocks noGrp="1"/>
          </p:cNvSpPr>
          <p:nvPr>
            <p:ph type="body" sz="quarter" idx="14" hasCustomPrompt="1"/>
          </p:nvPr>
        </p:nvSpPr>
        <p:spPr>
          <a:xfrm>
            <a:off x="456233" y="1219437"/>
            <a:ext cx="5159226" cy="344487"/>
          </a:xfrm>
          <a:noFill/>
          <a:ln/>
        </p:spPr>
        <p:txBody>
          <a:bodyPr wrap="none" lIns="0" tIns="0" rIns="0" bIns="0" rtlCol="0" anchor="ctr">
            <a:normAutofit/>
          </a:bodyPr>
          <a:lstStyle>
            <a:lvl1pPr marL="4763" indent="-4763">
              <a:buFont typeface="Arial" panose="020B0604020202020204" pitchFamily="34" charset="0"/>
              <a:buNone/>
              <a:tabLst/>
              <a:defRPr lang="en-US" sz="900" b="1" kern="0" spc="151" smtClean="0">
                <a:solidFill>
                  <a:srgbClr val="FFFFFF"/>
                </a:solidFill>
                <a:latin typeface="Inter" panose="02000503000000020004" pitchFamily="2" charset="0"/>
                <a:ea typeface="Inter" panose="02000503000000020004" pitchFamily="2" charset="0"/>
                <a:cs typeface="Inter" panose="02000503000000020004" pitchFamily="2" charset="0"/>
              </a:defRPr>
            </a:lvl1pPr>
            <a:lvl2pPr>
              <a:defRPr lang="en-US" sz="1800" smtClean="0"/>
            </a:lvl2pPr>
            <a:lvl3pPr>
              <a:defRPr lang="en-US" sz="1800" smtClean="0"/>
            </a:lvl3pPr>
            <a:lvl4pPr>
              <a:defRPr lang="en-US" sz="1800" smtClean="0"/>
            </a:lvl4pPr>
            <a:lvl5pPr>
              <a:defRPr lang="en-AE" sz="1800"/>
            </a:lvl5pPr>
          </a:lstStyle>
          <a:p>
            <a:pPr marL="342900" lvl="0" indent="-342900"/>
            <a:r>
              <a:rPr lang="en-US" dirty="0"/>
              <a:t>Click to edit Section Header</a:t>
            </a:r>
          </a:p>
        </p:txBody>
      </p:sp>
      <p:sp>
        <p:nvSpPr>
          <p:cNvPr id="21" name="Text Placeholder 20">
            <a:extLst>
              <a:ext uri="{FF2B5EF4-FFF2-40B4-BE49-F238E27FC236}">
                <a16:creationId xmlns:a16="http://schemas.microsoft.com/office/drawing/2014/main" id="{1898EBDA-DEB3-D3AF-CEE0-8B98669C38AA}"/>
              </a:ext>
            </a:extLst>
          </p:cNvPr>
          <p:cNvSpPr>
            <a:spLocks noGrp="1"/>
          </p:cNvSpPr>
          <p:nvPr>
            <p:ph type="body" sz="quarter" idx="15" hasCustomPrompt="1"/>
          </p:nvPr>
        </p:nvSpPr>
        <p:spPr>
          <a:xfrm>
            <a:off x="455264" y="3328640"/>
            <a:ext cx="3997739" cy="754062"/>
          </a:xfrm>
          <a:noFill/>
          <a:ln/>
        </p:spPr>
        <p:txBody>
          <a:bodyPr wrap="square" lIns="0" tIns="0" rIns="0" bIns="0" rtlCol="0" anchor="t">
            <a:normAutofit/>
          </a:bodyPr>
          <a:lstStyle>
            <a:lvl1pPr marL="4763" indent="-4763">
              <a:buNone/>
              <a:tabLst/>
              <a:defRPr lang="en-US" sz="1400" dirty="0" smtClean="0">
                <a:solidFill>
                  <a:srgbClr val="DBE3F0"/>
                </a:solidFill>
                <a:latin typeface="Comfortaa Medium" pitchFamily="2" charset="0"/>
                <a:ea typeface="Inter" panose="02000503000000020004" pitchFamily="2" charset="0"/>
                <a:cs typeface="Comfortaa Medium" pitchFamily="2" charset="0"/>
              </a:defRPr>
            </a:lvl1pPr>
            <a:lvl2pPr>
              <a:defRPr lang="en-US" sz="1800" dirty="0" smtClean="0"/>
            </a:lvl2pPr>
            <a:lvl3pPr>
              <a:defRPr lang="en-US" sz="1800" dirty="0" smtClean="0"/>
            </a:lvl3pPr>
            <a:lvl4pPr>
              <a:defRPr lang="en-US" sz="1800" dirty="0" smtClean="0"/>
            </a:lvl4pPr>
            <a:lvl5pPr>
              <a:defRPr lang="en-AE" sz="1800" dirty="0"/>
            </a:lvl5pPr>
          </a:lstStyle>
          <a:p>
            <a:pPr marL="342900" lvl="0" indent="-342900">
              <a:lnSpc>
                <a:spcPts val="2088"/>
              </a:lnSpc>
            </a:pPr>
            <a:r>
              <a:rPr lang="en-US" dirty="0"/>
              <a:t>Click to edit Section Description</a:t>
            </a:r>
          </a:p>
        </p:txBody>
      </p:sp>
    </p:spTree>
    <p:extLst>
      <p:ext uri="{BB962C8B-B14F-4D97-AF65-F5344CB8AC3E}">
        <p14:creationId xmlns:p14="http://schemas.microsoft.com/office/powerpoint/2010/main" val="268013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hold" nodeType="afterEffect">
                                  <p:stCondLst>
                                    <p:cond delay="0"/>
                                  </p:stCondLst>
                                  <p:endCondLst>
                                    <p:cond evt="onNext" delay="0">
                                      <p:tgtEl>
                                        <p:sldTgt/>
                                      </p:tgtEl>
                                    </p:cond>
                                  </p:endCondLst>
                                  <p:childTnLst>
                                    <p:animScale>
                                      <p:cBhvr>
                                        <p:cTn id="6" dur="60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4C12F907-4A07-BD7A-4B72-34C2950B985E}"/>
              </a:ext>
            </a:extLst>
          </p:cNvPr>
          <p:cNvSpPr/>
          <p:nvPr userDrawn="1"/>
        </p:nvSpPr>
        <p:spPr>
          <a:xfrm>
            <a:off x="0" y="-933"/>
            <a:ext cx="9144000" cy="5143500"/>
          </a:xfrm>
          <a:prstGeom prst="rect">
            <a:avLst/>
          </a:prstGeom>
          <a:solidFill>
            <a:srgbClr val="071936"/>
          </a:solidFill>
          <a:ln/>
        </p:spPr>
        <p:txBody>
          <a:bodyPr/>
          <a:lstStyle/>
          <a:p>
            <a:endParaRPr lang="en-AE"/>
          </a:p>
        </p:txBody>
      </p:sp>
      <p:pic>
        <p:nvPicPr>
          <p:cNvPr id="4" name="Picture 3">
            <a:extLst>
              <a:ext uri="{FF2B5EF4-FFF2-40B4-BE49-F238E27FC236}">
                <a16:creationId xmlns:a16="http://schemas.microsoft.com/office/drawing/2014/main" id="{B8127294-31AA-D697-CA9F-949C62B8646C}"/>
              </a:ext>
            </a:extLst>
          </p:cNvPr>
          <p:cNvPicPr>
            <a:picLocks noChangeAspect="1"/>
          </p:cNvPicPr>
          <p:nvPr userDrawn="1"/>
        </p:nvPicPr>
        <p:blipFill>
          <a:blip r:embed="rId2"/>
          <a:stretch>
            <a:fillRect/>
          </a:stretch>
        </p:blipFill>
        <p:spPr>
          <a:xfrm>
            <a:off x="4000500" y="0"/>
            <a:ext cx="5143500" cy="5143500"/>
          </a:xfrm>
          <a:prstGeom prst="rect">
            <a:avLst/>
          </a:prstGeom>
        </p:spPr>
      </p:pic>
      <p:sp>
        <p:nvSpPr>
          <p:cNvPr id="11" name="Rectangle 10">
            <a:extLst>
              <a:ext uri="{FF2B5EF4-FFF2-40B4-BE49-F238E27FC236}">
                <a16:creationId xmlns:a16="http://schemas.microsoft.com/office/drawing/2014/main" id="{22C70792-C815-4492-C5DD-7B11ED78A698}"/>
              </a:ext>
            </a:extLst>
          </p:cNvPr>
          <p:cNvSpPr/>
          <p:nvPr userDrawn="1"/>
        </p:nvSpPr>
        <p:spPr>
          <a:xfrm>
            <a:off x="0" y="0"/>
            <a:ext cx="9150263" cy="5142567"/>
          </a:xfrm>
          <a:prstGeom prst="rect">
            <a:avLst/>
          </a:prstGeom>
          <a:gradFill flip="none" rotWithShape="1">
            <a:gsLst>
              <a:gs pos="0">
                <a:srgbClr val="061936"/>
              </a:gs>
              <a:gs pos="60000">
                <a:schemeClr val="bg1">
                  <a:alpha val="0"/>
                </a:schemeClr>
              </a:gs>
              <a:gs pos="47000">
                <a:srgbClr val="061936"/>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E"/>
          </a:p>
        </p:txBody>
      </p:sp>
      <p:sp>
        <p:nvSpPr>
          <p:cNvPr id="6" name="Slide Number Placeholder 5"/>
          <p:cNvSpPr>
            <a:spLocks noGrp="1"/>
          </p:cNvSpPr>
          <p:nvPr>
            <p:ph type="sldNum" sz="quarter" idx="12"/>
          </p:nvPr>
        </p:nvSpPr>
        <p:spPr>
          <a:xfrm>
            <a:off x="6553200" y="4938711"/>
            <a:ext cx="2133600" cy="112713"/>
          </a:xfrm>
          <a:prstGeom prst="rect">
            <a:avLst/>
          </a:prstGeom>
        </p:spPr>
        <p:txBody>
          <a:bodyPr lIns="0" tIns="0" rIns="0" bIns="0" anchor="ctr"/>
          <a:lstStyle/>
          <a:p>
            <a:fld id="{C1FF6DA9-008F-8B48-92A6-B652298478BF}" type="slidenum">
              <a:rPr lang="en-US" smtClean="0"/>
              <a:t>‹#›</a:t>
            </a:fld>
            <a:endParaRPr lang="en-US"/>
          </a:p>
        </p:txBody>
      </p:sp>
      <p:pic>
        <p:nvPicPr>
          <p:cNvPr id="15" name="Image 3" descr="preencoded.png">
            <a:extLst>
              <a:ext uri="{FF2B5EF4-FFF2-40B4-BE49-F238E27FC236}">
                <a16:creationId xmlns:a16="http://schemas.microsoft.com/office/drawing/2014/main" id="{0ABB278E-A6F9-7193-55BA-A1E6E5014CF2}"/>
              </a:ext>
            </a:extLst>
          </p:cNvPr>
          <p:cNvPicPr>
            <a:picLocks noChangeAspect="1"/>
          </p:cNvPicPr>
          <p:nvPr userDrawn="1"/>
        </p:nvPicPr>
        <p:blipFill>
          <a:blip r:embed="rId3"/>
          <a:stretch>
            <a:fillRect/>
          </a:stretch>
        </p:blipFill>
        <p:spPr>
          <a:xfrm>
            <a:off x="457200" y="4861582"/>
            <a:ext cx="2743200" cy="23812"/>
          </a:xfrm>
          <a:prstGeom prst="rect">
            <a:avLst/>
          </a:prstGeom>
        </p:spPr>
      </p:pic>
      <p:sp>
        <p:nvSpPr>
          <p:cNvPr id="5" name="Footer Placeholder 4"/>
          <p:cNvSpPr>
            <a:spLocks noGrp="1"/>
          </p:cNvSpPr>
          <p:nvPr>
            <p:ph type="ftr" sz="quarter" idx="11"/>
          </p:nvPr>
        </p:nvSpPr>
        <p:spPr>
          <a:xfrm>
            <a:off x="457200" y="4938711"/>
            <a:ext cx="2898003" cy="151471"/>
          </a:xfrm>
          <a:prstGeom prst="rect">
            <a:avLst/>
          </a:prstGeom>
        </p:spPr>
        <p:txBody>
          <a:bodyPr lIns="0" tIns="0" rIns="0" bIns="0"/>
          <a:lstStyle/>
          <a:p>
            <a:r>
              <a:rPr lang="en-US" dirty="0"/>
              <a:t>© Cognirise 2026. All Rights Reserved.</a:t>
            </a:r>
          </a:p>
        </p:txBody>
      </p:sp>
      <p:pic>
        <p:nvPicPr>
          <p:cNvPr id="10" name="Image 2" descr="preencoded.png">
            <a:extLst>
              <a:ext uri="{FF2B5EF4-FFF2-40B4-BE49-F238E27FC236}">
                <a16:creationId xmlns:a16="http://schemas.microsoft.com/office/drawing/2014/main" id="{DFAD5371-41DC-0D8B-AB8F-7E7BC5B34EC7}"/>
              </a:ext>
            </a:extLst>
          </p:cNvPr>
          <p:cNvPicPr>
            <a:picLocks noChangeAspect="1"/>
          </p:cNvPicPr>
          <p:nvPr userDrawn="1"/>
        </p:nvPicPr>
        <p:blipFill>
          <a:blip r:embed="rId4"/>
          <a:stretch>
            <a:fillRect/>
          </a:stretch>
        </p:blipFill>
        <p:spPr>
          <a:xfrm>
            <a:off x="457646" y="256654"/>
            <a:ext cx="1004887" cy="671513"/>
          </a:xfrm>
          <a:prstGeom prst="rect">
            <a:avLst/>
          </a:prstGeom>
        </p:spPr>
      </p:pic>
      <p:sp>
        <p:nvSpPr>
          <p:cNvPr id="2" name="Title 1"/>
          <p:cNvSpPr>
            <a:spLocks noGrp="1"/>
          </p:cNvSpPr>
          <p:nvPr>
            <p:ph type="ctrTitle" hasCustomPrompt="1"/>
          </p:nvPr>
        </p:nvSpPr>
        <p:spPr>
          <a:xfrm>
            <a:off x="457199" y="1658293"/>
            <a:ext cx="5158259" cy="584775"/>
          </a:xfrm>
          <a:noFill/>
          <a:ln/>
        </p:spPr>
        <p:txBody>
          <a:bodyPr wrap="none" lIns="0" tIns="0" rIns="0" bIns="0" rtlCol="0" anchor="ctr"/>
          <a:lstStyle>
            <a:lvl1pPr>
              <a:defRPr lang="en-US" sz="3800" kern="0" spc="-374">
                <a:solidFill>
                  <a:srgbClr val="FFFFFF"/>
                </a:solidFill>
                <a:latin typeface="Comfortaa Medium" pitchFamily="2" charset="0"/>
                <a:ea typeface="Comfortaa Medium" pitchFamily="2" charset="0"/>
                <a:cs typeface="Comfortaa Medium" pitchFamily="2" charset="0"/>
              </a:defRPr>
            </a:lvl1pPr>
          </a:lstStyle>
          <a:p>
            <a:pPr marL="0" lvl="0" indent="0">
              <a:spcBef>
                <a:spcPts val="1620"/>
              </a:spcBef>
            </a:pPr>
            <a:r>
              <a:rPr lang="en-US" dirty="0"/>
              <a:t>Click to edit title line 1</a:t>
            </a:r>
          </a:p>
        </p:txBody>
      </p:sp>
      <p:sp>
        <p:nvSpPr>
          <p:cNvPr id="19" name="Text Placeholder 18">
            <a:extLst>
              <a:ext uri="{FF2B5EF4-FFF2-40B4-BE49-F238E27FC236}">
                <a16:creationId xmlns:a16="http://schemas.microsoft.com/office/drawing/2014/main" id="{656CD224-EA2A-3B4E-4707-216D055749F4}"/>
              </a:ext>
            </a:extLst>
          </p:cNvPr>
          <p:cNvSpPr>
            <a:spLocks noGrp="1"/>
          </p:cNvSpPr>
          <p:nvPr>
            <p:ph type="body" sz="quarter" idx="14" hasCustomPrompt="1"/>
          </p:nvPr>
        </p:nvSpPr>
        <p:spPr>
          <a:xfrm>
            <a:off x="456233" y="1219437"/>
            <a:ext cx="5159226" cy="344487"/>
          </a:xfrm>
          <a:noFill/>
          <a:ln/>
        </p:spPr>
        <p:txBody>
          <a:bodyPr wrap="none" lIns="0" tIns="0" rIns="0" bIns="0" rtlCol="0" anchor="ctr">
            <a:normAutofit/>
          </a:bodyPr>
          <a:lstStyle>
            <a:lvl1pPr marL="4763" indent="-4763">
              <a:buFont typeface="Arial" panose="020B0604020202020204" pitchFamily="34" charset="0"/>
              <a:buNone/>
              <a:tabLst/>
              <a:defRPr lang="en-US" sz="900" b="1" kern="0" spc="151" smtClean="0">
                <a:solidFill>
                  <a:srgbClr val="FFFFFF"/>
                </a:solidFill>
                <a:latin typeface="Inter" panose="02000503000000020004" pitchFamily="2" charset="0"/>
                <a:ea typeface="Inter" panose="02000503000000020004" pitchFamily="2" charset="0"/>
                <a:cs typeface="Inter" panose="02000503000000020004" pitchFamily="2" charset="0"/>
              </a:defRPr>
            </a:lvl1pPr>
            <a:lvl2pPr>
              <a:defRPr lang="en-US" sz="1800" smtClean="0"/>
            </a:lvl2pPr>
            <a:lvl3pPr>
              <a:defRPr lang="en-US" sz="1800" smtClean="0"/>
            </a:lvl3pPr>
            <a:lvl4pPr>
              <a:defRPr lang="en-US" sz="1800" smtClean="0"/>
            </a:lvl4pPr>
            <a:lvl5pPr>
              <a:defRPr lang="en-AE" sz="1800"/>
            </a:lvl5pPr>
          </a:lstStyle>
          <a:p>
            <a:pPr marL="342900" lvl="0" indent="-342900"/>
            <a:r>
              <a:rPr lang="en-US" dirty="0"/>
              <a:t>Click to edit Section Header</a:t>
            </a:r>
          </a:p>
        </p:txBody>
      </p:sp>
      <p:sp>
        <p:nvSpPr>
          <p:cNvPr id="21" name="Text Placeholder 20">
            <a:extLst>
              <a:ext uri="{FF2B5EF4-FFF2-40B4-BE49-F238E27FC236}">
                <a16:creationId xmlns:a16="http://schemas.microsoft.com/office/drawing/2014/main" id="{1898EBDA-DEB3-D3AF-CEE0-8B98669C38AA}"/>
              </a:ext>
            </a:extLst>
          </p:cNvPr>
          <p:cNvSpPr>
            <a:spLocks noGrp="1"/>
          </p:cNvSpPr>
          <p:nvPr>
            <p:ph type="body" sz="quarter" idx="15" hasCustomPrompt="1"/>
          </p:nvPr>
        </p:nvSpPr>
        <p:spPr>
          <a:xfrm>
            <a:off x="455264" y="3328640"/>
            <a:ext cx="4060369" cy="754062"/>
          </a:xfrm>
          <a:noFill/>
          <a:ln/>
        </p:spPr>
        <p:txBody>
          <a:bodyPr wrap="square" lIns="0" tIns="0" rIns="0" bIns="0" rtlCol="0" anchor="t">
            <a:normAutofit/>
          </a:bodyPr>
          <a:lstStyle>
            <a:lvl1pPr marL="4763" indent="-4763">
              <a:buNone/>
              <a:tabLst/>
              <a:defRPr lang="en-US" sz="1400" dirty="0" smtClean="0">
                <a:solidFill>
                  <a:srgbClr val="DBE3F0"/>
                </a:solidFill>
                <a:latin typeface="Comfortaa Medium" pitchFamily="2" charset="0"/>
                <a:ea typeface="Inter" panose="02000503000000020004" pitchFamily="2" charset="0"/>
                <a:cs typeface="Comfortaa Medium" pitchFamily="2" charset="0"/>
              </a:defRPr>
            </a:lvl1pPr>
            <a:lvl2pPr>
              <a:defRPr lang="en-US" sz="1800" dirty="0" smtClean="0"/>
            </a:lvl2pPr>
            <a:lvl3pPr>
              <a:defRPr lang="en-US" sz="1800" dirty="0" smtClean="0"/>
            </a:lvl3pPr>
            <a:lvl4pPr>
              <a:defRPr lang="en-US" sz="1800" dirty="0" smtClean="0"/>
            </a:lvl4pPr>
            <a:lvl5pPr>
              <a:defRPr lang="en-AE" sz="1800" dirty="0"/>
            </a:lvl5pPr>
          </a:lstStyle>
          <a:p>
            <a:pPr marL="342900" lvl="0" indent="-342900">
              <a:lnSpc>
                <a:spcPts val="2088"/>
              </a:lnSpc>
            </a:pPr>
            <a:r>
              <a:rPr lang="en-US" dirty="0"/>
              <a:t>Click to edit Section Description</a:t>
            </a:r>
          </a:p>
        </p:txBody>
      </p:sp>
    </p:spTree>
    <p:extLst>
      <p:ext uri="{BB962C8B-B14F-4D97-AF65-F5344CB8AC3E}">
        <p14:creationId xmlns:p14="http://schemas.microsoft.com/office/powerpoint/2010/main" val="168829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60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9F7F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Footer Placeholder 3"/>
          <p:cNvSpPr>
            <a:spLocks noGrp="1"/>
          </p:cNvSpPr>
          <p:nvPr>
            <p:ph type="ftr" sz="quarter" idx="11"/>
          </p:nvPr>
        </p:nvSpPr>
        <p:spPr>
          <a:xfrm>
            <a:off x="457200" y="4917674"/>
            <a:ext cx="2217420" cy="127975"/>
          </a:xfrm>
          <a:prstGeom prst="rect">
            <a:avLst/>
          </a:prstGeom>
        </p:spPr>
        <p:txBody>
          <a:bodyPr lIns="0" tIns="0" rIns="0" bIns="0" anchor="b"/>
          <a:lstStyle>
            <a:lvl1pPr algn="l">
              <a:defRPr sz="500">
                <a:solidFill>
                  <a:srgbClr val="5F708D"/>
                </a:solidFill>
                <a:latin typeface="Inter" panose="02000503000000020004" pitchFamily="2" charset="0"/>
                <a:ea typeface="Inter" panose="02000503000000020004" pitchFamily="2" charset="0"/>
              </a:defRPr>
            </a:lvl1pPr>
          </a:lstStyle>
          <a:p>
            <a:r>
              <a:rPr lang="en-US" dirty="0"/>
              <a:t>© Cognirise 2026. All Rights Reserved.</a:t>
            </a:r>
          </a:p>
        </p:txBody>
      </p:sp>
      <p:sp>
        <p:nvSpPr>
          <p:cNvPr id="5" name="Slide Number Placeholder 4"/>
          <p:cNvSpPr>
            <a:spLocks noGrp="1"/>
          </p:cNvSpPr>
          <p:nvPr>
            <p:ph type="sldNum" sz="quarter" idx="12"/>
          </p:nvPr>
        </p:nvSpPr>
        <p:spPr>
          <a:xfrm>
            <a:off x="8219872" y="4917674"/>
            <a:ext cx="466928" cy="127975"/>
          </a:xfrm>
          <a:prstGeom prst="rect">
            <a:avLst/>
          </a:prstGeom>
        </p:spPr>
        <p:txBody>
          <a:bodyPr lIns="0" tIns="0" rIns="0" bIns="0" anchor="b"/>
          <a:lstStyle>
            <a:lvl1pPr algn="r">
              <a:defRPr sz="500">
                <a:solidFill>
                  <a:srgbClr val="5F708D"/>
                </a:solidFill>
                <a:latin typeface="Inter" panose="02000503000000020004" pitchFamily="2" charset="0"/>
                <a:ea typeface="Inter" panose="02000503000000020004" pitchFamily="2" charset="0"/>
              </a:defRPr>
            </a:lvl1pPr>
          </a:lstStyle>
          <a:p>
            <a:fld id="{C1FF6DA9-008F-8B48-92A6-B652298478BF}" type="slidenum">
              <a:rPr lang="en-US" smtClean="0"/>
              <a:pPr/>
              <a:t>‹#›</a:t>
            </a:fld>
            <a:endParaRPr lang="en-US"/>
          </a:p>
        </p:txBody>
      </p:sp>
      <p:sp>
        <p:nvSpPr>
          <p:cNvPr id="9" name="Text Placeholder 8">
            <a:extLst>
              <a:ext uri="{FF2B5EF4-FFF2-40B4-BE49-F238E27FC236}">
                <a16:creationId xmlns:a16="http://schemas.microsoft.com/office/drawing/2014/main" id="{623ACB4A-3A6B-AA94-E5A0-2F4241ED9961}"/>
              </a:ext>
            </a:extLst>
          </p:cNvPr>
          <p:cNvSpPr>
            <a:spLocks noGrp="1"/>
          </p:cNvSpPr>
          <p:nvPr>
            <p:ph type="body" sz="quarter" idx="13"/>
          </p:nvPr>
        </p:nvSpPr>
        <p:spPr>
          <a:xfrm>
            <a:off x="457200" y="307975"/>
            <a:ext cx="2378075" cy="184150"/>
          </a:xfrm>
          <a:noFill/>
          <a:ln/>
        </p:spPr>
        <p:txBody>
          <a:bodyPr wrap="none" lIns="0" tIns="0" rIns="0" bIns="0" rtlCol="0" anchor="ctr"/>
          <a:lstStyle>
            <a:lvl1pPr>
              <a:buNone/>
              <a:defRPr lang="en-AE" sz="600" kern="0" spc="140" dirty="0">
                <a:solidFill>
                  <a:srgbClr val="60708D"/>
                </a:solidFill>
                <a:latin typeface="Inter" panose="02000503000000020004" pitchFamily="2" charset="0"/>
                <a:ea typeface="Inter" panose="02000503000000020004" pitchFamily="2" charset="0"/>
              </a:defRPr>
            </a:lvl1pPr>
          </a:lstStyle>
          <a:p>
            <a:pPr marL="0" lvl="0"/>
            <a:endParaRPr lang="en-AE" dirty="0"/>
          </a:p>
        </p:txBody>
      </p:sp>
      <p:sp>
        <p:nvSpPr>
          <p:cNvPr id="13" name="Text Placeholder 12">
            <a:extLst>
              <a:ext uri="{FF2B5EF4-FFF2-40B4-BE49-F238E27FC236}">
                <a16:creationId xmlns:a16="http://schemas.microsoft.com/office/drawing/2014/main" id="{0888926A-055B-6A18-84F8-9674AFB4C320}"/>
              </a:ext>
            </a:extLst>
          </p:cNvPr>
          <p:cNvSpPr>
            <a:spLocks noGrp="1"/>
          </p:cNvSpPr>
          <p:nvPr>
            <p:ph type="body" sz="quarter" idx="14"/>
          </p:nvPr>
        </p:nvSpPr>
        <p:spPr>
          <a:xfrm>
            <a:off x="457200" y="899478"/>
            <a:ext cx="7315200" cy="157351"/>
          </a:xfrm>
          <a:noFill/>
        </p:spPr>
        <p:txBody>
          <a:bodyPr wrap="square" lIns="0" tIns="0" rIns="0" bIns="0" anchor="t">
            <a:spAutoFit/>
          </a:bodyPr>
          <a:lstStyle>
            <a:lvl1pPr marL="0" indent="4763">
              <a:buNone/>
              <a:tabLst/>
              <a:defRPr lang="en-AE" sz="1000" b="0" dirty="0">
                <a:solidFill>
                  <a:srgbClr val="60708D"/>
                </a:solidFill>
                <a:latin typeface="Comfortaa Medium" pitchFamily="2" charset="0"/>
              </a:defRPr>
            </a:lvl1pPr>
          </a:lstStyle>
          <a:p>
            <a:pPr marL="0" lvl="0">
              <a:lnSpc>
                <a:spcPts val="1296"/>
              </a:lnSpc>
            </a:pPr>
            <a:endParaRPr lang="en-AE"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686299"/>
            <a:ext cx="2133600" cy="365125"/>
          </a:xfrm>
          <a:prstGeom prst="rect">
            <a:avLst/>
          </a:prstGeom>
        </p:spPr>
        <p:txBody>
          <a:bodyPr/>
          <a:lstStyle/>
          <a:p>
            <a:endParaRPr lang="en-US"/>
          </a:p>
        </p:txBody>
      </p:sp>
      <p:sp>
        <p:nvSpPr>
          <p:cNvPr id="3" name="Footer Placeholder 2"/>
          <p:cNvSpPr>
            <a:spLocks noGrp="1"/>
          </p:cNvSpPr>
          <p:nvPr>
            <p:ph type="ftr" sz="quarter" idx="11"/>
          </p:nvPr>
        </p:nvSpPr>
        <p:spPr>
          <a:xfrm>
            <a:off x="3124200" y="4686299"/>
            <a:ext cx="2895600" cy="365125"/>
          </a:xfrm>
          <a:prstGeom prst="rect">
            <a:avLst/>
          </a:prstGeom>
        </p:spPr>
        <p:txBody>
          <a:bodyPr/>
          <a:lstStyle/>
          <a:p>
            <a:r>
              <a:rPr lang="en-US"/>
              <a:t>Copyright © Cognirise 2026. All Rights Protected &amp; Reserved.</a:t>
            </a:r>
          </a:p>
        </p:txBody>
      </p:sp>
      <p:sp>
        <p:nvSpPr>
          <p:cNvPr id="4" name="Slide Number Placeholder 3"/>
          <p:cNvSpPr>
            <a:spLocks noGrp="1"/>
          </p:cNvSpPr>
          <p:nvPr>
            <p:ph type="sldNum" sz="quarter" idx="12"/>
          </p:nvPr>
        </p:nvSpPr>
        <p:spPr>
          <a:xfrm>
            <a:off x="6553200" y="4686299"/>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G">
    <p:bg>
      <p:bgPr>
        <a:solidFill>
          <a:srgbClr val="01011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719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31813"/>
            <a:ext cx="7315200" cy="333425"/>
          </a:xfrm>
          <a:prstGeom prst="rect">
            <a:avLst/>
          </a:prstGeom>
          <a:noFill/>
        </p:spPr>
        <p:txBody>
          <a:bodyPr wrap="square" lIns="0" tIns="0" rIns="0" bIns="0" anchor="t">
            <a:spAutoFit/>
          </a:bodyPr>
          <a:lstStyle/>
          <a:p>
            <a:pPr marL="0" lvl="0">
              <a:lnSpc>
                <a:spcPts val="2592"/>
              </a:lnSpc>
            </a:pPr>
            <a:r>
              <a:rPr lang="en-US" dirty="0"/>
              <a:t>Click to edit Master title style</a:t>
            </a:r>
          </a:p>
        </p:txBody>
      </p:sp>
      <p:sp>
        <p:nvSpPr>
          <p:cNvPr id="3" name="Text Placeholder 2"/>
          <p:cNvSpPr>
            <a:spLocks noGrp="1"/>
          </p:cNvSpPr>
          <p:nvPr>
            <p:ph type="body" idx="1"/>
          </p:nvPr>
        </p:nvSpPr>
        <p:spPr>
          <a:xfrm>
            <a:off x="457200" y="1600200"/>
            <a:ext cx="8229600" cy="29546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Straight Connector 13">
            <a:extLst>
              <a:ext uri="{FF2B5EF4-FFF2-40B4-BE49-F238E27FC236}">
                <a16:creationId xmlns:a16="http://schemas.microsoft.com/office/drawing/2014/main" id="{4B3630B9-1D51-3C28-DE24-AB0619928DA8}"/>
              </a:ext>
            </a:extLst>
          </p:cNvPr>
          <p:cNvCxnSpPr>
            <a:cxnSpLocks/>
          </p:cNvCxnSpPr>
          <p:nvPr userDrawn="1"/>
        </p:nvCxnSpPr>
        <p:spPr>
          <a:xfrm>
            <a:off x="0" y="-230013"/>
            <a:ext cx="493477" cy="0"/>
          </a:xfrm>
          <a:prstGeom prst="line">
            <a:avLst/>
          </a:prstGeom>
          <a:ln w="76200">
            <a:solidFill>
              <a:srgbClr val="E26080"/>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34A3319-B222-26EE-654F-88F9CC896C05}"/>
              </a:ext>
            </a:extLst>
          </p:cNvPr>
          <p:cNvCxnSpPr>
            <a:cxnSpLocks/>
          </p:cNvCxnSpPr>
          <p:nvPr userDrawn="1"/>
        </p:nvCxnSpPr>
        <p:spPr>
          <a:xfrm>
            <a:off x="0" y="-323247"/>
            <a:ext cx="493477" cy="0"/>
          </a:xfrm>
          <a:prstGeom prst="line">
            <a:avLst/>
          </a:prstGeom>
          <a:ln w="76200">
            <a:solidFill>
              <a:srgbClr val="A858BD"/>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962D943-651A-DE87-E2B6-43C18548AA66}"/>
              </a:ext>
            </a:extLst>
          </p:cNvPr>
          <p:cNvCxnSpPr>
            <a:cxnSpLocks/>
          </p:cNvCxnSpPr>
          <p:nvPr userDrawn="1"/>
        </p:nvCxnSpPr>
        <p:spPr>
          <a:xfrm>
            <a:off x="0" y="-432338"/>
            <a:ext cx="493477" cy="0"/>
          </a:xfrm>
          <a:prstGeom prst="line">
            <a:avLst/>
          </a:prstGeom>
          <a:ln w="76200">
            <a:solidFill>
              <a:srgbClr val="7559DF"/>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CDC49DC-9469-044F-4339-CB7B06B23FEC}"/>
              </a:ext>
            </a:extLst>
          </p:cNvPr>
          <p:cNvCxnSpPr>
            <a:cxnSpLocks/>
          </p:cNvCxnSpPr>
          <p:nvPr userDrawn="1"/>
        </p:nvCxnSpPr>
        <p:spPr>
          <a:xfrm>
            <a:off x="0" y="-545184"/>
            <a:ext cx="493477" cy="0"/>
          </a:xfrm>
          <a:prstGeom prst="line">
            <a:avLst/>
          </a:prstGeom>
          <a:ln w="76200">
            <a:solidFill>
              <a:srgbClr val="4A76F5"/>
            </a:solidFill>
          </a:ln>
          <a:effectLst/>
        </p:spPr>
        <p:style>
          <a:lnRef idx="2">
            <a:schemeClr val="accent1"/>
          </a:lnRef>
          <a:fillRef idx="0">
            <a:schemeClr val="accent1"/>
          </a:fillRef>
          <a:effectRef idx="1">
            <a:schemeClr val="accent1"/>
          </a:effectRef>
          <a:fontRef idx="minor">
            <a:schemeClr val="tx1"/>
          </a:fontRef>
        </p:style>
      </p:cxnSp>
      <p:sp>
        <p:nvSpPr>
          <p:cNvPr id="20" name="Footer Placeholder 3">
            <a:extLst>
              <a:ext uri="{FF2B5EF4-FFF2-40B4-BE49-F238E27FC236}">
                <a16:creationId xmlns:a16="http://schemas.microsoft.com/office/drawing/2014/main" id="{911AED70-B1D7-2383-8EFC-B91CAB6DB8A4}"/>
              </a:ext>
            </a:extLst>
          </p:cNvPr>
          <p:cNvSpPr>
            <a:spLocks noGrp="1"/>
          </p:cNvSpPr>
          <p:nvPr>
            <p:ph type="ftr" sz="quarter" idx="3"/>
          </p:nvPr>
        </p:nvSpPr>
        <p:spPr>
          <a:xfrm>
            <a:off x="457200" y="4827734"/>
            <a:ext cx="2217420" cy="127975"/>
          </a:xfrm>
          <a:prstGeom prst="rect">
            <a:avLst/>
          </a:prstGeom>
        </p:spPr>
        <p:txBody>
          <a:bodyPr/>
          <a:lstStyle>
            <a:lvl1pPr algn="l">
              <a:defRPr sz="500">
                <a:solidFill>
                  <a:srgbClr val="5F708D"/>
                </a:solidFill>
                <a:latin typeface="Inter" panose="02000503000000020004" pitchFamily="2" charset="0"/>
                <a:ea typeface="Inter" panose="02000503000000020004" pitchFamily="2" charset="0"/>
              </a:defRPr>
            </a:lvl1pPr>
          </a:lstStyle>
          <a:p>
            <a:r>
              <a:rPr lang="en-US" dirty="0"/>
              <a:t>© Cognirise 2026. All Rights Reserved.</a:t>
            </a:r>
          </a:p>
        </p:txBody>
      </p:sp>
      <p:sp>
        <p:nvSpPr>
          <p:cNvPr id="21" name="Slide Number Placeholder 4">
            <a:extLst>
              <a:ext uri="{FF2B5EF4-FFF2-40B4-BE49-F238E27FC236}">
                <a16:creationId xmlns:a16="http://schemas.microsoft.com/office/drawing/2014/main" id="{B4B44718-2715-FC1B-404E-7FCE9C59BD64}"/>
              </a:ext>
            </a:extLst>
          </p:cNvPr>
          <p:cNvSpPr>
            <a:spLocks noGrp="1"/>
          </p:cNvSpPr>
          <p:nvPr>
            <p:ph type="sldNum" sz="quarter" idx="4"/>
          </p:nvPr>
        </p:nvSpPr>
        <p:spPr>
          <a:xfrm>
            <a:off x="8219872" y="4827734"/>
            <a:ext cx="466928" cy="127975"/>
          </a:xfrm>
          <a:prstGeom prst="rect">
            <a:avLst/>
          </a:prstGeom>
        </p:spPr>
        <p:txBody>
          <a:bodyPr/>
          <a:lstStyle>
            <a:lvl1pPr algn="r">
              <a:defRPr sz="500">
                <a:solidFill>
                  <a:srgbClr val="5F708D"/>
                </a:solidFill>
                <a:latin typeface="Inter" panose="02000503000000020004" pitchFamily="2" charset="0"/>
                <a:ea typeface="Inter" panose="02000503000000020004" pitchFamily="2" charset="0"/>
              </a:defRPr>
            </a:lvl1pPr>
          </a:lstStyle>
          <a:p>
            <a:pPr algn="r"/>
            <a:fld id="{C1FF6DA9-008F-8B48-92A6-B652298478BF}" type="slidenum">
              <a:rPr lang="en-US" smtClean="0"/>
              <a:pPr/>
              <a:t>‹#›</a:t>
            </a:fld>
            <a:endParaRPr lang="en-US"/>
          </a:p>
        </p:txBody>
      </p:sp>
      <p:pic>
        <p:nvPicPr>
          <p:cNvPr id="23" name="Graphic 22">
            <a:extLst>
              <a:ext uri="{FF2B5EF4-FFF2-40B4-BE49-F238E27FC236}">
                <a16:creationId xmlns:a16="http://schemas.microsoft.com/office/drawing/2014/main" id="{3954B5E3-9C22-489D-0205-D31892CDFE79}"/>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7539977" y="0"/>
            <a:ext cx="1146823" cy="764549"/>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3" r:id="rId4"/>
    <p:sldLayoutId id="2147483664" r:id="rId5"/>
    <p:sldLayoutId id="2147483654" r:id="rId6"/>
    <p:sldLayoutId id="2147483655" r:id="rId7"/>
    <p:sldLayoutId id="2147483665" r:id="rId8"/>
  </p:sldLayoutIdLst>
  <p:hf hdr="0" dt="0"/>
  <p:txStyles>
    <p:titleStyle>
      <a:lvl1pPr algn="l" defTabSz="457200" rtl="0" eaLnBrk="1" latinLnBrk="0" hangingPunct="1">
        <a:spcBef>
          <a:spcPct val="0"/>
        </a:spcBef>
        <a:buNone/>
        <a:defRPr lang="en-US" sz="2400" kern="1200" dirty="0">
          <a:solidFill>
            <a:srgbClr val="102957"/>
          </a:solidFill>
          <a:latin typeface="Comfortaa Medium"/>
          <a:ea typeface="+mn-ea"/>
          <a:cs typeface="+mn-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42B03B-E3BE-C44A-847C-DCEB5A3856D7}"/>
              </a:ext>
            </a:extLst>
          </p:cNvPr>
          <p:cNvPicPr>
            <a:picLocks noChangeAspect="1"/>
          </p:cNvPicPr>
          <p:nvPr/>
        </p:nvPicPr>
        <p:blipFill>
          <a:blip r:embed="rId3"/>
          <a:stretch>
            <a:fillRect/>
          </a:stretch>
        </p:blipFill>
        <p:spPr>
          <a:xfrm>
            <a:off x="3475163" y="-8313"/>
            <a:ext cx="5668837" cy="5668837"/>
          </a:xfrm>
          <a:prstGeom prst="rect">
            <a:avLst/>
          </a:prstGeom>
        </p:spPr>
      </p:pic>
      <p:pic>
        <p:nvPicPr>
          <p:cNvPr id="4" name="Picture 3" descr="scrim-light.png"/>
          <p:cNvPicPr>
            <a:picLocks noChangeAspect="1"/>
          </p:cNvPicPr>
          <p:nvPr/>
        </p:nvPicPr>
        <p:blipFill>
          <a:blip r:embed="rId4"/>
          <a:stretch>
            <a:fillRect/>
          </a:stretch>
        </p:blipFill>
        <p:spPr>
          <a:xfrm>
            <a:off x="-1" y="-8313"/>
            <a:ext cx="9144000" cy="5668837"/>
          </a:xfrm>
          <a:prstGeom prst="rect">
            <a:avLst/>
          </a:prstGeom>
        </p:spPr>
      </p:pic>
      <p:pic>
        <p:nvPicPr>
          <p:cNvPr id="5" name="Picture 4" descr="logo-on-light.png"/>
          <p:cNvPicPr>
            <a:picLocks noChangeAspect="1"/>
          </p:cNvPicPr>
          <p:nvPr/>
        </p:nvPicPr>
        <p:blipFill>
          <a:blip r:embed="rId5"/>
          <a:stretch>
            <a:fillRect/>
          </a:stretch>
        </p:blipFill>
        <p:spPr>
          <a:xfrm>
            <a:off x="219456" y="32060"/>
            <a:ext cx="1500252" cy="1001988"/>
          </a:xfrm>
          <a:prstGeom prst="rect">
            <a:avLst/>
          </a:prstGeom>
        </p:spPr>
      </p:pic>
      <p:sp>
        <p:nvSpPr>
          <p:cNvPr id="7" name="TextBox 6"/>
          <p:cNvSpPr txBox="1"/>
          <p:nvPr/>
        </p:nvSpPr>
        <p:spPr>
          <a:xfrm>
            <a:off x="457200" y="1899653"/>
            <a:ext cx="3931920" cy="775277"/>
          </a:xfrm>
          <a:prstGeom prst="rect">
            <a:avLst/>
          </a:prstGeom>
          <a:noFill/>
        </p:spPr>
        <p:txBody>
          <a:bodyPr wrap="square" lIns="0" tIns="0" rIns="0" bIns="0" anchor="t">
            <a:spAutoFit/>
          </a:bodyPr>
          <a:lstStyle/>
          <a:p>
            <a:pPr algn="l">
              <a:lnSpc>
                <a:spcPts val="3009"/>
              </a:lnSpc>
            </a:pPr>
            <a:r>
              <a:rPr lang="en-US" sz="3160" b="0" dirty="0">
                <a:solidFill>
                  <a:srgbClr val="102957"/>
                </a:solidFill>
                <a:latin typeface="Comfortaa Medium"/>
              </a:rPr>
              <a:t>We don’t sell experimentation</a:t>
            </a:r>
            <a:endParaRPr sz="3160" b="0" dirty="0">
              <a:solidFill>
                <a:srgbClr val="102957"/>
              </a:solidFill>
              <a:latin typeface="Comfortaa Medium"/>
            </a:endParaRPr>
          </a:p>
        </p:txBody>
      </p:sp>
      <p:sp>
        <p:nvSpPr>
          <p:cNvPr id="8" name="TextBox 7"/>
          <p:cNvSpPr txBox="1"/>
          <p:nvPr/>
        </p:nvSpPr>
        <p:spPr>
          <a:xfrm>
            <a:off x="457199" y="2678405"/>
            <a:ext cx="3931921" cy="775277"/>
          </a:xfrm>
          <a:prstGeom prst="rect">
            <a:avLst/>
          </a:prstGeom>
          <a:noFill/>
        </p:spPr>
        <p:txBody>
          <a:bodyPr wrap="square" lIns="0" tIns="0" rIns="0" bIns="0" anchor="t">
            <a:spAutoFit/>
          </a:bodyPr>
          <a:lstStyle/>
          <a:p>
            <a:pPr algn="l">
              <a:lnSpc>
                <a:spcPts val="3009"/>
              </a:lnSpc>
            </a:pPr>
            <a:r>
              <a:rPr lang="en-US" sz="3160" b="1" dirty="0">
                <a:solidFill>
                  <a:srgbClr val="DB509E"/>
                </a:solidFill>
                <a:latin typeface="Comfortaa Medium"/>
              </a:rPr>
              <a:t>We sell operational reality</a:t>
            </a:r>
            <a:endParaRPr sz="3160" b="1" dirty="0">
              <a:solidFill>
                <a:srgbClr val="DB509E"/>
              </a:solidFill>
              <a:latin typeface="Comfortaa Medium"/>
            </a:endParaRPr>
          </a:p>
        </p:txBody>
      </p:sp>
      <p:sp>
        <p:nvSpPr>
          <p:cNvPr id="9" name="TextBox 8"/>
          <p:cNvSpPr txBox="1"/>
          <p:nvPr/>
        </p:nvSpPr>
        <p:spPr>
          <a:xfrm>
            <a:off x="457200" y="3481408"/>
            <a:ext cx="3977639" cy="142731"/>
          </a:xfrm>
          <a:prstGeom prst="rect">
            <a:avLst/>
          </a:prstGeom>
          <a:noFill/>
        </p:spPr>
        <p:txBody>
          <a:bodyPr wrap="square" lIns="0" tIns="0" rIns="0" bIns="0" anchor="t">
            <a:spAutoFit/>
          </a:bodyPr>
          <a:lstStyle/>
          <a:p>
            <a:pPr algn="l">
              <a:lnSpc>
                <a:spcPts val="1202"/>
              </a:lnSpc>
            </a:pPr>
            <a:r>
              <a:rPr lang="en-US" sz="890" b="0" dirty="0">
                <a:solidFill>
                  <a:srgbClr val="6B7B96"/>
                </a:solidFill>
                <a:latin typeface="Inter"/>
              </a:rPr>
              <a:t>The Cognirise Agent Authority Framework</a:t>
            </a:r>
            <a:endParaRPr sz="890" b="0" dirty="0">
              <a:solidFill>
                <a:srgbClr val="6B7B96"/>
              </a:solidFill>
              <a:latin typeface="Inter"/>
            </a:endParaRPr>
          </a:p>
        </p:txBody>
      </p:sp>
      <p:sp>
        <p:nvSpPr>
          <p:cNvPr id="15" name="Footer Placeholder 14">
            <a:extLst>
              <a:ext uri="{FF2B5EF4-FFF2-40B4-BE49-F238E27FC236}">
                <a16:creationId xmlns:a16="http://schemas.microsoft.com/office/drawing/2014/main" id="{38617A7A-2806-9235-D3C8-0195652985E1}"/>
              </a:ext>
            </a:extLst>
          </p:cNvPr>
          <p:cNvSpPr>
            <a:spLocks noGrp="1"/>
          </p:cNvSpPr>
          <p:nvPr>
            <p:ph type="ftr" sz="quarter" idx="11"/>
          </p:nvPr>
        </p:nvSpPr>
        <p:spPr>
          <a:xfrm>
            <a:off x="457200" y="5050503"/>
            <a:ext cx="2895600" cy="127975"/>
          </a:xfrm>
        </p:spPr>
        <p:txBody>
          <a:bodyPr lIns="0" tIns="0" rIns="0" bIns="0"/>
          <a:lstStyle/>
          <a:p>
            <a:r>
              <a:rPr lang="en-US" dirty="0"/>
              <a:t>© Cognirise 2026. All Rights Reserved.</a:t>
            </a:r>
          </a:p>
        </p:txBody>
      </p:sp>
      <p:sp>
        <p:nvSpPr>
          <p:cNvPr id="16" name="Slide Number Placeholder 15">
            <a:extLst>
              <a:ext uri="{FF2B5EF4-FFF2-40B4-BE49-F238E27FC236}">
                <a16:creationId xmlns:a16="http://schemas.microsoft.com/office/drawing/2014/main" id="{261C6FD1-2BEE-B14A-4B43-10CD58E5A156}"/>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 name="Group 89">
            <a:extLst>
              <a:ext uri="{FF2B5EF4-FFF2-40B4-BE49-F238E27FC236}">
                <a16:creationId xmlns:a16="http://schemas.microsoft.com/office/drawing/2014/main" id="{F610363F-115B-8940-655A-59B106526929}"/>
              </a:ext>
            </a:extLst>
          </p:cNvPr>
          <p:cNvGrpSpPr/>
          <p:nvPr/>
        </p:nvGrpSpPr>
        <p:grpSpPr>
          <a:xfrm>
            <a:off x="416207" y="1359328"/>
            <a:ext cx="1961804" cy="2372254"/>
            <a:chOff x="393700" y="1665478"/>
            <a:chExt cx="2654046" cy="2372254"/>
          </a:xfrm>
        </p:grpSpPr>
        <p:sp>
          <p:nvSpPr>
            <p:cNvPr id="91" name="Rectangle 90">
              <a:extLst>
                <a:ext uri="{FF2B5EF4-FFF2-40B4-BE49-F238E27FC236}">
                  <a16:creationId xmlns:a16="http://schemas.microsoft.com/office/drawing/2014/main" id="{1EDB3DEA-1E12-196F-8C72-6BCBD1545B30}"/>
                </a:ext>
              </a:extLst>
            </p:cNvPr>
            <p:cNvSpPr/>
            <p:nvPr/>
          </p:nvSpPr>
          <p:spPr>
            <a:xfrm>
              <a:off x="393700" y="1665478"/>
              <a:ext cx="2654046" cy="2372254"/>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a:extLst>
                <a:ext uri="{FF2B5EF4-FFF2-40B4-BE49-F238E27FC236}">
                  <a16:creationId xmlns:a16="http://schemas.microsoft.com/office/drawing/2014/main" id="{D2E4980D-F778-8A22-1485-B545D7AB0813}"/>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 name="Text 1"/>
          <p:cNvSpPr txBox="1"/>
          <p:nvPr/>
        </p:nvSpPr>
        <p:spPr>
          <a:xfrm>
            <a:off x="425196" y="452628"/>
            <a:ext cx="7955280" cy="384048"/>
          </a:xfrm>
          <a:prstGeom prst="rect">
            <a:avLst/>
          </a:prstGeom>
          <a:noFill/>
          <a:ln/>
        </p:spPr>
        <p:txBody>
          <a:bodyPr wrap="square" lIns="0" tIns="0" rIns="0" bIns="0" rtlCol="0" anchor="ctr"/>
          <a:lstStyle/>
          <a:p>
            <a:r>
              <a:rPr lang="en-US" sz="1950" dirty="0">
                <a:solidFill>
                  <a:srgbClr val="F7F4EE"/>
                </a:solidFill>
                <a:latin typeface="Plus Jakarta Sans ExtraBold" pitchFamily="34" charset="0"/>
                <a:ea typeface="Plus Jakarta Sans ExtraBold" pitchFamily="34" charset="-122"/>
                <a:cs typeface="Plus Jakarta Sans ExtraBold" pitchFamily="34" charset="-120"/>
              </a:rPr>
              <a:t>The Agent Authority Model</a:t>
            </a:r>
            <a:endParaRPr lang="en-US" sz="1950" dirty="0"/>
          </a:p>
        </p:txBody>
      </p:sp>
      <p:sp>
        <p:nvSpPr>
          <p:cNvPr id="4" name="Text 2"/>
          <p:cNvSpPr txBox="1"/>
          <p:nvPr/>
        </p:nvSpPr>
        <p:spPr>
          <a:xfrm>
            <a:off x="425196" y="4841748"/>
            <a:ext cx="4114800" cy="164592"/>
          </a:xfrm>
          <a:prstGeom prst="rect">
            <a:avLst/>
          </a:prstGeom>
          <a:noFill/>
          <a:ln/>
        </p:spPr>
        <p:txBody>
          <a:bodyPr wrap="square" lIns="0" tIns="0" rIns="0" bIns="0" rtlCol="0" anchor="ctr"/>
          <a:lstStyle/>
          <a:p>
            <a:r>
              <a:rPr lang="en-US" sz="563" dirty="0">
                <a:solidFill>
                  <a:srgbClr val="8A93A0"/>
                </a:solidFill>
                <a:latin typeface="Plus Jakarta Sans ExtraLight" pitchFamily="34" charset="0"/>
                <a:ea typeface="Plus Jakarta Sans ExtraLight" pitchFamily="34" charset="-122"/>
                <a:cs typeface="Plus Jakarta Sans ExtraLight" pitchFamily="34" charset="-120"/>
              </a:rPr>
              <a:t>Copyright © 2026. All Right Protected &amp; Reserved.</a:t>
            </a:r>
            <a:endParaRPr lang="en-US" sz="563" dirty="0"/>
          </a:p>
        </p:txBody>
      </p:sp>
      <p:sp>
        <p:nvSpPr>
          <p:cNvPr id="5" name="Text 3"/>
          <p:cNvSpPr txBox="1"/>
          <p:nvPr/>
        </p:nvSpPr>
        <p:spPr>
          <a:xfrm>
            <a:off x="8457971" y="4841748"/>
            <a:ext cx="274320" cy="164592"/>
          </a:xfrm>
          <a:prstGeom prst="rect">
            <a:avLst/>
          </a:prstGeom>
          <a:noFill/>
          <a:ln/>
        </p:spPr>
        <p:txBody>
          <a:bodyPr wrap="square" lIns="0" tIns="0" rIns="0" bIns="0" rtlCol="0" anchor="ctr"/>
          <a:lstStyle/>
          <a:p>
            <a:pPr algn="r"/>
            <a:r>
              <a:rPr lang="en-US" sz="563" dirty="0">
                <a:solidFill>
                  <a:srgbClr val="8A93A0"/>
                </a:solidFill>
                <a:latin typeface="Plus Jakarta Sans Medium" pitchFamily="34" charset="0"/>
                <a:ea typeface="Plus Jakarta Sans Medium" pitchFamily="34" charset="-122"/>
                <a:cs typeface="Plus Jakarta Sans Medium" pitchFamily="34" charset="-120"/>
              </a:rPr>
              <a:t>1</a:t>
            </a:r>
            <a:endParaRPr lang="en-US" sz="563" dirty="0"/>
          </a:p>
        </p:txBody>
      </p:sp>
      <p:sp>
        <p:nvSpPr>
          <p:cNvPr id="8" name="Text 6"/>
          <p:cNvSpPr txBox="1"/>
          <p:nvPr/>
        </p:nvSpPr>
        <p:spPr>
          <a:xfrm>
            <a:off x="504165" y="1399863"/>
            <a:ext cx="1728216" cy="137160"/>
          </a:xfrm>
          <a:prstGeom prst="rect">
            <a:avLst/>
          </a:prstGeom>
          <a:noFill/>
          <a:ln/>
        </p:spPr>
        <p:txBody>
          <a:bodyPr wrap="square" lIns="0" tIns="0" rIns="0" bIns="0" rtlCol="0" anchor="ctr"/>
          <a:lstStyle/>
          <a:p>
            <a:r>
              <a:rPr lang="en-US" sz="525" b="1" kern="0" spc="120" dirty="0">
                <a:solidFill>
                  <a:schemeClr val="accent4"/>
                </a:solidFill>
                <a:latin typeface="Plus Jakarta Sans Medium" pitchFamily="34" charset="0"/>
                <a:ea typeface="Plus Jakarta Sans Medium" pitchFamily="34" charset="-122"/>
                <a:cs typeface="Plus Jakarta Sans Medium" pitchFamily="34" charset="-120"/>
              </a:rPr>
              <a:t>THE UNIT WE GOVERN</a:t>
            </a:r>
            <a:endParaRPr lang="en-US" sz="525" dirty="0">
              <a:solidFill>
                <a:schemeClr val="accent4"/>
              </a:solidFill>
            </a:endParaRPr>
          </a:p>
        </p:txBody>
      </p:sp>
      <p:sp>
        <p:nvSpPr>
          <p:cNvPr id="9" name="Text 7"/>
          <p:cNvSpPr txBox="1"/>
          <p:nvPr/>
        </p:nvSpPr>
        <p:spPr>
          <a:xfrm>
            <a:off x="504165" y="1550739"/>
            <a:ext cx="1728216" cy="205740"/>
          </a:xfrm>
          <a:prstGeom prst="rect">
            <a:avLst/>
          </a:prstGeom>
          <a:noFill/>
          <a:ln/>
        </p:spPr>
        <p:txBody>
          <a:bodyPr wrap="square" lIns="0" tIns="0" rIns="0" bIns="0" rtlCol="0" anchor="ctr"/>
          <a:lstStyle/>
          <a:p>
            <a:r>
              <a:rPr lang="en-US" sz="1125" dirty="0">
                <a:latin typeface="Plus Jakarta Sans ExtraBold" pitchFamily="34" charset="0"/>
                <a:ea typeface="Plus Jakarta Sans ExtraBold" pitchFamily="34" charset="-122"/>
                <a:cs typeface="Plus Jakarta Sans ExtraBold" pitchFamily="34" charset="-120"/>
              </a:rPr>
              <a:t>The handover</a:t>
            </a:r>
            <a:endParaRPr lang="en-US" sz="1125" dirty="0"/>
          </a:p>
        </p:txBody>
      </p:sp>
      <p:sp>
        <p:nvSpPr>
          <p:cNvPr id="10" name="Text 8"/>
          <p:cNvSpPr txBox="1"/>
          <p:nvPr/>
        </p:nvSpPr>
        <p:spPr>
          <a:xfrm>
            <a:off x="504165" y="1783911"/>
            <a:ext cx="1728216" cy="589788"/>
          </a:xfrm>
          <a:prstGeom prst="rect">
            <a:avLst/>
          </a:prstGeom>
          <a:noFill/>
          <a:ln/>
        </p:spPr>
        <p:txBody>
          <a:bodyPr wrap="square" lIns="0" tIns="0" rIns="0" bIns="0" rtlCol="0" anchor="t"/>
          <a:lstStyle/>
          <a:p>
            <a:pPr>
              <a:lnSpc>
                <a:spcPct val="120000"/>
              </a:lnSpc>
            </a:pPr>
            <a:r>
              <a:rPr lang="en-US" sz="675" dirty="0">
                <a:solidFill>
                  <a:srgbClr val="8A93A0"/>
                </a:solidFill>
                <a:latin typeface="Plus Jakarta Sans ExtraLight" pitchFamily="34" charset="0"/>
                <a:ea typeface="Plus Jakarta Sans ExtraLight" pitchFamily="34" charset="-122"/>
                <a:cs typeface="Plus Jakarta Sans ExtraLight" pitchFamily="34" charset="-120"/>
              </a:rPr>
              <a:t>Every moment an agent passes something to a person, or to another agent. One agent has several — and they are not equally risky.</a:t>
            </a:r>
            <a:endParaRPr lang="en-US" sz="675" dirty="0"/>
          </a:p>
        </p:txBody>
      </p:sp>
      <p:sp>
        <p:nvSpPr>
          <p:cNvPr id="11" name="Shape 9"/>
          <p:cNvSpPr/>
          <p:nvPr/>
        </p:nvSpPr>
        <p:spPr>
          <a:xfrm>
            <a:off x="504165" y="2414847"/>
            <a:ext cx="1728216" cy="0"/>
          </a:xfrm>
          <a:prstGeom prst="line">
            <a:avLst/>
          </a:prstGeom>
          <a:noFill/>
          <a:ln w="9525">
            <a:solidFill>
              <a:srgbClr val="2A3160"/>
            </a:solidFill>
            <a:prstDash val="solid"/>
          </a:ln>
        </p:spPr>
        <p:txBody>
          <a:bodyPr/>
          <a:lstStyle/>
          <a:p>
            <a:endParaRPr lang="en-AE" sz="1350"/>
          </a:p>
        </p:txBody>
      </p:sp>
      <p:sp>
        <p:nvSpPr>
          <p:cNvPr id="12" name="Text 10"/>
          <p:cNvSpPr txBox="1"/>
          <p:nvPr/>
        </p:nvSpPr>
        <p:spPr>
          <a:xfrm>
            <a:off x="504165" y="2497143"/>
            <a:ext cx="1728216" cy="137160"/>
          </a:xfrm>
          <a:prstGeom prst="rect">
            <a:avLst/>
          </a:prstGeom>
          <a:noFill/>
          <a:ln/>
        </p:spPr>
        <p:txBody>
          <a:bodyPr wrap="square" lIns="0" tIns="0" rIns="0" bIns="0" rtlCol="0" anchor="ctr"/>
          <a:lstStyle/>
          <a:p>
            <a:r>
              <a:rPr lang="en-US" sz="525" b="1" kern="0" spc="120" dirty="0">
                <a:solidFill>
                  <a:schemeClr val="accent4"/>
                </a:solidFill>
                <a:latin typeface="Plus Jakarta Sans Medium" pitchFamily="34" charset="0"/>
                <a:ea typeface="Plus Jakarta Sans Medium" pitchFamily="34" charset="-122"/>
                <a:cs typeface="Plus Jakarta Sans Medium" pitchFamily="34" charset="-120"/>
              </a:rPr>
              <a:t>WORKED EXAMPLE</a:t>
            </a:r>
            <a:endParaRPr lang="en-US" sz="525" dirty="0">
              <a:solidFill>
                <a:schemeClr val="accent4"/>
              </a:solidFill>
            </a:endParaRPr>
          </a:p>
        </p:txBody>
      </p:sp>
      <p:sp>
        <p:nvSpPr>
          <p:cNvPr id="13" name="Text 11"/>
          <p:cNvSpPr txBox="1"/>
          <p:nvPr/>
        </p:nvSpPr>
        <p:spPr>
          <a:xfrm>
            <a:off x="504165" y="2634303"/>
            <a:ext cx="1728216" cy="164592"/>
          </a:xfrm>
          <a:prstGeom prst="rect">
            <a:avLst/>
          </a:prstGeom>
          <a:noFill/>
          <a:ln/>
        </p:spPr>
        <p:txBody>
          <a:bodyPr wrap="square" lIns="0" tIns="0" rIns="0" bIns="0" rtlCol="0" anchor="ctr"/>
          <a:lstStyle/>
          <a:p>
            <a:r>
              <a:rPr lang="en-US" sz="750" dirty="0">
                <a:latin typeface="Plus Jakarta Sans Medium" pitchFamily="34" charset="0"/>
                <a:ea typeface="Plus Jakarta Sans Medium" pitchFamily="34" charset="-122"/>
                <a:cs typeface="Plus Jakarta Sans Medium" pitchFamily="34" charset="-120"/>
              </a:rPr>
              <a:t>A telecom care agent</a:t>
            </a:r>
            <a:endParaRPr lang="en-US" sz="750" dirty="0"/>
          </a:p>
        </p:txBody>
      </p:sp>
      <p:sp>
        <p:nvSpPr>
          <p:cNvPr id="14" name="Shape 12"/>
          <p:cNvSpPr/>
          <p:nvPr/>
        </p:nvSpPr>
        <p:spPr>
          <a:xfrm>
            <a:off x="517881" y="2848254"/>
            <a:ext cx="68580" cy="68580"/>
          </a:xfrm>
          <a:prstGeom prst="ellipse">
            <a:avLst/>
          </a:prstGeom>
          <a:solidFill>
            <a:srgbClr val="4A7DFF"/>
          </a:solidFill>
          <a:ln w="6350">
            <a:solidFill>
              <a:srgbClr val="4A7DFF"/>
            </a:solidFill>
            <a:prstDash val="solid"/>
          </a:ln>
        </p:spPr>
        <p:txBody>
          <a:bodyPr/>
          <a:lstStyle/>
          <a:p>
            <a:endParaRPr lang="en-AE" sz="1350"/>
          </a:p>
        </p:txBody>
      </p:sp>
      <p:sp>
        <p:nvSpPr>
          <p:cNvPr id="15" name="Text 13"/>
          <p:cNvSpPr txBox="1"/>
          <p:nvPr/>
        </p:nvSpPr>
        <p:spPr>
          <a:xfrm>
            <a:off x="641325" y="2810535"/>
            <a:ext cx="1110996" cy="150876"/>
          </a:xfrm>
          <a:prstGeom prst="rect">
            <a:avLst/>
          </a:prstGeom>
          <a:noFill/>
          <a:ln/>
        </p:spPr>
        <p:txBody>
          <a:bodyPr wrap="square" lIns="0" tIns="0" rIns="0" bIns="0" rtlCol="0" anchor="ctr"/>
          <a:lstStyle/>
          <a:p>
            <a:r>
              <a:rPr lang="en-US" sz="638" dirty="0">
                <a:solidFill>
                  <a:schemeClr val="tx1">
                    <a:lumMod val="50000"/>
                    <a:lumOff val="50000"/>
                  </a:schemeClr>
                </a:solidFill>
                <a:latin typeface="Plus Jakarta Sans ExtraLight" pitchFamily="34" charset="0"/>
                <a:ea typeface="Plus Jakarta Sans ExtraLight" pitchFamily="34" charset="-122"/>
                <a:cs typeface="Plus Jakarta Sans ExtraLight" pitchFamily="34" charset="-120"/>
              </a:rPr>
              <a:t>answers a tariff question</a:t>
            </a:r>
            <a:endParaRPr lang="en-US" sz="638" dirty="0">
              <a:solidFill>
                <a:schemeClr val="tx1">
                  <a:lumMod val="50000"/>
                  <a:lumOff val="50000"/>
                </a:schemeClr>
              </a:solidFill>
            </a:endParaRPr>
          </a:p>
        </p:txBody>
      </p:sp>
      <p:sp>
        <p:nvSpPr>
          <p:cNvPr id="16" name="Text 14"/>
          <p:cNvSpPr txBox="1"/>
          <p:nvPr/>
        </p:nvSpPr>
        <p:spPr>
          <a:xfrm>
            <a:off x="1724889" y="2810535"/>
            <a:ext cx="589788" cy="150876"/>
          </a:xfrm>
          <a:prstGeom prst="rect">
            <a:avLst/>
          </a:prstGeom>
          <a:noFill/>
          <a:ln/>
        </p:spPr>
        <p:txBody>
          <a:bodyPr wrap="square" lIns="0" tIns="0" rIns="0" bIns="0" rtlCol="0" anchor="ctr"/>
          <a:lstStyle/>
          <a:p>
            <a:pPr algn="r"/>
            <a:r>
              <a:rPr lang="en-US" sz="638" dirty="0">
                <a:solidFill>
                  <a:srgbClr val="4A7DFF"/>
                </a:solidFill>
                <a:latin typeface="Plus Jakarta Sans Medium" pitchFamily="34" charset="0"/>
                <a:ea typeface="Plus Jakarta Sans Medium" pitchFamily="34" charset="-122"/>
                <a:cs typeface="Plus Jakarta Sans Medium" pitchFamily="34" charset="-120"/>
              </a:rPr>
              <a:t>Knowledge</a:t>
            </a:r>
            <a:endParaRPr lang="en-US" sz="638" dirty="0"/>
          </a:p>
        </p:txBody>
      </p:sp>
      <p:sp>
        <p:nvSpPr>
          <p:cNvPr id="17" name="Shape 15"/>
          <p:cNvSpPr/>
          <p:nvPr/>
        </p:nvSpPr>
        <p:spPr>
          <a:xfrm>
            <a:off x="517881" y="3014922"/>
            <a:ext cx="68580" cy="68580"/>
          </a:xfrm>
          <a:prstGeom prst="ellipse">
            <a:avLst/>
          </a:prstGeom>
          <a:solidFill>
            <a:srgbClr val="BB51DC"/>
          </a:solidFill>
          <a:ln w="6350">
            <a:solidFill>
              <a:srgbClr val="BB51DC"/>
            </a:solidFill>
            <a:prstDash val="solid"/>
          </a:ln>
        </p:spPr>
        <p:txBody>
          <a:bodyPr/>
          <a:lstStyle/>
          <a:p>
            <a:endParaRPr lang="en-AE" sz="1350"/>
          </a:p>
        </p:txBody>
      </p:sp>
      <p:sp>
        <p:nvSpPr>
          <p:cNvPr id="18" name="Text 16"/>
          <p:cNvSpPr txBox="1"/>
          <p:nvPr/>
        </p:nvSpPr>
        <p:spPr>
          <a:xfrm>
            <a:off x="641325" y="2977203"/>
            <a:ext cx="1110996" cy="150876"/>
          </a:xfrm>
          <a:prstGeom prst="rect">
            <a:avLst/>
          </a:prstGeom>
          <a:noFill/>
          <a:ln/>
        </p:spPr>
        <p:txBody>
          <a:bodyPr wrap="square" lIns="0" tIns="0" rIns="0" bIns="0" rtlCol="0" anchor="ctr"/>
          <a:lstStyle/>
          <a:p>
            <a:r>
              <a:rPr lang="en-US" sz="638" dirty="0">
                <a:solidFill>
                  <a:schemeClr val="tx1">
                    <a:lumMod val="50000"/>
                    <a:lumOff val="50000"/>
                  </a:schemeClr>
                </a:solidFill>
                <a:latin typeface="Plus Jakarta Sans ExtraLight" pitchFamily="34" charset="0"/>
                <a:ea typeface="Plus Jakarta Sans ExtraLight" pitchFamily="34" charset="-122"/>
                <a:cs typeface="Plus Jakarta Sans ExtraLight" pitchFamily="34" charset="-120"/>
              </a:rPr>
              <a:t>scores the churn risk</a:t>
            </a:r>
            <a:endParaRPr lang="en-US" sz="638" dirty="0">
              <a:solidFill>
                <a:schemeClr val="tx1">
                  <a:lumMod val="50000"/>
                  <a:lumOff val="50000"/>
                </a:schemeClr>
              </a:solidFill>
            </a:endParaRPr>
          </a:p>
        </p:txBody>
      </p:sp>
      <p:sp>
        <p:nvSpPr>
          <p:cNvPr id="19" name="Text 17"/>
          <p:cNvSpPr txBox="1"/>
          <p:nvPr/>
        </p:nvSpPr>
        <p:spPr>
          <a:xfrm>
            <a:off x="1724889" y="2977203"/>
            <a:ext cx="589788" cy="150876"/>
          </a:xfrm>
          <a:prstGeom prst="rect">
            <a:avLst/>
          </a:prstGeom>
          <a:noFill/>
          <a:ln/>
        </p:spPr>
        <p:txBody>
          <a:bodyPr wrap="square" lIns="0" tIns="0" rIns="0" bIns="0" rtlCol="0" anchor="ctr"/>
          <a:lstStyle/>
          <a:p>
            <a:pPr algn="r"/>
            <a:r>
              <a:rPr lang="en-US" sz="638" dirty="0">
                <a:solidFill>
                  <a:srgbClr val="BB51DC"/>
                </a:solidFill>
                <a:latin typeface="Plus Jakarta Sans Medium" pitchFamily="34" charset="0"/>
                <a:ea typeface="Plus Jakarta Sans Medium" pitchFamily="34" charset="-122"/>
                <a:cs typeface="Plus Jakarta Sans Medium" pitchFamily="34" charset="-120"/>
              </a:rPr>
              <a:t>Decision</a:t>
            </a:r>
            <a:endParaRPr lang="en-US" sz="638" dirty="0"/>
          </a:p>
        </p:txBody>
      </p:sp>
      <p:sp>
        <p:nvSpPr>
          <p:cNvPr id="20" name="Shape 18"/>
          <p:cNvSpPr/>
          <p:nvPr/>
        </p:nvSpPr>
        <p:spPr>
          <a:xfrm>
            <a:off x="517881" y="3181590"/>
            <a:ext cx="68580" cy="68580"/>
          </a:xfrm>
          <a:prstGeom prst="ellipse">
            <a:avLst/>
          </a:prstGeom>
          <a:solidFill>
            <a:srgbClr val="FC795F"/>
          </a:solidFill>
          <a:ln w="6350">
            <a:solidFill>
              <a:srgbClr val="FC795F"/>
            </a:solidFill>
            <a:prstDash val="solid"/>
          </a:ln>
        </p:spPr>
        <p:txBody>
          <a:bodyPr/>
          <a:lstStyle/>
          <a:p>
            <a:endParaRPr lang="en-AE" sz="1350"/>
          </a:p>
        </p:txBody>
      </p:sp>
      <p:sp>
        <p:nvSpPr>
          <p:cNvPr id="21" name="Text 19"/>
          <p:cNvSpPr txBox="1"/>
          <p:nvPr/>
        </p:nvSpPr>
        <p:spPr>
          <a:xfrm>
            <a:off x="641325" y="3143871"/>
            <a:ext cx="1110996" cy="150876"/>
          </a:xfrm>
          <a:prstGeom prst="rect">
            <a:avLst/>
          </a:prstGeom>
          <a:noFill/>
          <a:ln/>
        </p:spPr>
        <p:txBody>
          <a:bodyPr wrap="square" lIns="0" tIns="0" rIns="0" bIns="0" rtlCol="0" anchor="ctr"/>
          <a:lstStyle/>
          <a:p>
            <a:r>
              <a:rPr lang="en-US" sz="638" dirty="0">
                <a:solidFill>
                  <a:schemeClr val="tx1">
                    <a:lumMod val="50000"/>
                    <a:lumOff val="50000"/>
                  </a:schemeClr>
                </a:solidFill>
                <a:latin typeface="Plus Jakarta Sans ExtraLight" pitchFamily="34" charset="0"/>
                <a:ea typeface="Plus Jakarta Sans ExtraLight" pitchFamily="34" charset="-122"/>
                <a:cs typeface="Plus Jakarta Sans ExtraLight" pitchFamily="34" charset="-120"/>
              </a:rPr>
              <a:t>applies a retention credit</a:t>
            </a:r>
            <a:endParaRPr lang="en-US" sz="638" dirty="0">
              <a:solidFill>
                <a:schemeClr val="tx1">
                  <a:lumMod val="50000"/>
                  <a:lumOff val="50000"/>
                </a:schemeClr>
              </a:solidFill>
            </a:endParaRPr>
          </a:p>
        </p:txBody>
      </p:sp>
      <p:sp>
        <p:nvSpPr>
          <p:cNvPr id="22" name="Text 20"/>
          <p:cNvSpPr txBox="1"/>
          <p:nvPr/>
        </p:nvSpPr>
        <p:spPr>
          <a:xfrm>
            <a:off x="1724889" y="3143871"/>
            <a:ext cx="589788" cy="150876"/>
          </a:xfrm>
          <a:prstGeom prst="rect">
            <a:avLst/>
          </a:prstGeom>
          <a:noFill/>
          <a:ln/>
        </p:spPr>
        <p:txBody>
          <a:bodyPr wrap="square" lIns="0" tIns="0" rIns="0" bIns="0" rtlCol="0" anchor="ctr"/>
          <a:lstStyle/>
          <a:p>
            <a:pPr algn="r"/>
            <a:r>
              <a:rPr lang="en-US" sz="638" dirty="0">
                <a:solidFill>
                  <a:srgbClr val="FC795F"/>
                </a:solidFill>
                <a:latin typeface="Plus Jakarta Sans Medium" pitchFamily="34" charset="0"/>
                <a:ea typeface="Plus Jakarta Sans Medium" pitchFamily="34" charset="-122"/>
                <a:cs typeface="Plus Jakarta Sans Medium" pitchFamily="34" charset="-120"/>
              </a:rPr>
              <a:t>Action</a:t>
            </a:r>
            <a:endParaRPr lang="en-US" sz="638" dirty="0"/>
          </a:p>
        </p:txBody>
      </p:sp>
      <p:sp>
        <p:nvSpPr>
          <p:cNvPr id="23" name="Text 21"/>
          <p:cNvSpPr txBox="1"/>
          <p:nvPr/>
        </p:nvSpPr>
        <p:spPr>
          <a:xfrm>
            <a:off x="504165" y="3470979"/>
            <a:ext cx="1728216" cy="150876"/>
          </a:xfrm>
          <a:prstGeom prst="rect">
            <a:avLst/>
          </a:prstGeom>
          <a:noFill/>
          <a:ln/>
        </p:spPr>
        <p:txBody>
          <a:bodyPr wrap="square" lIns="0" tIns="0" rIns="0" bIns="0" rtlCol="0" anchor="ctr"/>
          <a:lstStyle/>
          <a:p>
            <a:r>
              <a:rPr lang="en-US" sz="638" dirty="0">
                <a:latin typeface="Plus Jakarta Sans Medium" pitchFamily="34" charset="0"/>
                <a:ea typeface="Plus Jakarta Sans Medium" pitchFamily="34" charset="-122"/>
                <a:cs typeface="Plus Jakarta Sans Medium" pitchFamily="34" charset="-120"/>
              </a:rPr>
              <a:t>Three handovers. Three authorities.</a:t>
            </a:r>
            <a:endParaRPr lang="en-US" sz="638" dirty="0"/>
          </a:p>
        </p:txBody>
      </p:sp>
      <p:sp>
        <p:nvSpPr>
          <p:cNvPr id="24" name="Text 22"/>
          <p:cNvSpPr txBox="1"/>
          <p:nvPr/>
        </p:nvSpPr>
        <p:spPr>
          <a:xfrm>
            <a:off x="2112264" y="1276419"/>
            <a:ext cx="1426464" cy="137160"/>
          </a:xfrm>
          <a:prstGeom prst="rect">
            <a:avLst/>
          </a:prstGeom>
          <a:noFill/>
          <a:ln/>
        </p:spPr>
        <p:txBody>
          <a:bodyPr wrap="square" lIns="0" tIns="0" rIns="0" bIns="0" rtlCol="0" anchor="ctr"/>
          <a:lstStyle/>
          <a:p>
            <a:pPr algn="r"/>
            <a:r>
              <a:rPr lang="en-US" sz="525" b="1" kern="0" spc="120" dirty="0">
                <a:solidFill>
                  <a:schemeClr val="accent4"/>
                </a:solidFill>
                <a:latin typeface="Plus Jakarta Sans Medium" pitchFamily="34" charset="0"/>
                <a:ea typeface="Plus Jakarta Sans Medium" pitchFamily="34" charset="-122"/>
                <a:cs typeface="Plus Jakarta Sans Medium" pitchFamily="34" charset="-120"/>
              </a:rPr>
              <a:t>HOW ALONE IT ACTS   ↑</a:t>
            </a:r>
            <a:endParaRPr lang="en-US" sz="525" dirty="0">
              <a:solidFill>
                <a:schemeClr val="accent4"/>
              </a:solidFill>
            </a:endParaRPr>
          </a:p>
        </p:txBody>
      </p:sp>
      <p:sp>
        <p:nvSpPr>
          <p:cNvPr id="25" name="Text 23"/>
          <p:cNvSpPr txBox="1"/>
          <p:nvPr/>
        </p:nvSpPr>
        <p:spPr>
          <a:xfrm>
            <a:off x="2112264" y="1564455"/>
            <a:ext cx="1426464" cy="150876"/>
          </a:xfrm>
          <a:prstGeom prst="rect">
            <a:avLst/>
          </a:prstGeom>
          <a:noFill/>
          <a:ln/>
        </p:spPr>
        <p:txBody>
          <a:bodyPr wrap="square" lIns="0" tIns="0" rIns="0" bIns="0" rtlCol="0" anchor="ctr"/>
          <a:lstStyle/>
          <a:p>
            <a:pPr algn="r"/>
            <a:r>
              <a:rPr lang="en-US" sz="638" dirty="0">
                <a:latin typeface="Plus Jakarta Sans Medium" pitchFamily="34" charset="0"/>
                <a:ea typeface="Plus Jakarta Sans Medium" pitchFamily="34" charset="-122"/>
                <a:cs typeface="Plus Jakarta Sans Medium" pitchFamily="34" charset="-120"/>
              </a:rPr>
              <a:t>Human out of the loop</a:t>
            </a:r>
            <a:endParaRPr lang="en-US" sz="638" dirty="0"/>
          </a:p>
        </p:txBody>
      </p:sp>
      <p:sp>
        <p:nvSpPr>
          <p:cNvPr id="26" name="Text 24"/>
          <p:cNvSpPr txBox="1"/>
          <p:nvPr/>
        </p:nvSpPr>
        <p:spPr>
          <a:xfrm>
            <a:off x="2112264" y="1715331"/>
            <a:ext cx="1426464" cy="137160"/>
          </a:xfrm>
          <a:prstGeom prst="rect">
            <a:avLst/>
          </a:prstGeom>
          <a:noFill/>
          <a:ln/>
        </p:spPr>
        <p:txBody>
          <a:bodyPr wrap="square" lIns="0" tIns="0" rIns="0" bIns="0" rtlCol="0" anchor="ctr"/>
          <a:lstStyle/>
          <a:p>
            <a:pPr algn="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no one present</a:t>
            </a:r>
            <a:endParaRPr lang="en-US" sz="525" dirty="0">
              <a:solidFill>
                <a:schemeClr val="tx1">
                  <a:lumMod val="65000"/>
                  <a:lumOff val="35000"/>
                </a:schemeClr>
              </a:solidFill>
            </a:endParaRPr>
          </a:p>
        </p:txBody>
      </p:sp>
      <p:sp>
        <p:nvSpPr>
          <p:cNvPr id="27" name="Text 25"/>
          <p:cNvSpPr txBox="1"/>
          <p:nvPr/>
        </p:nvSpPr>
        <p:spPr>
          <a:xfrm>
            <a:off x="2112264" y="2167959"/>
            <a:ext cx="1426464" cy="150876"/>
          </a:xfrm>
          <a:prstGeom prst="rect">
            <a:avLst/>
          </a:prstGeom>
          <a:noFill/>
          <a:ln/>
        </p:spPr>
        <p:txBody>
          <a:bodyPr wrap="square" lIns="0" tIns="0" rIns="0" bIns="0" rtlCol="0" anchor="ctr"/>
          <a:lstStyle/>
          <a:p>
            <a:pPr algn="r"/>
            <a:r>
              <a:rPr lang="en-US" sz="638" dirty="0">
                <a:latin typeface="Plus Jakarta Sans Medium" pitchFamily="34" charset="0"/>
                <a:ea typeface="Plus Jakarta Sans Medium" pitchFamily="34" charset="-122"/>
                <a:cs typeface="Plus Jakarta Sans Medium" pitchFamily="34" charset="-120"/>
              </a:rPr>
              <a:t>Human on the loop</a:t>
            </a:r>
            <a:endParaRPr lang="en-US" sz="638" dirty="0"/>
          </a:p>
        </p:txBody>
      </p:sp>
      <p:sp>
        <p:nvSpPr>
          <p:cNvPr id="28" name="Text 26"/>
          <p:cNvSpPr txBox="1"/>
          <p:nvPr/>
        </p:nvSpPr>
        <p:spPr>
          <a:xfrm>
            <a:off x="2112264" y="2318835"/>
            <a:ext cx="1426464" cy="137160"/>
          </a:xfrm>
          <a:prstGeom prst="rect">
            <a:avLst/>
          </a:prstGeom>
          <a:noFill/>
          <a:ln/>
        </p:spPr>
        <p:txBody>
          <a:bodyPr wrap="square" lIns="0" tIns="0" rIns="0" bIns="0" rtlCol="0" anchor="ctr"/>
          <a:lstStyle/>
          <a:p>
            <a:pPr algn="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monitored, can be stopped</a:t>
            </a:r>
            <a:endParaRPr lang="en-US" sz="525" dirty="0">
              <a:solidFill>
                <a:schemeClr val="tx1">
                  <a:lumMod val="65000"/>
                  <a:lumOff val="35000"/>
                </a:schemeClr>
              </a:solidFill>
            </a:endParaRPr>
          </a:p>
        </p:txBody>
      </p:sp>
      <p:sp>
        <p:nvSpPr>
          <p:cNvPr id="29" name="Text 27"/>
          <p:cNvSpPr txBox="1"/>
          <p:nvPr/>
        </p:nvSpPr>
        <p:spPr>
          <a:xfrm>
            <a:off x="2112264" y="2771463"/>
            <a:ext cx="1426464" cy="150876"/>
          </a:xfrm>
          <a:prstGeom prst="rect">
            <a:avLst/>
          </a:prstGeom>
          <a:noFill/>
          <a:ln/>
        </p:spPr>
        <p:txBody>
          <a:bodyPr wrap="square" lIns="0" tIns="0" rIns="0" bIns="0" rtlCol="0" anchor="ctr"/>
          <a:lstStyle/>
          <a:p>
            <a:pPr algn="r"/>
            <a:r>
              <a:rPr lang="en-US" sz="638" dirty="0">
                <a:latin typeface="Plus Jakarta Sans Medium" pitchFamily="34" charset="0"/>
                <a:ea typeface="Plus Jakarta Sans Medium" pitchFamily="34" charset="-122"/>
                <a:cs typeface="Plus Jakarta Sans Medium" pitchFamily="34" charset="-120"/>
              </a:rPr>
              <a:t>Human in the loop</a:t>
            </a:r>
            <a:endParaRPr lang="en-US" sz="638" dirty="0"/>
          </a:p>
        </p:txBody>
      </p:sp>
      <p:sp>
        <p:nvSpPr>
          <p:cNvPr id="30" name="Text 28"/>
          <p:cNvSpPr txBox="1"/>
          <p:nvPr/>
        </p:nvSpPr>
        <p:spPr>
          <a:xfrm>
            <a:off x="2112264" y="2922339"/>
            <a:ext cx="1426464" cy="137160"/>
          </a:xfrm>
          <a:prstGeom prst="rect">
            <a:avLst/>
          </a:prstGeom>
          <a:noFill/>
          <a:ln/>
        </p:spPr>
        <p:txBody>
          <a:bodyPr wrap="square" lIns="0" tIns="0" rIns="0" bIns="0" rtlCol="0" anchor="ctr"/>
          <a:lstStyle/>
          <a:p>
            <a:pPr algn="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approved before it acts</a:t>
            </a:r>
            <a:endParaRPr lang="en-US" sz="525" dirty="0">
              <a:solidFill>
                <a:schemeClr val="tx1">
                  <a:lumMod val="65000"/>
                  <a:lumOff val="35000"/>
                </a:schemeClr>
              </a:solidFill>
            </a:endParaRPr>
          </a:p>
        </p:txBody>
      </p:sp>
      <p:sp>
        <p:nvSpPr>
          <p:cNvPr id="31" name="Shape 29"/>
          <p:cNvSpPr/>
          <p:nvPr/>
        </p:nvSpPr>
        <p:spPr>
          <a:xfrm>
            <a:off x="3634740" y="1454727"/>
            <a:ext cx="1017728" cy="1810512"/>
          </a:xfrm>
          <a:prstGeom prst="rect">
            <a:avLst/>
          </a:prstGeom>
          <a:solidFill>
            <a:schemeClr val="bg2">
              <a:lumMod val="90000"/>
            </a:schemeClr>
          </a:solidFill>
          <a:ln w="3175">
            <a:solidFill>
              <a:srgbClr val="16264F"/>
            </a:solidFill>
            <a:prstDash val="solid"/>
          </a:ln>
        </p:spPr>
        <p:txBody>
          <a:bodyPr/>
          <a:lstStyle/>
          <a:p>
            <a:endParaRPr lang="en-AE" sz="1350"/>
          </a:p>
        </p:txBody>
      </p:sp>
      <p:sp>
        <p:nvSpPr>
          <p:cNvPr id="32" name="Shape 30"/>
          <p:cNvSpPr/>
          <p:nvPr/>
        </p:nvSpPr>
        <p:spPr>
          <a:xfrm>
            <a:off x="4652467" y="2058231"/>
            <a:ext cx="1017728" cy="1207008"/>
          </a:xfrm>
          <a:prstGeom prst="rect">
            <a:avLst/>
          </a:prstGeom>
          <a:solidFill>
            <a:schemeClr val="bg2">
              <a:lumMod val="90000"/>
            </a:schemeClr>
          </a:solidFill>
          <a:ln w="3175">
            <a:solidFill>
              <a:srgbClr val="16264F"/>
            </a:solidFill>
            <a:prstDash val="solid"/>
          </a:ln>
        </p:spPr>
        <p:txBody>
          <a:bodyPr/>
          <a:lstStyle/>
          <a:p>
            <a:endParaRPr lang="en-AE" sz="1350"/>
          </a:p>
        </p:txBody>
      </p:sp>
      <p:sp>
        <p:nvSpPr>
          <p:cNvPr id="33" name="Shape 31"/>
          <p:cNvSpPr/>
          <p:nvPr/>
        </p:nvSpPr>
        <p:spPr>
          <a:xfrm>
            <a:off x="5670194" y="2661735"/>
            <a:ext cx="1017728" cy="603504"/>
          </a:xfrm>
          <a:prstGeom prst="rect">
            <a:avLst/>
          </a:prstGeom>
          <a:solidFill>
            <a:schemeClr val="bg2">
              <a:lumMod val="90000"/>
            </a:schemeClr>
          </a:solidFill>
          <a:ln w="3175">
            <a:solidFill>
              <a:srgbClr val="16264F"/>
            </a:solidFill>
            <a:prstDash val="solid"/>
          </a:ln>
        </p:spPr>
        <p:txBody>
          <a:bodyPr/>
          <a:lstStyle/>
          <a:p>
            <a:endParaRPr lang="en-AE" sz="1350"/>
          </a:p>
        </p:txBody>
      </p:sp>
      <p:sp>
        <p:nvSpPr>
          <p:cNvPr id="34" name="Shape 32"/>
          <p:cNvSpPr/>
          <p:nvPr/>
        </p:nvSpPr>
        <p:spPr>
          <a:xfrm>
            <a:off x="6687922" y="2661735"/>
            <a:ext cx="1017728" cy="603504"/>
          </a:xfrm>
          <a:prstGeom prst="rect">
            <a:avLst/>
          </a:prstGeom>
          <a:solidFill>
            <a:schemeClr val="bg2">
              <a:lumMod val="90000"/>
            </a:schemeClr>
          </a:solidFill>
          <a:ln w="3175">
            <a:solidFill>
              <a:srgbClr val="16264F"/>
            </a:solidFill>
            <a:prstDash val="solid"/>
          </a:ln>
        </p:spPr>
        <p:txBody>
          <a:bodyPr/>
          <a:lstStyle/>
          <a:p>
            <a:endParaRPr lang="en-AE" sz="1350"/>
          </a:p>
        </p:txBody>
      </p:sp>
      <p:sp>
        <p:nvSpPr>
          <p:cNvPr id="35" name="Shape 33"/>
          <p:cNvSpPr/>
          <p:nvPr/>
        </p:nvSpPr>
        <p:spPr>
          <a:xfrm>
            <a:off x="7705648" y="2661735"/>
            <a:ext cx="1017728" cy="603504"/>
          </a:xfrm>
          <a:prstGeom prst="rect">
            <a:avLst/>
          </a:prstGeom>
          <a:solidFill>
            <a:schemeClr val="bg2">
              <a:lumMod val="90000"/>
            </a:schemeClr>
          </a:solidFill>
          <a:ln w="3175">
            <a:solidFill>
              <a:srgbClr val="16264F"/>
            </a:solidFill>
            <a:prstDash val="solid"/>
          </a:ln>
        </p:spPr>
        <p:txBody>
          <a:bodyPr/>
          <a:lstStyle/>
          <a:p>
            <a:endParaRPr lang="en-AE" sz="1350"/>
          </a:p>
        </p:txBody>
      </p:sp>
      <p:sp>
        <p:nvSpPr>
          <p:cNvPr id="36" name="Shape 34"/>
          <p:cNvSpPr/>
          <p:nvPr/>
        </p:nvSpPr>
        <p:spPr>
          <a:xfrm>
            <a:off x="3634740" y="1454727"/>
            <a:ext cx="5088636" cy="0"/>
          </a:xfrm>
          <a:prstGeom prst="line">
            <a:avLst/>
          </a:prstGeom>
          <a:noFill/>
          <a:ln w="9525">
            <a:solidFill>
              <a:srgbClr val="3A4270"/>
            </a:solidFill>
            <a:prstDash val="solid"/>
          </a:ln>
        </p:spPr>
        <p:txBody>
          <a:bodyPr/>
          <a:lstStyle/>
          <a:p>
            <a:endParaRPr lang="en-AE" sz="1350"/>
          </a:p>
        </p:txBody>
      </p:sp>
      <p:sp>
        <p:nvSpPr>
          <p:cNvPr id="37" name="Shape 35"/>
          <p:cNvSpPr/>
          <p:nvPr/>
        </p:nvSpPr>
        <p:spPr>
          <a:xfrm>
            <a:off x="3634740" y="2058231"/>
            <a:ext cx="5088636" cy="0"/>
          </a:xfrm>
          <a:prstGeom prst="line">
            <a:avLst/>
          </a:prstGeom>
          <a:noFill/>
          <a:ln w="9525">
            <a:solidFill>
              <a:srgbClr val="3A4270"/>
            </a:solidFill>
            <a:prstDash val="solid"/>
          </a:ln>
        </p:spPr>
        <p:txBody>
          <a:bodyPr/>
          <a:lstStyle/>
          <a:p>
            <a:endParaRPr lang="en-AE" sz="1350"/>
          </a:p>
        </p:txBody>
      </p:sp>
      <p:sp>
        <p:nvSpPr>
          <p:cNvPr id="38" name="Shape 36"/>
          <p:cNvSpPr/>
          <p:nvPr/>
        </p:nvSpPr>
        <p:spPr>
          <a:xfrm>
            <a:off x="3634740" y="2661735"/>
            <a:ext cx="5088636" cy="0"/>
          </a:xfrm>
          <a:prstGeom prst="line">
            <a:avLst/>
          </a:prstGeom>
          <a:noFill/>
          <a:ln w="9525">
            <a:solidFill>
              <a:srgbClr val="3A4270"/>
            </a:solidFill>
            <a:prstDash val="solid"/>
          </a:ln>
        </p:spPr>
        <p:txBody>
          <a:bodyPr/>
          <a:lstStyle/>
          <a:p>
            <a:endParaRPr lang="en-AE" sz="1350"/>
          </a:p>
        </p:txBody>
      </p:sp>
      <p:sp>
        <p:nvSpPr>
          <p:cNvPr id="39" name="Shape 37"/>
          <p:cNvSpPr/>
          <p:nvPr/>
        </p:nvSpPr>
        <p:spPr>
          <a:xfrm>
            <a:off x="3634740" y="3265239"/>
            <a:ext cx="5088636" cy="0"/>
          </a:xfrm>
          <a:prstGeom prst="line">
            <a:avLst/>
          </a:prstGeom>
          <a:noFill/>
          <a:ln w="9525">
            <a:solidFill>
              <a:srgbClr val="3A4270"/>
            </a:solidFill>
            <a:prstDash val="solid"/>
          </a:ln>
        </p:spPr>
        <p:txBody>
          <a:bodyPr/>
          <a:lstStyle/>
          <a:p>
            <a:endParaRPr lang="en-AE" sz="1350"/>
          </a:p>
        </p:txBody>
      </p:sp>
      <p:sp>
        <p:nvSpPr>
          <p:cNvPr id="40" name="Shape 38"/>
          <p:cNvSpPr/>
          <p:nvPr/>
        </p:nvSpPr>
        <p:spPr>
          <a:xfrm>
            <a:off x="3634740" y="1454727"/>
            <a:ext cx="0" cy="1810512"/>
          </a:xfrm>
          <a:prstGeom prst="line">
            <a:avLst/>
          </a:prstGeom>
          <a:noFill/>
          <a:ln w="9525">
            <a:solidFill>
              <a:srgbClr val="3A4270"/>
            </a:solidFill>
            <a:prstDash val="solid"/>
          </a:ln>
        </p:spPr>
        <p:txBody>
          <a:bodyPr/>
          <a:lstStyle/>
          <a:p>
            <a:endParaRPr lang="en-AE" sz="1350"/>
          </a:p>
        </p:txBody>
      </p:sp>
      <p:sp>
        <p:nvSpPr>
          <p:cNvPr id="41" name="Shape 39"/>
          <p:cNvSpPr/>
          <p:nvPr/>
        </p:nvSpPr>
        <p:spPr>
          <a:xfrm>
            <a:off x="4652468" y="1454727"/>
            <a:ext cx="0" cy="1810512"/>
          </a:xfrm>
          <a:prstGeom prst="line">
            <a:avLst/>
          </a:prstGeom>
          <a:noFill/>
          <a:ln w="9525">
            <a:solidFill>
              <a:srgbClr val="3A4270"/>
            </a:solidFill>
            <a:prstDash val="solid"/>
          </a:ln>
        </p:spPr>
        <p:txBody>
          <a:bodyPr/>
          <a:lstStyle/>
          <a:p>
            <a:endParaRPr lang="en-AE" sz="1350"/>
          </a:p>
        </p:txBody>
      </p:sp>
      <p:sp>
        <p:nvSpPr>
          <p:cNvPr id="42" name="Shape 40"/>
          <p:cNvSpPr/>
          <p:nvPr/>
        </p:nvSpPr>
        <p:spPr>
          <a:xfrm>
            <a:off x="5670194" y="1454727"/>
            <a:ext cx="0" cy="1810512"/>
          </a:xfrm>
          <a:prstGeom prst="line">
            <a:avLst/>
          </a:prstGeom>
          <a:noFill/>
          <a:ln w="9525">
            <a:solidFill>
              <a:srgbClr val="3A4270"/>
            </a:solidFill>
            <a:prstDash val="solid"/>
          </a:ln>
        </p:spPr>
        <p:txBody>
          <a:bodyPr/>
          <a:lstStyle/>
          <a:p>
            <a:endParaRPr lang="en-AE" sz="1350"/>
          </a:p>
        </p:txBody>
      </p:sp>
      <p:sp>
        <p:nvSpPr>
          <p:cNvPr id="43" name="Shape 41"/>
          <p:cNvSpPr/>
          <p:nvPr/>
        </p:nvSpPr>
        <p:spPr>
          <a:xfrm>
            <a:off x="6687922" y="1454727"/>
            <a:ext cx="0" cy="1810512"/>
          </a:xfrm>
          <a:prstGeom prst="line">
            <a:avLst/>
          </a:prstGeom>
          <a:noFill/>
          <a:ln w="9525">
            <a:solidFill>
              <a:srgbClr val="3A4270"/>
            </a:solidFill>
            <a:prstDash val="solid"/>
          </a:ln>
        </p:spPr>
        <p:txBody>
          <a:bodyPr/>
          <a:lstStyle/>
          <a:p>
            <a:endParaRPr lang="en-AE" sz="1350"/>
          </a:p>
        </p:txBody>
      </p:sp>
      <p:sp>
        <p:nvSpPr>
          <p:cNvPr id="44" name="Shape 42"/>
          <p:cNvSpPr/>
          <p:nvPr/>
        </p:nvSpPr>
        <p:spPr>
          <a:xfrm>
            <a:off x="7705649" y="1454727"/>
            <a:ext cx="0" cy="1810512"/>
          </a:xfrm>
          <a:prstGeom prst="line">
            <a:avLst/>
          </a:prstGeom>
          <a:noFill/>
          <a:ln w="9525">
            <a:solidFill>
              <a:srgbClr val="3A4270"/>
            </a:solidFill>
            <a:prstDash val="solid"/>
          </a:ln>
        </p:spPr>
        <p:txBody>
          <a:bodyPr/>
          <a:lstStyle/>
          <a:p>
            <a:endParaRPr lang="en-AE" sz="1350"/>
          </a:p>
        </p:txBody>
      </p:sp>
      <p:sp>
        <p:nvSpPr>
          <p:cNvPr id="45" name="Shape 43"/>
          <p:cNvSpPr/>
          <p:nvPr/>
        </p:nvSpPr>
        <p:spPr>
          <a:xfrm>
            <a:off x="8723376" y="1454727"/>
            <a:ext cx="0" cy="1810512"/>
          </a:xfrm>
          <a:prstGeom prst="line">
            <a:avLst/>
          </a:prstGeom>
          <a:noFill/>
          <a:ln w="9525">
            <a:solidFill>
              <a:srgbClr val="3A4270"/>
            </a:solidFill>
            <a:prstDash val="solid"/>
          </a:ln>
        </p:spPr>
        <p:txBody>
          <a:bodyPr/>
          <a:lstStyle/>
          <a:p>
            <a:endParaRPr lang="en-AE" sz="1350"/>
          </a:p>
        </p:txBody>
      </p:sp>
      <p:sp>
        <p:nvSpPr>
          <p:cNvPr id="46" name="Shape 44"/>
          <p:cNvSpPr/>
          <p:nvPr/>
        </p:nvSpPr>
        <p:spPr>
          <a:xfrm>
            <a:off x="3634740" y="1454727"/>
            <a:ext cx="1017728" cy="0"/>
          </a:xfrm>
          <a:prstGeom prst="line">
            <a:avLst/>
          </a:prstGeom>
          <a:noFill/>
          <a:ln w="31750">
            <a:solidFill>
              <a:srgbClr val="4A7DFF"/>
            </a:solidFill>
            <a:prstDash val="solid"/>
          </a:ln>
        </p:spPr>
        <p:txBody>
          <a:bodyPr/>
          <a:lstStyle/>
          <a:p>
            <a:endParaRPr lang="en-AE" sz="1350"/>
          </a:p>
        </p:txBody>
      </p:sp>
      <p:sp>
        <p:nvSpPr>
          <p:cNvPr id="47" name="Shape 45"/>
          <p:cNvSpPr/>
          <p:nvPr/>
        </p:nvSpPr>
        <p:spPr>
          <a:xfrm>
            <a:off x="4652467" y="2058231"/>
            <a:ext cx="1017728" cy="0"/>
          </a:xfrm>
          <a:prstGeom prst="line">
            <a:avLst/>
          </a:prstGeom>
          <a:noFill/>
          <a:ln w="31750">
            <a:solidFill>
              <a:srgbClr val="4A7DFF"/>
            </a:solidFill>
            <a:prstDash val="solid"/>
          </a:ln>
        </p:spPr>
        <p:txBody>
          <a:bodyPr/>
          <a:lstStyle/>
          <a:p>
            <a:endParaRPr lang="en-AE" sz="1350"/>
          </a:p>
        </p:txBody>
      </p:sp>
      <p:sp>
        <p:nvSpPr>
          <p:cNvPr id="48" name="Shape 46"/>
          <p:cNvSpPr/>
          <p:nvPr/>
        </p:nvSpPr>
        <p:spPr>
          <a:xfrm>
            <a:off x="4652468" y="1454727"/>
            <a:ext cx="0" cy="603504"/>
          </a:xfrm>
          <a:prstGeom prst="line">
            <a:avLst/>
          </a:prstGeom>
          <a:noFill/>
          <a:ln w="31750">
            <a:solidFill>
              <a:srgbClr val="4A7DFF"/>
            </a:solidFill>
            <a:prstDash val="solid"/>
          </a:ln>
        </p:spPr>
        <p:txBody>
          <a:bodyPr/>
          <a:lstStyle/>
          <a:p>
            <a:endParaRPr lang="en-AE" sz="1350"/>
          </a:p>
        </p:txBody>
      </p:sp>
      <p:sp>
        <p:nvSpPr>
          <p:cNvPr id="49" name="Shape 47"/>
          <p:cNvSpPr/>
          <p:nvPr/>
        </p:nvSpPr>
        <p:spPr>
          <a:xfrm>
            <a:off x="5670194" y="2661735"/>
            <a:ext cx="1017728" cy="0"/>
          </a:xfrm>
          <a:prstGeom prst="line">
            <a:avLst/>
          </a:prstGeom>
          <a:noFill/>
          <a:ln w="31750">
            <a:solidFill>
              <a:srgbClr val="4A7DFF"/>
            </a:solidFill>
            <a:prstDash val="solid"/>
          </a:ln>
        </p:spPr>
        <p:txBody>
          <a:bodyPr/>
          <a:lstStyle/>
          <a:p>
            <a:endParaRPr lang="en-AE" sz="1350"/>
          </a:p>
        </p:txBody>
      </p:sp>
      <p:sp>
        <p:nvSpPr>
          <p:cNvPr id="50" name="Shape 48"/>
          <p:cNvSpPr/>
          <p:nvPr/>
        </p:nvSpPr>
        <p:spPr>
          <a:xfrm>
            <a:off x="5670194" y="2058231"/>
            <a:ext cx="0" cy="603504"/>
          </a:xfrm>
          <a:prstGeom prst="line">
            <a:avLst/>
          </a:prstGeom>
          <a:noFill/>
          <a:ln w="31750">
            <a:solidFill>
              <a:srgbClr val="4A7DFF"/>
            </a:solidFill>
            <a:prstDash val="solid"/>
          </a:ln>
        </p:spPr>
        <p:txBody>
          <a:bodyPr/>
          <a:lstStyle/>
          <a:p>
            <a:endParaRPr lang="en-AE" sz="1350"/>
          </a:p>
        </p:txBody>
      </p:sp>
      <p:sp>
        <p:nvSpPr>
          <p:cNvPr id="51" name="Shape 49"/>
          <p:cNvSpPr/>
          <p:nvPr/>
        </p:nvSpPr>
        <p:spPr>
          <a:xfrm>
            <a:off x="6687922" y="2661735"/>
            <a:ext cx="1017728" cy="0"/>
          </a:xfrm>
          <a:prstGeom prst="line">
            <a:avLst/>
          </a:prstGeom>
          <a:noFill/>
          <a:ln w="31750">
            <a:solidFill>
              <a:srgbClr val="4A7DFF"/>
            </a:solidFill>
            <a:prstDash val="solid"/>
          </a:ln>
        </p:spPr>
        <p:txBody>
          <a:bodyPr/>
          <a:lstStyle/>
          <a:p>
            <a:endParaRPr lang="en-AE" sz="1350"/>
          </a:p>
        </p:txBody>
      </p:sp>
      <p:sp>
        <p:nvSpPr>
          <p:cNvPr id="52" name="Shape 50"/>
          <p:cNvSpPr/>
          <p:nvPr/>
        </p:nvSpPr>
        <p:spPr>
          <a:xfrm>
            <a:off x="7705648" y="2661735"/>
            <a:ext cx="1017728" cy="0"/>
          </a:xfrm>
          <a:prstGeom prst="line">
            <a:avLst/>
          </a:prstGeom>
          <a:noFill/>
          <a:ln w="31750">
            <a:solidFill>
              <a:srgbClr val="4A7DFF"/>
            </a:solidFill>
            <a:prstDash val="solid"/>
          </a:ln>
        </p:spPr>
        <p:txBody>
          <a:bodyPr/>
          <a:lstStyle/>
          <a:p>
            <a:endParaRPr lang="en-AE" sz="1350"/>
          </a:p>
        </p:txBody>
      </p:sp>
      <p:sp>
        <p:nvSpPr>
          <p:cNvPr id="53" name="Text 51"/>
          <p:cNvSpPr txBox="1"/>
          <p:nvPr/>
        </p:nvSpPr>
        <p:spPr>
          <a:xfrm>
            <a:off x="5731258" y="2490285"/>
            <a:ext cx="1303020" cy="137160"/>
          </a:xfrm>
          <a:prstGeom prst="rect">
            <a:avLst/>
          </a:prstGeom>
          <a:noFill/>
          <a:ln/>
        </p:spPr>
        <p:txBody>
          <a:bodyPr wrap="square" lIns="0" tIns="0" rIns="0" bIns="0" rtlCol="0" anchor="ctr"/>
          <a:lstStyle/>
          <a:p>
            <a:r>
              <a:rPr lang="en-US" sz="525" b="1" kern="0" spc="120" dirty="0">
                <a:solidFill>
                  <a:srgbClr val="4A7DFF"/>
                </a:solidFill>
                <a:latin typeface="Plus Jakarta Sans Medium" pitchFamily="34" charset="0"/>
                <a:ea typeface="Plus Jakarta Sans Medium" pitchFamily="34" charset="-122"/>
                <a:cs typeface="Plus Jakarta Sans Medium" pitchFamily="34" charset="-120"/>
              </a:rPr>
              <a:t>THE CEILING</a:t>
            </a:r>
            <a:endParaRPr lang="en-US" sz="525" dirty="0"/>
          </a:p>
        </p:txBody>
      </p:sp>
      <p:sp>
        <p:nvSpPr>
          <p:cNvPr id="54" name="Text 52"/>
          <p:cNvSpPr txBox="1"/>
          <p:nvPr/>
        </p:nvSpPr>
        <p:spPr>
          <a:xfrm>
            <a:off x="3689604" y="2867474"/>
            <a:ext cx="882396" cy="192021"/>
          </a:xfrm>
          <a:prstGeom prst="rect">
            <a:avLst/>
          </a:prstGeom>
          <a:noFill/>
          <a:ln/>
        </p:spPr>
        <p:txBody>
          <a:bodyPr wrap="square" lIns="0" tIns="0" rIns="0" bIns="0" rtlCol="0" anchor="ctr"/>
          <a:lstStyle/>
          <a:p>
            <a:r>
              <a:rPr lang="en-US" sz="525" b="1" kern="0" spc="120" dirty="0">
                <a:solidFill>
                  <a:srgbClr val="7C9BE0"/>
                </a:solidFill>
                <a:latin typeface="Plus Jakarta Sans Medium" pitchFamily="34" charset="0"/>
                <a:ea typeface="Plus Jakarta Sans Medium" pitchFamily="34" charset="-122"/>
                <a:cs typeface="Plus Jakarta Sans Medium" pitchFamily="34" charset="-120"/>
              </a:rPr>
              <a:t>AUTHORITY PERMITTED</a:t>
            </a:r>
            <a:endParaRPr lang="en-US" sz="525" dirty="0"/>
          </a:p>
        </p:txBody>
      </p:sp>
      <p:sp>
        <p:nvSpPr>
          <p:cNvPr id="55" name="Text 53"/>
          <p:cNvSpPr txBox="1"/>
          <p:nvPr/>
        </p:nvSpPr>
        <p:spPr>
          <a:xfrm>
            <a:off x="3634740" y="3306387"/>
            <a:ext cx="1017728" cy="260604"/>
          </a:xfrm>
          <a:prstGeom prst="rect">
            <a:avLst/>
          </a:prstGeom>
          <a:noFill/>
          <a:ln/>
        </p:spPr>
        <p:txBody>
          <a:bodyPr wrap="square" lIns="0" tIns="0" rIns="0" bIns="0" rtlCol="0" anchor="ctr"/>
          <a:lstStyle/>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Internal,</a:t>
            </a:r>
            <a:endParaRPr lang="en-US" sz="525" dirty="0">
              <a:solidFill>
                <a:schemeClr val="tx1">
                  <a:lumMod val="65000"/>
                  <a:lumOff val="35000"/>
                </a:schemeClr>
              </a:solidFill>
            </a:endParaRPr>
          </a:p>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reversible</a:t>
            </a:r>
            <a:endParaRPr lang="en-US" sz="525" dirty="0">
              <a:solidFill>
                <a:schemeClr val="tx1">
                  <a:lumMod val="65000"/>
                  <a:lumOff val="35000"/>
                </a:schemeClr>
              </a:solidFill>
            </a:endParaRPr>
          </a:p>
        </p:txBody>
      </p:sp>
      <p:sp>
        <p:nvSpPr>
          <p:cNvPr id="56" name="Text 54"/>
          <p:cNvSpPr txBox="1"/>
          <p:nvPr/>
        </p:nvSpPr>
        <p:spPr>
          <a:xfrm>
            <a:off x="4652467" y="3306387"/>
            <a:ext cx="1017728" cy="260604"/>
          </a:xfrm>
          <a:prstGeom prst="rect">
            <a:avLst/>
          </a:prstGeom>
          <a:noFill/>
          <a:ln/>
        </p:spPr>
        <p:txBody>
          <a:bodyPr wrap="square" lIns="0" tIns="0" rIns="0" bIns="0" rtlCol="0" anchor="ctr"/>
          <a:lstStyle/>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 customer</a:t>
            </a:r>
            <a:endParaRPr lang="en-US" sz="525" dirty="0">
              <a:solidFill>
                <a:schemeClr val="tx1">
                  <a:lumMod val="65000"/>
                  <a:lumOff val="35000"/>
                </a:schemeClr>
              </a:solidFill>
            </a:endParaRPr>
          </a:p>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is affected</a:t>
            </a:r>
            <a:endParaRPr lang="en-US" sz="525" dirty="0">
              <a:solidFill>
                <a:schemeClr val="tx1">
                  <a:lumMod val="65000"/>
                  <a:lumOff val="35000"/>
                </a:schemeClr>
              </a:solidFill>
            </a:endParaRPr>
          </a:p>
        </p:txBody>
      </p:sp>
      <p:sp>
        <p:nvSpPr>
          <p:cNvPr id="57" name="Text 55"/>
          <p:cNvSpPr txBox="1"/>
          <p:nvPr/>
        </p:nvSpPr>
        <p:spPr>
          <a:xfrm>
            <a:off x="5670194" y="3306387"/>
            <a:ext cx="1017728" cy="260604"/>
          </a:xfrm>
          <a:prstGeom prst="rect">
            <a:avLst/>
          </a:prstGeom>
          <a:noFill/>
          <a:ln/>
        </p:spPr>
        <p:txBody>
          <a:bodyPr wrap="square" lIns="0" tIns="0" rIns="0" bIns="0" rtlCol="0" anchor="ctr"/>
          <a:lstStyle/>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 regulator</a:t>
            </a:r>
            <a:endParaRPr lang="en-US" sz="525" dirty="0">
              <a:solidFill>
                <a:schemeClr val="tx1">
                  <a:lumMod val="65000"/>
                  <a:lumOff val="35000"/>
                </a:schemeClr>
              </a:solidFill>
            </a:endParaRPr>
          </a:p>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can see it</a:t>
            </a:r>
            <a:endParaRPr lang="en-US" sz="525" dirty="0">
              <a:solidFill>
                <a:schemeClr val="tx1">
                  <a:lumMod val="65000"/>
                  <a:lumOff val="35000"/>
                </a:schemeClr>
              </a:solidFill>
            </a:endParaRPr>
          </a:p>
        </p:txBody>
      </p:sp>
      <p:sp>
        <p:nvSpPr>
          <p:cNvPr id="58" name="Text 56"/>
          <p:cNvSpPr txBox="1"/>
          <p:nvPr/>
        </p:nvSpPr>
        <p:spPr>
          <a:xfrm>
            <a:off x="6687922" y="3306387"/>
            <a:ext cx="1017728" cy="260604"/>
          </a:xfrm>
          <a:prstGeom prst="rect">
            <a:avLst/>
          </a:prstGeom>
          <a:noFill/>
          <a:ln/>
        </p:spPr>
        <p:txBody>
          <a:bodyPr wrap="square" lIns="0" tIns="0" rIns="0" bIns="0" rtlCol="0" anchor="ctr"/>
          <a:lstStyle/>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Public</a:t>
            </a:r>
            <a:endParaRPr lang="en-US" sz="525" dirty="0">
              <a:solidFill>
                <a:schemeClr val="tx1">
                  <a:lumMod val="65000"/>
                  <a:lumOff val="35000"/>
                </a:schemeClr>
              </a:solidFill>
            </a:endParaRPr>
          </a:p>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reach</a:t>
            </a:r>
            <a:endParaRPr lang="en-US" sz="525" dirty="0">
              <a:solidFill>
                <a:schemeClr val="tx1">
                  <a:lumMod val="65000"/>
                  <a:lumOff val="35000"/>
                </a:schemeClr>
              </a:solidFill>
            </a:endParaRPr>
          </a:p>
        </p:txBody>
      </p:sp>
      <p:sp>
        <p:nvSpPr>
          <p:cNvPr id="59" name="Text 57"/>
          <p:cNvSpPr txBox="1"/>
          <p:nvPr/>
        </p:nvSpPr>
        <p:spPr>
          <a:xfrm>
            <a:off x="7705648" y="3306387"/>
            <a:ext cx="1017728" cy="260604"/>
          </a:xfrm>
          <a:prstGeom prst="rect">
            <a:avLst/>
          </a:prstGeom>
          <a:noFill/>
          <a:ln/>
        </p:spPr>
        <p:txBody>
          <a:bodyPr wrap="square" lIns="0" tIns="0" rIns="0" bIns="0" rtlCol="0" anchor="ctr"/>
          <a:lstStyle/>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Safety or</a:t>
            </a:r>
            <a:endParaRPr lang="en-US" sz="525" dirty="0">
              <a:solidFill>
                <a:schemeClr val="tx1">
                  <a:lumMod val="65000"/>
                  <a:lumOff val="35000"/>
                </a:schemeClr>
              </a:solidFill>
            </a:endParaRPr>
          </a:p>
          <a:p>
            <a:pPr algn="ctr"/>
            <a:r>
              <a:rPr lang="en-US" sz="525"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health</a:t>
            </a:r>
            <a:endParaRPr lang="en-US" sz="525" dirty="0">
              <a:solidFill>
                <a:schemeClr val="tx1">
                  <a:lumMod val="65000"/>
                  <a:lumOff val="35000"/>
                </a:schemeClr>
              </a:solidFill>
            </a:endParaRPr>
          </a:p>
        </p:txBody>
      </p:sp>
      <p:sp>
        <p:nvSpPr>
          <p:cNvPr id="60" name="Text 58"/>
          <p:cNvSpPr txBox="1"/>
          <p:nvPr/>
        </p:nvSpPr>
        <p:spPr>
          <a:xfrm>
            <a:off x="3634740" y="3594423"/>
            <a:ext cx="5088636" cy="137160"/>
          </a:xfrm>
          <a:prstGeom prst="rect">
            <a:avLst/>
          </a:prstGeom>
          <a:noFill/>
          <a:ln/>
        </p:spPr>
        <p:txBody>
          <a:bodyPr wrap="square" lIns="0" tIns="0" rIns="0" bIns="0" rtlCol="0" anchor="ctr"/>
          <a:lstStyle/>
          <a:p>
            <a:pPr algn="ctr"/>
            <a:r>
              <a:rPr lang="en-US" sz="525" b="1" kern="0" spc="120" dirty="0">
                <a:solidFill>
                  <a:schemeClr val="accent4"/>
                </a:solidFill>
                <a:latin typeface="Plus Jakarta Sans Medium" pitchFamily="34" charset="0"/>
                <a:ea typeface="Plus Jakarta Sans Medium" pitchFamily="34" charset="-122"/>
                <a:cs typeface="Plus Jakarta Sans Medium" pitchFamily="34" charset="-120"/>
              </a:rPr>
              <a:t>WHAT IT COSTS TO BE WRONG   →</a:t>
            </a:r>
            <a:endParaRPr lang="en-US" sz="525" dirty="0">
              <a:solidFill>
                <a:schemeClr val="accent4"/>
              </a:solidFill>
            </a:endParaRPr>
          </a:p>
        </p:txBody>
      </p:sp>
      <p:sp>
        <p:nvSpPr>
          <p:cNvPr id="61" name="Shape 59"/>
          <p:cNvSpPr/>
          <p:nvPr/>
        </p:nvSpPr>
        <p:spPr>
          <a:xfrm>
            <a:off x="4095598" y="1523307"/>
            <a:ext cx="96012" cy="96012"/>
          </a:xfrm>
          <a:prstGeom prst="ellipse">
            <a:avLst/>
          </a:prstGeom>
          <a:solidFill>
            <a:srgbClr val="4A7DFF"/>
          </a:solidFill>
          <a:ln w="6350">
            <a:solidFill>
              <a:srgbClr val="4A7DFF"/>
            </a:solidFill>
            <a:prstDash val="solid"/>
          </a:ln>
        </p:spPr>
        <p:txBody>
          <a:bodyPr/>
          <a:lstStyle/>
          <a:p>
            <a:endParaRPr lang="en-AE" sz="1350"/>
          </a:p>
        </p:txBody>
      </p:sp>
      <p:sp>
        <p:nvSpPr>
          <p:cNvPr id="62" name="Text 60"/>
          <p:cNvSpPr txBox="1"/>
          <p:nvPr/>
        </p:nvSpPr>
        <p:spPr>
          <a:xfrm>
            <a:off x="3655314" y="1633035"/>
            <a:ext cx="976580" cy="205740"/>
          </a:xfrm>
          <a:prstGeom prst="rect">
            <a:avLst/>
          </a:prstGeom>
          <a:noFill/>
          <a:ln/>
        </p:spPr>
        <p:txBody>
          <a:bodyPr wrap="square" lIns="0" tIns="0" rIns="0" bIns="0" rtlCol="0" anchor="ctr"/>
          <a:lstStyle/>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Seismic</a:t>
            </a:r>
            <a:endParaRPr lang="en-US" sz="488" dirty="0">
              <a:solidFill>
                <a:schemeClr val="tx1">
                  <a:lumMod val="65000"/>
                  <a:lumOff val="35000"/>
                </a:schemeClr>
              </a:solidFill>
            </a:endParaRPr>
          </a:p>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interpretation</a:t>
            </a:r>
            <a:endParaRPr lang="en-US" sz="488" dirty="0">
              <a:solidFill>
                <a:schemeClr val="tx1">
                  <a:lumMod val="65000"/>
                  <a:lumOff val="35000"/>
                </a:schemeClr>
              </a:solidFill>
            </a:endParaRPr>
          </a:p>
        </p:txBody>
      </p:sp>
      <p:sp>
        <p:nvSpPr>
          <p:cNvPr id="63" name="Text 61"/>
          <p:cNvSpPr txBox="1"/>
          <p:nvPr/>
        </p:nvSpPr>
        <p:spPr>
          <a:xfrm>
            <a:off x="3655314" y="1845633"/>
            <a:ext cx="976580" cy="123444"/>
          </a:xfrm>
          <a:prstGeom prst="rect">
            <a:avLst/>
          </a:prstGeom>
          <a:noFill/>
          <a:ln/>
        </p:spPr>
        <p:txBody>
          <a:bodyPr wrap="square" lIns="0" tIns="0" rIns="0" bIns="0" rtlCol="0" anchor="ctr"/>
          <a:lstStyle/>
          <a:p>
            <a:pPr algn="ctr"/>
            <a:r>
              <a:rPr lang="en-US" sz="413" b="1" kern="0" spc="75" dirty="0">
                <a:solidFill>
                  <a:srgbClr val="4A7DFF"/>
                </a:solidFill>
                <a:latin typeface="Plus Jakarta Sans Medium" pitchFamily="34" charset="0"/>
                <a:ea typeface="Plus Jakarta Sans Medium" pitchFamily="34" charset="-122"/>
                <a:cs typeface="Plus Jakarta Sans Medium" pitchFamily="34" charset="-120"/>
              </a:rPr>
              <a:t>ENERGY</a:t>
            </a:r>
            <a:endParaRPr lang="en-US" sz="413" dirty="0"/>
          </a:p>
        </p:txBody>
      </p:sp>
      <p:sp>
        <p:nvSpPr>
          <p:cNvPr id="64" name="Shape 62"/>
          <p:cNvSpPr/>
          <p:nvPr/>
        </p:nvSpPr>
        <p:spPr>
          <a:xfrm>
            <a:off x="5113325" y="1523307"/>
            <a:ext cx="96012" cy="96012"/>
          </a:xfrm>
          <a:prstGeom prst="ellipse">
            <a:avLst/>
          </a:prstGeom>
          <a:solidFill>
            <a:srgbClr val="FC795F"/>
          </a:solidFill>
          <a:ln w="19050">
            <a:solidFill>
              <a:srgbClr val="F7F4EE"/>
            </a:solidFill>
            <a:prstDash val="solid"/>
          </a:ln>
        </p:spPr>
        <p:txBody>
          <a:bodyPr/>
          <a:lstStyle/>
          <a:p>
            <a:endParaRPr lang="en-AE" sz="1350"/>
          </a:p>
        </p:txBody>
      </p:sp>
      <p:sp>
        <p:nvSpPr>
          <p:cNvPr id="65" name="Text 63"/>
          <p:cNvSpPr txBox="1"/>
          <p:nvPr/>
        </p:nvSpPr>
        <p:spPr>
          <a:xfrm>
            <a:off x="4673041" y="1633035"/>
            <a:ext cx="976580" cy="205740"/>
          </a:xfrm>
          <a:prstGeom prst="rect">
            <a:avLst/>
          </a:prstGeom>
          <a:noFill/>
          <a:ln/>
        </p:spPr>
        <p:txBody>
          <a:bodyPr wrap="square" lIns="0" tIns="0" rIns="0" bIns="0" rtlCol="0" anchor="ctr"/>
          <a:lstStyle/>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Gate</a:t>
            </a:r>
            <a:endParaRPr lang="en-US" sz="488" dirty="0">
              <a:solidFill>
                <a:schemeClr val="tx1">
                  <a:lumMod val="65000"/>
                  <a:lumOff val="35000"/>
                </a:schemeClr>
              </a:solidFill>
            </a:endParaRPr>
          </a:p>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reassignment</a:t>
            </a:r>
            <a:endParaRPr lang="en-US" sz="488" dirty="0">
              <a:solidFill>
                <a:schemeClr val="tx1">
                  <a:lumMod val="65000"/>
                  <a:lumOff val="35000"/>
                </a:schemeClr>
              </a:solidFill>
            </a:endParaRPr>
          </a:p>
        </p:txBody>
      </p:sp>
      <p:sp>
        <p:nvSpPr>
          <p:cNvPr id="66" name="Text 64"/>
          <p:cNvSpPr txBox="1"/>
          <p:nvPr/>
        </p:nvSpPr>
        <p:spPr>
          <a:xfrm>
            <a:off x="4673041" y="1845633"/>
            <a:ext cx="976580" cy="123444"/>
          </a:xfrm>
          <a:prstGeom prst="rect">
            <a:avLst/>
          </a:prstGeom>
          <a:noFill/>
          <a:ln/>
        </p:spPr>
        <p:txBody>
          <a:bodyPr wrap="square" lIns="0" tIns="0" rIns="0" bIns="0" rtlCol="0" anchor="ctr"/>
          <a:lstStyle/>
          <a:p>
            <a:pPr algn="ctr"/>
            <a:r>
              <a:rPr lang="en-US" sz="413" b="1" kern="0" spc="75" dirty="0">
                <a:solidFill>
                  <a:srgbClr val="FC795F"/>
                </a:solidFill>
                <a:latin typeface="Plus Jakarta Sans Medium" pitchFamily="34" charset="0"/>
                <a:ea typeface="Plus Jakarta Sans Medium" pitchFamily="34" charset="-122"/>
                <a:cs typeface="Plus Jakarta Sans Medium" pitchFamily="34" charset="-120"/>
              </a:rPr>
              <a:t>AVIATION</a:t>
            </a:r>
            <a:endParaRPr lang="en-US" sz="413" dirty="0"/>
          </a:p>
        </p:txBody>
      </p:sp>
      <p:sp>
        <p:nvSpPr>
          <p:cNvPr id="67" name="Shape 65"/>
          <p:cNvSpPr/>
          <p:nvPr/>
        </p:nvSpPr>
        <p:spPr>
          <a:xfrm>
            <a:off x="5113325" y="2126811"/>
            <a:ext cx="96012" cy="96012"/>
          </a:xfrm>
          <a:prstGeom prst="ellipse">
            <a:avLst/>
          </a:prstGeom>
          <a:solidFill>
            <a:srgbClr val="FC795F"/>
          </a:solidFill>
          <a:ln w="6350">
            <a:solidFill>
              <a:srgbClr val="FC795F"/>
            </a:solidFill>
            <a:prstDash val="solid"/>
          </a:ln>
        </p:spPr>
        <p:txBody>
          <a:bodyPr/>
          <a:lstStyle/>
          <a:p>
            <a:endParaRPr lang="en-AE" sz="1350"/>
          </a:p>
        </p:txBody>
      </p:sp>
      <p:sp>
        <p:nvSpPr>
          <p:cNvPr id="68" name="Text 66"/>
          <p:cNvSpPr txBox="1"/>
          <p:nvPr/>
        </p:nvSpPr>
        <p:spPr>
          <a:xfrm>
            <a:off x="4673041" y="2236539"/>
            <a:ext cx="976580" cy="205740"/>
          </a:xfrm>
          <a:prstGeom prst="rect">
            <a:avLst/>
          </a:prstGeom>
          <a:noFill/>
          <a:ln/>
        </p:spPr>
        <p:txBody>
          <a:bodyPr wrap="square" lIns="0" tIns="0" rIns="0" bIns="0" rtlCol="0" anchor="ctr"/>
          <a:lstStyle/>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RAN sleep-mode</a:t>
            </a:r>
            <a:endParaRPr lang="en-US" sz="488" dirty="0">
              <a:solidFill>
                <a:schemeClr val="tx1">
                  <a:lumMod val="65000"/>
                  <a:lumOff val="35000"/>
                </a:schemeClr>
              </a:solidFill>
            </a:endParaRPr>
          </a:p>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change</a:t>
            </a:r>
            <a:endParaRPr lang="en-US" sz="488" dirty="0">
              <a:solidFill>
                <a:schemeClr val="tx1">
                  <a:lumMod val="65000"/>
                  <a:lumOff val="35000"/>
                </a:schemeClr>
              </a:solidFill>
            </a:endParaRPr>
          </a:p>
        </p:txBody>
      </p:sp>
      <p:sp>
        <p:nvSpPr>
          <p:cNvPr id="69" name="Text 67"/>
          <p:cNvSpPr txBox="1"/>
          <p:nvPr/>
        </p:nvSpPr>
        <p:spPr>
          <a:xfrm>
            <a:off x="4673041" y="2449137"/>
            <a:ext cx="976580" cy="123444"/>
          </a:xfrm>
          <a:prstGeom prst="rect">
            <a:avLst/>
          </a:prstGeom>
          <a:noFill/>
          <a:ln/>
        </p:spPr>
        <p:txBody>
          <a:bodyPr wrap="square" lIns="0" tIns="0" rIns="0" bIns="0" rtlCol="0" anchor="ctr"/>
          <a:lstStyle/>
          <a:p>
            <a:pPr algn="ctr"/>
            <a:r>
              <a:rPr lang="en-US" sz="413" b="1" kern="0" spc="75" dirty="0">
                <a:solidFill>
                  <a:srgbClr val="FC795F"/>
                </a:solidFill>
                <a:latin typeface="Plus Jakarta Sans Medium" pitchFamily="34" charset="0"/>
                <a:ea typeface="Plus Jakarta Sans Medium" pitchFamily="34" charset="-122"/>
                <a:cs typeface="Plus Jakarta Sans Medium" pitchFamily="34" charset="-120"/>
              </a:rPr>
              <a:t>TELECOM</a:t>
            </a:r>
            <a:endParaRPr lang="en-US" sz="413" dirty="0"/>
          </a:p>
        </p:txBody>
      </p:sp>
      <p:sp>
        <p:nvSpPr>
          <p:cNvPr id="70" name="Shape 68"/>
          <p:cNvSpPr/>
          <p:nvPr/>
        </p:nvSpPr>
        <p:spPr>
          <a:xfrm>
            <a:off x="6131052" y="2730315"/>
            <a:ext cx="96012" cy="96012"/>
          </a:xfrm>
          <a:prstGeom prst="ellipse">
            <a:avLst/>
          </a:prstGeom>
          <a:solidFill>
            <a:srgbClr val="BB51DC"/>
          </a:solidFill>
          <a:ln w="6350">
            <a:solidFill>
              <a:srgbClr val="BB51DC"/>
            </a:solidFill>
            <a:prstDash val="solid"/>
          </a:ln>
        </p:spPr>
        <p:txBody>
          <a:bodyPr/>
          <a:lstStyle/>
          <a:p>
            <a:endParaRPr lang="en-AE" sz="1350"/>
          </a:p>
        </p:txBody>
      </p:sp>
      <p:sp>
        <p:nvSpPr>
          <p:cNvPr id="71" name="Text 69"/>
          <p:cNvSpPr txBox="1"/>
          <p:nvPr/>
        </p:nvSpPr>
        <p:spPr>
          <a:xfrm>
            <a:off x="5690768" y="2840043"/>
            <a:ext cx="976580" cy="205740"/>
          </a:xfrm>
          <a:prstGeom prst="rect">
            <a:avLst/>
          </a:prstGeom>
          <a:noFill/>
          <a:ln/>
        </p:spPr>
        <p:txBody>
          <a:bodyPr wrap="square" lIns="0" tIns="0" rIns="0" bIns="0" rtlCol="0" anchor="ctr"/>
          <a:lstStyle/>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Credit decline</a:t>
            </a:r>
            <a:endParaRPr lang="en-US" sz="488" dirty="0">
              <a:solidFill>
                <a:schemeClr val="tx1">
                  <a:lumMod val="65000"/>
                  <a:lumOff val="35000"/>
                </a:schemeClr>
              </a:solidFill>
            </a:endParaRPr>
          </a:p>
        </p:txBody>
      </p:sp>
      <p:sp>
        <p:nvSpPr>
          <p:cNvPr id="72" name="Text 70"/>
          <p:cNvSpPr txBox="1"/>
          <p:nvPr/>
        </p:nvSpPr>
        <p:spPr>
          <a:xfrm>
            <a:off x="5690768" y="3052641"/>
            <a:ext cx="976580" cy="123444"/>
          </a:xfrm>
          <a:prstGeom prst="rect">
            <a:avLst/>
          </a:prstGeom>
          <a:noFill/>
          <a:ln/>
        </p:spPr>
        <p:txBody>
          <a:bodyPr wrap="square" lIns="0" tIns="0" rIns="0" bIns="0" rtlCol="0" anchor="ctr"/>
          <a:lstStyle/>
          <a:p>
            <a:pPr algn="ctr"/>
            <a:r>
              <a:rPr lang="en-US" sz="413" b="1" kern="0" spc="75" dirty="0">
                <a:solidFill>
                  <a:srgbClr val="BB51DC"/>
                </a:solidFill>
                <a:latin typeface="Plus Jakarta Sans Medium" pitchFamily="34" charset="0"/>
                <a:ea typeface="Plus Jakarta Sans Medium" pitchFamily="34" charset="-122"/>
                <a:cs typeface="Plus Jakarta Sans Medium" pitchFamily="34" charset="-120"/>
              </a:rPr>
              <a:t>BANKING</a:t>
            </a:r>
            <a:endParaRPr lang="en-US" sz="413" dirty="0"/>
          </a:p>
        </p:txBody>
      </p:sp>
      <p:sp>
        <p:nvSpPr>
          <p:cNvPr id="73" name="Shape 71"/>
          <p:cNvSpPr/>
          <p:nvPr/>
        </p:nvSpPr>
        <p:spPr>
          <a:xfrm>
            <a:off x="7148780" y="2126811"/>
            <a:ext cx="96012" cy="96012"/>
          </a:xfrm>
          <a:prstGeom prst="ellipse">
            <a:avLst/>
          </a:prstGeom>
          <a:solidFill>
            <a:srgbClr val="BB51DC"/>
          </a:solidFill>
          <a:ln w="19050">
            <a:solidFill>
              <a:srgbClr val="F7F4EE"/>
            </a:solidFill>
            <a:prstDash val="solid"/>
          </a:ln>
        </p:spPr>
        <p:txBody>
          <a:bodyPr/>
          <a:lstStyle/>
          <a:p>
            <a:endParaRPr lang="en-AE" sz="1350"/>
          </a:p>
        </p:txBody>
      </p:sp>
      <p:sp>
        <p:nvSpPr>
          <p:cNvPr id="74" name="Text 72"/>
          <p:cNvSpPr txBox="1"/>
          <p:nvPr/>
        </p:nvSpPr>
        <p:spPr>
          <a:xfrm>
            <a:off x="6708496" y="2236539"/>
            <a:ext cx="976580" cy="205740"/>
          </a:xfrm>
          <a:prstGeom prst="rect">
            <a:avLst/>
          </a:prstGeom>
          <a:noFill/>
          <a:ln/>
        </p:spPr>
        <p:txBody>
          <a:bodyPr wrap="square" lIns="0" tIns="0" rIns="0" bIns="0" rtlCol="0" anchor="ctr"/>
          <a:lstStyle/>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Wildfire ignition</a:t>
            </a:r>
            <a:endParaRPr lang="en-US" sz="488" dirty="0">
              <a:solidFill>
                <a:schemeClr val="tx1">
                  <a:lumMod val="65000"/>
                  <a:lumOff val="35000"/>
                </a:schemeClr>
              </a:solidFill>
            </a:endParaRPr>
          </a:p>
          <a:p>
            <a:pPr algn="ctr"/>
            <a:r>
              <a:rPr lang="en-US" sz="48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alert</a:t>
            </a:r>
            <a:endParaRPr lang="en-US" sz="488" dirty="0">
              <a:solidFill>
                <a:schemeClr val="tx1">
                  <a:lumMod val="65000"/>
                  <a:lumOff val="35000"/>
                </a:schemeClr>
              </a:solidFill>
            </a:endParaRPr>
          </a:p>
        </p:txBody>
      </p:sp>
      <p:sp>
        <p:nvSpPr>
          <p:cNvPr id="75" name="Text 73"/>
          <p:cNvSpPr txBox="1"/>
          <p:nvPr/>
        </p:nvSpPr>
        <p:spPr>
          <a:xfrm>
            <a:off x="6708496" y="2449137"/>
            <a:ext cx="976580" cy="123444"/>
          </a:xfrm>
          <a:prstGeom prst="rect">
            <a:avLst/>
          </a:prstGeom>
          <a:noFill/>
          <a:ln/>
        </p:spPr>
        <p:txBody>
          <a:bodyPr wrap="square" lIns="0" tIns="0" rIns="0" bIns="0" rtlCol="0" anchor="ctr"/>
          <a:lstStyle/>
          <a:p>
            <a:pPr algn="ctr"/>
            <a:r>
              <a:rPr lang="en-US" sz="413" b="1" kern="0" spc="75" dirty="0">
                <a:solidFill>
                  <a:srgbClr val="BB51DC"/>
                </a:solidFill>
                <a:latin typeface="Plus Jakarta Sans Medium" pitchFamily="34" charset="0"/>
                <a:ea typeface="Plus Jakarta Sans Medium" pitchFamily="34" charset="-122"/>
                <a:cs typeface="Plus Jakarta Sans Medium" pitchFamily="34" charset="-120"/>
              </a:rPr>
              <a:t>UTILITIES</a:t>
            </a:r>
            <a:endParaRPr lang="en-US" sz="413" dirty="0"/>
          </a:p>
        </p:txBody>
      </p:sp>
      <p:sp>
        <p:nvSpPr>
          <p:cNvPr id="76" name="Text 74"/>
          <p:cNvSpPr txBox="1"/>
          <p:nvPr/>
        </p:nvSpPr>
        <p:spPr>
          <a:xfrm>
            <a:off x="3634740" y="3759015"/>
            <a:ext cx="1920240" cy="150876"/>
          </a:xfrm>
          <a:prstGeom prst="rect">
            <a:avLst/>
          </a:prstGeom>
          <a:noFill/>
          <a:ln/>
        </p:spPr>
        <p:txBody>
          <a:bodyPr wrap="square" lIns="0" tIns="0" rIns="0" bIns="0" rtlCol="0" anchor="ctr"/>
          <a:lstStyle/>
          <a:p>
            <a:r>
              <a:rPr lang="en-US" sz="675" dirty="0">
                <a:solidFill>
                  <a:srgbClr val="4A7DFF"/>
                </a:solidFill>
                <a:latin typeface="Plus Jakarta Sans Medium" pitchFamily="34" charset="0"/>
                <a:ea typeface="Plus Jakarta Sans Medium" pitchFamily="34" charset="-122"/>
                <a:cs typeface="Plus Jakarta Sans Medium" pitchFamily="34" charset="-120"/>
              </a:rPr>
              <a:t>●</a:t>
            </a:r>
            <a:r>
              <a:rPr lang="en-US" sz="563" dirty="0">
                <a:solidFill>
                  <a:srgbClr val="8A93A0"/>
                </a:solidFill>
                <a:latin typeface="Plus Jakarta Sans ExtraLight" pitchFamily="34" charset="0"/>
                <a:ea typeface="Plus Jakarta Sans ExtraLight" pitchFamily="34" charset="-122"/>
                <a:cs typeface="Plus Jakarta Sans ExtraLight" pitchFamily="34" charset="-120"/>
              </a:rPr>
              <a:t>  Knowledge   </a:t>
            </a:r>
            <a:r>
              <a:rPr lang="en-US" sz="675" dirty="0">
                <a:solidFill>
                  <a:srgbClr val="BB51DC"/>
                </a:solidFill>
                <a:latin typeface="Plus Jakarta Sans Medium" pitchFamily="34" charset="0"/>
                <a:ea typeface="Plus Jakarta Sans Medium" pitchFamily="34" charset="-122"/>
                <a:cs typeface="Plus Jakarta Sans Medium" pitchFamily="34" charset="-120"/>
              </a:rPr>
              <a:t>●</a:t>
            </a:r>
            <a:r>
              <a:rPr lang="en-US" sz="563" dirty="0">
                <a:solidFill>
                  <a:srgbClr val="8A93A0"/>
                </a:solidFill>
                <a:latin typeface="Plus Jakarta Sans ExtraLight" pitchFamily="34" charset="0"/>
                <a:ea typeface="Plus Jakarta Sans ExtraLight" pitchFamily="34" charset="-122"/>
                <a:cs typeface="Plus Jakarta Sans ExtraLight" pitchFamily="34" charset="-120"/>
              </a:rPr>
              <a:t>  Decision   </a:t>
            </a:r>
            <a:r>
              <a:rPr lang="en-US" sz="675" dirty="0">
                <a:solidFill>
                  <a:srgbClr val="FC795F"/>
                </a:solidFill>
                <a:latin typeface="Plus Jakarta Sans Medium" pitchFamily="34" charset="0"/>
                <a:ea typeface="Plus Jakarta Sans Medium" pitchFamily="34" charset="-122"/>
                <a:cs typeface="Plus Jakarta Sans Medium" pitchFamily="34" charset="-120"/>
              </a:rPr>
              <a:t>●</a:t>
            </a:r>
            <a:r>
              <a:rPr lang="en-US" sz="563" dirty="0">
                <a:solidFill>
                  <a:srgbClr val="8A93A0"/>
                </a:solidFill>
                <a:latin typeface="Plus Jakarta Sans ExtraLight" pitchFamily="34" charset="0"/>
                <a:ea typeface="Plus Jakarta Sans ExtraLight" pitchFamily="34" charset="-122"/>
                <a:cs typeface="Plus Jakarta Sans ExtraLight" pitchFamily="34" charset="-120"/>
              </a:rPr>
              <a:t>  Action</a:t>
            </a:r>
            <a:endParaRPr lang="en-US" sz="675" dirty="0"/>
          </a:p>
        </p:txBody>
      </p:sp>
      <p:sp>
        <p:nvSpPr>
          <p:cNvPr id="77" name="Shape 75"/>
          <p:cNvSpPr/>
          <p:nvPr/>
        </p:nvSpPr>
        <p:spPr>
          <a:xfrm>
            <a:off x="5568696" y="3793305"/>
            <a:ext cx="109728" cy="82296"/>
          </a:xfrm>
          <a:prstGeom prst="rect">
            <a:avLst/>
          </a:prstGeom>
          <a:solidFill>
            <a:schemeClr val="bg2">
              <a:lumMod val="90000"/>
            </a:schemeClr>
          </a:solidFill>
          <a:ln w="12700">
            <a:solidFill>
              <a:srgbClr val="4A7DFF"/>
            </a:solidFill>
            <a:prstDash val="solid"/>
          </a:ln>
        </p:spPr>
        <p:txBody>
          <a:bodyPr/>
          <a:lstStyle/>
          <a:p>
            <a:endParaRPr lang="en-AE" sz="1350"/>
          </a:p>
        </p:txBody>
      </p:sp>
      <p:sp>
        <p:nvSpPr>
          <p:cNvPr id="78" name="Text 76"/>
          <p:cNvSpPr txBox="1"/>
          <p:nvPr/>
        </p:nvSpPr>
        <p:spPr>
          <a:xfrm>
            <a:off x="5719572" y="3765873"/>
            <a:ext cx="617220" cy="137160"/>
          </a:xfrm>
          <a:prstGeom prst="rect">
            <a:avLst/>
          </a:prstGeom>
          <a:noFill/>
          <a:ln/>
        </p:spPr>
        <p:txBody>
          <a:bodyPr wrap="square" lIns="0" tIns="0" rIns="0" bIns="0" rtlCol="0" anchor="ctr"/>
          <a:lstStyle/>
          <a:p>
            <a:r>
              <a:rPr lang="en-US" sz="563" dirty="0">
                <a:solidFill>
                  <a:srgbClr val="8A93A0"/>
                </a:solidFill>
                <a:latin typeface="Plus Jakarta Sans ExtraLight" pitchFamily="34" charset="0"/>
                <a:ea typeface="Plus Jakarta Sans ExtraLight" pitchFamily="34" charset="-122"/>
                <a:cs typeface="Plus Jakarta Sans ExtraLight" pitchFamily="34" charset="-120"/>
              </a:rPr>
              <a:t>Permitted</a:t>
            </a:r>
            <a:endParaRPr lang="en-US" sz="563" dirty="0"/>
          </a:p>
        </p:txBody>
      </p:sp>
      <p:sp>
        <p:nvSpPr>
          <p:cNvPr id="79" name="Shape 77"/>
          <p:cNvSpPr/>
          <p:nvPr/>
        </p:nvSpPr>
        <p:spPr>
          <a:xfrm>
            <a:off x="6391656" y="3796734"/>
            <a:ext cx="82296" cy="82296"/>
          </a:xfrm>
          <a:prstGeom prst="ellipse">
            <a:avLst/>
          </a:prstGeom>
          <a:solidFill>
            <a:srgbClr val="FC795F"/>
          </a:solidFill>
          <a:ln w="19050">
            <a:solidFill>
              <a:srgbClr val="F7F4EE"/>
            </a:solidFill>
            <a:prstDash val="solid"/>
          </a:ln>
        </p:spPr>
        <p:txBody>
          <a:bodyPr/>
          <a:lstStyle/>
          <a:p>
            <a:endParaRPr lang="en-AE" sz="1350"/>
          </a:p>
        </p:txBody>
      </p:sp>
      <p:sp>
        <p:nvSpPr>
          <p:cNvPr id="80" name="Text 78"/>
          <p:cNvSpPr txBox="1"/>
          <p:nvPr/>
        </p:nvSpPr>
        <p:spPr>
          <a:xfrm>
            <a:off x="6515100" y="3745299"/>
            <a:ext cx="2208276" cy="233172"/>
          </a:xfrm>
          <a:prstGeom prst="rect">
            <a:avLst/>
          </a:prstGeom>
          <a:noFill/>
          <a:ln/>
        </p:spPr>
        <p:txBody>
          <a:bodyPr wrap="square" lIns="0" tIns="0" rIns="0" bIns="0" rtlCol="0" anchor="ctr"/>
          <a:lstStyle/>
          <a:p>
            <a:r>
              <a:rPr lang="en-US" sz="563"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Above the ceiling — authority sits in an approved artefact, not the agent</a:t>
            </a:r>
            <a:endParaRPr lang="en-US" sz="563" dirty="0">
              <a:solidFill>
                <a:schemeClr val="tx1">
                  <a:lumMod val="75000"/>
                  <a:lumOff val="25000"/>
                </a:schemeClr>
              </a:solidFill>
            </a:endParaRPr>
          </a:p>
        </p:txBody>
      </p:sp>
      <p:sp>
        <p:nvSpPr>
          <p:cNvPr id="81" name="Text 79"/>
          <p:cNvSpPr txBox="1"/>
          <p:nvPr/>
        </p:nvSpPr>
        <p:spPr>
          <a:xfrm>
            <a:off x="2112264" y="4047051"/>
            <a:ext cx="6611112" cy="315468"/>
          </a:xfrm>
          <a:prstGeom prst="rect">
            <a:avLst/>
          </a:prstGeom>
          <a:noFill/>
          <a:ln/>
        </p:spPr>
        <p:txBody>
          <a:bodyPr wrap="square" lIns="0" tIns="0" rIns="0" bIns="0" rtlCol="0" anchor="t"/>
          <a:lstStyle/>
          <a:p>
            <a:pPr>
              <a:lnSpc>
                <a:spcPct val="115000"/>
              </a:lnSpc>
            </a:pPr>
            <a:r>
              <a:rPr lang="en-US" sz="563"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“Human in / on / out of the loop” is the standard oversight vocabulary — it appears in the EU AI Act’s human-oversight article, IMDA Singapore’s agentic AI framework, NIST’s guidance and the UAE Central Bank’s. We use it unchanged, so the model needs no translation into any client’s risk language.</a:t>
            </a:r>
            <a:endParaRPr lang="en-US" sz="563" dirty="0">
              <a:solidFill>
                <a:schemeClr val="tx1">
                  <a:lumMod val="75000"/>
                  <a:lumOff val="25000"/>
                </a:schemeClr>
              </a:solidFill>
            </a:endParaRPr>
          </a:p>
        </p:txBody>
      </p:sp>
      <p:sp>
        <p:nvSpPr>
          <p:cNvPr id="82" name="Text 80"/>
          <p:cNvSpPr txBox="1"/>
          <p:nvPr/>
        </p:nvSpPr>
        <p:spPr>
          <a:xfrm>
            <a:off x="425196" y="4430268"/>
            <a:ext cx="8298180" cy="274320"/>
          </a:xfrm>
          <a:prstGeom prst="rect">
            <a:avLst/>
          </a:prstGeom>
          <a:noFill/>
          <a:ln/>
        </p:spPr>
        <p:txBody>
          <a:bodyPr wrap="square" lIns="0" tIns="0" rIns="0" bIns="0" rtlCol="0" anchor="ctr"/>
          <a:lstStyle/>
          <a:p>
            <a:pPr algn="ctr"/>
            <a:r>
              <a:rPr lang="en-US" sz="900" dirty="0">
                <a:solidFill>
                  <a:schemeClr val="accent4"/>
                </a:solidFill>
                <a:latin typeface="Plus Jakarta Sans ExtraBold" pitchFamily="34" charset="0"/>
                <a:ea typeface="Plus Jakarta Sans ExtraBold" pitchFamily="34" charset="-122"/>
                <a:cs typeface="Plus Jakarta Sans ExtraBold" pitchFamily="34" charset="-120"/>
              </a:rPr>
              <a:t>Exposure sets the ceiling. Evidence earns the climb.  </a:t>
            </a:r>
            <a:r>
              <a:rPr lang="en-US" sz="900" dirty="0">
                <a:solidFill>
                  <a:srgbClr val="8A93A0"/>
                </a:solidFill>
                <a:latin typeface="Plus Jakarta Sans ExtraLight" pitchFamily="34" charset="0"/>
                <a:ea typeface="Plus Jakarta Sans ExtraLight" pitchFamily="34" charset="-122"/>
                <a:cs typeface="Plus Jakarta Sans ExtraLight" pitchFamily="34" charset="-120"/>
              </a:rPr>
              <a:t>A better model earns no more authority — only a smaller blast radius does.</a:t>
            </a:r>
            <a:endParaRPr lang="en-US" sz="900" dirty="0"/>
          </a:p>
        </p:txBody>
      </p:sp>
      <p:sp>
        <p:nvSpPr>
          <p:cNvPr id="83" name="Title 82">
            <a:extLst>
              <a:ext uri="{FF2B5EF4-FFF2-40B4-BE49-F238E27FC236}">
                <a16:creationId xmlns:a16="http://schemas.microsoft.com/office/drawing/2014/main" id="{B4727075-5CCC-6A69-642C-7DE0386DEDA8}"/>
              </a:ext>
            </a:extLst>
          </p:cNvPr>
          <p:cNvSpPr>
            <a:spLocks noGrp="1"/>
          </p:cNvSpPr>
          <p:nvPr>
            <p:ph type="title"/>
          </p:nvPr>
        </p:nvSpPr>
        <p:spPr>
          <a:xfrm>
            <a:off x="457200" y="531813"/>
            <a:ext cx="7315200" cy="333425"/>
          </a:xfrm>
        </p:spPr>
        <p:txBody>
          <a:bodyPr/>
          <a:lstStyle/>
          <a:p>
            <a:r>
              <a:rPr lang="en-US" dirty="0"/>
              <a:t>A delegation of authority for machines. </a:t>
            </a:r>
            <a:endParaRPr lang="en-AE" dirty="0"/>
          </a:p>
        </p:txBody>
      </p:sp>
      <p:sp>
        <p:nvSpPr>
          <p:cNvPr id="84" name="Text Placeholder 83">
            <a:extLst>
              <a:ext uri="{FF2B5EF4-FFF2-40B4-BE49-F238E27FC236}">
                <a16:creationId xmlns:a16="http://schemas.microsoft.com/office/drawing/2014/main" id="{9C3EFD91-3E88-7F27-ADC2-412E64BA37D7}"/>
              </a:ext>
            </a:extLst>
          </p:cNvPr>
          <p:cNvSpPr>
            <a:spLocks noGrp="1"/>
          </p:cNvSpPr>
          <p:nvPr>
            <p:ph type="body" sz="quarter" idx="13"/>
          </p:nvPr>
        </p:nvSpPr>
        <p:spPr>
          <a:xfrm>
            <a:off x="457200" y="307975"/>
            <a:ext cx="2378075" cy="184150"/>
          </a:xfrm>
        </p:spPr>
        <p:txBody>
          <a:bodyPr/>
          <a:lstStyle/>
          <a:p>
            <a:r>
              <a:rPr lang="en-AE" dirty="0"/>
              <a:t>WHAT IT IS </a:t>
            </a:r>
          </a:p>
        </p:txBody>
      </p:sp>
      <p:sp>
        <p:nvSpPr>
          <p:cNvPr id="89" name="Text 4">
            <a:extLst>
              <a:ext uri="{FF2B5EF4-FFF2-40B4-BE49-F238E27FC236}">
                <a16:creationId xmlns:a16="http://schemas.microsoft.com/office/drawing/2014/main" id="{B98A11C2-DC47-498B-293D-C0C57B6E475B}"/>
              </a:ext>
            </a:extLst>
          </p:cNvPr>
          <p:cNvSpPr txBox="1">
            <a:spLocks noGrp="1"/>
          </p:cNvSpPr>
          <p:nvPr>
            <p:ph type="body" sz="quarter" idx="14"/>
          </p:nvPr>
        </p:nvSpPr>
        <p:spPr>
          <a:xfrm>
            <a:off x="457200" y="900112"/>
            <a:ext cx="7315200" cy="252031"/>
          </a:xfrm>
          <a:noFill/>
          <a:ln/>
        </p:spPr>
        <p:txBody>
          <a:bodyPr wrap="square" lIns="0" tIns="0" rIns="0" bIns="0" rtlCol="0" anchor="ctr"/>
          <a:lstStyle/>
          <a:p>
            <a:r>
              <a:rPr lang="en-US" dirty="0"/>
              <a:t>A delegation of authority for machines. Not a taxonomy of agents — a rule for how much any single agent handover is allowed to do on its own.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 80">
            <a:extLst>
              <a:ext uri="{FF2B5EF4-FFF2-40B4-BE49-F238E27FC236}">
                <a16:creationId xmlns:a16="http://schemas.microsoft.com/office/drawing/2014/main" id="{DDEE95B6-2BF8-41C8-0333-0265339CA300}"/>
              </a:ext>
            </a:extLst>
          </p:cNvPr>
          <p:cNvGrpSpPr/>
          <p:nvPr/>
        </p:nvGrpSpPr>
        <p:grpSpPr>
          <a:xfrm>
            <a:off x="457200" y="3109375"/>
            <a:ext cx="8270706" cy="1318650"/>
            <a:chOff x="393700" y="1665478"/>
            <a:chExt cx="2654046" cy="1318650"/>
          </a:xfrm>
        </p:grpSpPr>
        <p:sp>
          <p:nvSpPr>
            <p:cNvPr id="82" name="Rectangle 81">
              <a:extLst>
                <a:ext uri="{FF2B5EF4-FFF2-40B4-BE49-F238E27FC236}">
                  <a16:creationId xmlns:a16="http://schemas.microsoft.com/office/drawing/2014/main" id="{74E2CAEF-D5AF-54B1-CD64-124D365C0CBD}"/>
                </a:ext>
              </a:extLst>
            </p:cNvPr>
            <p:cNvSpPr/>
            <p:nvPr/>
          </p:nvSpPr>
          <p:spPr>
            <a:xfrm>
              <a:off x="393700" y="1665478"/>
              <a:ext cx="2654046" cy="1318650"/>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a:extLst>
                <a:ext uri="{FF2B5EF4-FFF2-40B4-BE49-F238E27FC236}">
                  <a16:creationId xmlns:a16="http://schemas.microsoft.com/office/drawing/2014/main" id="{DB595B4F-1EF4-BDA6-0278-214831102046}"/>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78" name="Group 77">
            <a:extLst>
              <a:ext uri="{FF2B5EF4-FFF2-40B4-BE49-F238E27FC236}">
                <a16:creationId xmlns:a16="http://schemas.microsoft.com/office/drawing/2014/main" id="{C89D6B7D-CACD-DCA5-C599-D61E427DB9CD}"/>
              </a:ext>
            </a:extLst>
          </p:cNvPr>
          <p:cNvGrpSpPr/>
          <p:nvPr/>
        </p:nvGrpSpPr>
        <p:grpSpPr>
          <a:xfrm>
            <a:off x="6093342" y="1165904"/>
            <a:ext cx="2634564" cy="1787785"/>
            <a:chOff x="393700" y="1665478"/>
            <a:chExt cx="2654046" cy="1787785"/>
          </a:xfrm>
        </p:grpSpPr>
        <p:sp>
          <p:nvSpPr>
            <p:cNvPr id="79" name="Rectangle 78">
              <a:extLst>
                <a:ext uri="{FF2B5EF4-FFF2-40B4-BE49-F238E27FC236}">
                  <a16:creationId xmlns:a16="http://schemas.microsoft.com/office/drawing/2014/main" id="{636DE5B5-B04E-2D9B-5BC5-AD7C64E810E7}"/>
                </a:ext>
              </a:extLst>
            </p:cNvPr>
            <p:cNvSpPr/>
            <p:nvPr/>
          </p:nvSpPr>
          <p:spPr>
            <a:xfrm>
              <a:off x="393700" y="1665478"/>
              <a:ext cx="2654046" cy="1787785"/>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a:extLst>
                <a:ext uri="{FF2B5EF4-FFF2-40B4-BE49-F238E27FC236}">
                  <a16:creationId xmlns:a16="http://schemas.microsoft.com/office/drawing/2014/main" id="{949ED99A-515B-0DEF-BEB7-C48037A1DA26}"/>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75" name="Group 74">
            <a:extLst>
              <a:ext uri="{FF2B5EF4-FFF2-40B4-BE49-F238E27FC236}">
                <a16:creationId xmlns:a16="http://schemas.microsoft.com/office/drawing/2014/main" id="{88750EF8-29C4-EE6B-05D1-9CE136BAECCF}"/>
              </a:ext>
            </a:extLst>
          </p:cNvPr>
          <p:cNvGrpSpPr/>
          <p:nvPr/>
        </p:nvGrpSpPr>
        <p:grpSpPr>
          <a:xfrm>
            <a:off x="3297216" y="1157436"/>
            <a:ext cx="2634564" cy="1796253"/>
            <a:chOff x="393700" y="1665477"/>
            <a:chExt cx="2654046" cy="1796253"/>
          </a:xfrm>
        </p:grpSpPr>
        <p:sp>
          <p:nvSpPr>
            <p:cNvPr id="76" name="Rectangle 75">
              <a:extLst>
                <a:ext uri="{FF2B5EF4-FFF2-40B4-BE49-F238E27FC236}">
                  <a16:creationId xmlns:a16="http://schemas.microsoft.com/office/drawing/2014/main" id="{B185A332-BA2D-9000-CB3F-00F5262FA407}"/>
                </a:ext>
              </a:extLst>
            </p:cNvPr>
            <p:cNvSpPr/>
            <p:nvPr/>
          </p:nvSpPr>
          <p:spPr>
            <a:xfrm>
              <a:off x="393700" y="1665477"/>
              <a:ext cx="2654046" cy="1796253"/>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a:extLst>
                <a:ext uri="{FF2B5EF4-FFF2-40B4-BE49-F238E27FC236}">
                  <a16:creationId xmlns:a16="http://schemas.microsoft.com/office/drawing/2014/main" id="{69B5BB01-008C-DF51-0F01-D6BF9D6FFB91}"/>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72" name="Group 71">
            <a:extLst>
              <a:ext uri="{FF2B5EF4-FFF2-40B4-BE49-F238E27FC236}">
                <a16:creationId xmlns:a16="http://schemas.microsoft.com/office/drawing/2014/main" id="{25ED9C50-8730-7C0B-02B0-53A350C95B41}"/>
              </a:ext>
            </a:extLst>
          </p:cNvPr>
          <p:cNvGrpSpPr/>
          <p:nvPr/>
        </p:nvGrpSpPr>
        <p:grpSpPr>
          <a:xfrm>
            <a:off x="457200" y="1157437"/>
            <a:ext cx="2634564" cy="1796254"/>
            <a:chOff x="393700" y="1665478"/>
            <a:chExt cx="2654046" cy="1796254"/>
          </a:xfrm>
        </p:grpSpPr>
        <p:sp>
          <p:nvSpPr>
            <p:cNvPr id="73" name="Rectangle 72">
              <a:extLst>
                <a:ext uri="{FF2B5EF4-FFF2-40B4-BE49-F238E27FC236}">
                  <a16:creationId xmlns:a16="http://schemas.microsoft.com/office/drawing/2014/main" id="{8EB00715-09E1-A8E6-908E-16CE240E04BD}"/>
                </a:ext>
              </a:extLst>
            </p:cNvPr>
            <p:cNvSpPr/>
            <p:nvPr/>
          </p:nvSpPr>
          <p:spPr>
            <a:xfrm>
              <a:off x="393700" y="1665478"/>
              <a:ext cx="2654046" cy="1796254"/>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a:extLst>
                <a:ext uri="{FF2B5EF4-FFF2-40B4-BE49-F238E27FC236}">
                  <a16:creationId xmlns:a16="http://schemas.microsoft.com/office/drawing/2014/main" id="{C1822B54-1BDD-2F96-04DD-B3EC6B34A4C2}"/>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 name="Text 1"/>
          <p:cNvSpPr txBox="1"/>
          <p:nvPr/>
        </p:nvSpPr>
        <p:spPr>
          <a:xfrm>
            <a:off x="425196" y="452628"/>
            <a:ext cx="7955280" cy="384048"/>
          </a:xfrm>
          <a:prstGeom prst="rect">
            <a:avLst/>
          </a:prstGeom>
          <a:noFill/>
          <a:ln/>
        </p:spPr>
        <p:txBody>
          <a:bodyPr wrap="square" lIns="0" tIns="0" rIns="0" bIns="0" rtlCol="0" anchor="ctr"/>
          <a:lstStyle/>
          <a:p>
            <a:r>
              <a:rPr lang="en-US" sz="1950" dirty="0">
                <a:solidFill>
                  <a:srgbClr val="F7F4EE"/>
                </a:solidFill>
                <a:latin typeface="Plus Jakarta Sans ExtraBold" pitchFamily="34" charset="0"/>
                <a:ea typeface="Plus Jakarta Sans ExtraBold" pitchFamily="34" charset="-122"/>
                <a:cs typeface="Plus Jakarta Sans ExtraBold" pitchFamily="34" charset="-120"/>
              </a:rPr>
              <a:t>Six closed questions place any use case</a:t>
            </a:r>
            <a:endParaRPr lang="en-US" sz="1950" dirty="0"/>
          </a:p>
        </p:txBody>
      </p:sp>
      <p:sp>
        <p:nvSpPr>
          <p:cNvPr id="4" name="Text 2"/>
          <p:cNvSpPr txBox="1"/>
          <p:nvPr/>
        </p:nvSpPr>
        <p:spPr>
          <a:xfrm>
            <a:off x="425196" y="4841748"/>
            <a:ext cx="4114800" cy="164592"/>
          </a:xfrm>
          <a:prstGeom prst="rect">
            <a:avLst/>
          </a:prstGeom>
          <a:noFill/>
          <a:ln/>
        </p:spPr>
        <p:txBody>
          <a:bodyPr wrap="square" lIns="0" tIns="0" rIns="0" bIns="0" rtlCol="0" anchor="ctr"/>
          <a:lstStyle/>
          <a:p>
            <a:r>
              <a:rPr lang="en-US" sz="563" dirty="0">
                <a:solidFill>
                  <a:srgbClr val="8A93A0"/>
                </a:solidFill>
                <a:latin typeface="Plus Jakarta Sans ExtraLight" pitchFamily="34" charset="0"/>
                <a:ea typeface="Plus Jakarta Sans ExtraLight" pitchFamily="34" charset="-122"/>
                <a:cs typeface="Plus Jakarta Sans ExtraLight" pitchFamily="34" charset="-120"/>
              </a:rPr>
              <a:t>Copyright © 2026. All Right Protected &amp; Reserved.</a:t>
            </a:r>
            <a:endParaRPr lang="en-US" sz="563" dirty="0"/>
          </a:p>
        </p:txBody>
      </p:sp>
      <p:sp>
        <p:nvSpPr>
          <p:cNvPr id="5" name="Text 3"/>
          <p:cNvSpPr txBox="1"/>
          <p:nvPr/>
        </p:nvSpPr>
        <p:spPr>
          <a:xfrm>
            <a:off x="8457971" y="4841748"/>
            <a:ext cx="274320" cy="164592"/>
          </a:xfrm>
          <a:prstGeom prst="rect">
            <a:avLst/>
          </a:prstGeom>
          <a:noFill/>
          <a:ln/>
        </p:spPr>
        <p:txBody>
          <a:bodyPr wrap="square" lIns="0" tIns="0" rIns="0" bIns="0" rtlCol="0" anchor="ctr"/>
          <a:lstStyle/>
          <a:p>
            <a:pPr algn="r"/>
            <a:r>
              <a:rPr lang="en-US" sz="563" dirty="0">
                <a:solidFill>
                  <a:srgbClr val="8A93A0"/>
                </a:solidFill>
                <a:latin typeface="Plus Jakarta Sans Medium" pitchFamily="34" charset="0"/>
                <a:ea typeface="Plus Jakarta Sans Medium" pitchFamily="34" charset="-122"/>
                <a:cs typeface="Plus Jakarta Sans Medium" pitchFamily="34" charset="-120"/>
              </a:rPr>
              <a:t>2</a:t>
            </a:r>
            <a:endParaRPr lang="en-US" sz="563" dirty="0"/>
          </a:p>
        </p:txBody>
      </p:sp>
      <p:sp>
        <p:nvSpPr>
          <p:cNvPr id="8" name="Text 6"/>
          <p:cNvSpPr txBox="1"/>
          <p:nvPr/>
        </p:nvSpPr>
        <p:spPr>
          <a:xfrm>
            <a:off x="576072" y="1225710"/>
            <a:ext cx="2345436" cy="137160"/>
          </a:xfrm>
          <a:prstGeom prst="rect">
            <a:avLst/>
          </a:prstGeom>
          <a:noFill/>
          <a:ln/>
        </p:spPr>
        <p:txBody>
          <a:bodyPr wrap="square" lIns="0" tIns="0" rIns="0" bIns="0" rtlCol="0" anchor="ctr"/>
          <a:lstStyle/>
          <a:p>
            <a:r>
              <a:rPr lang="en-US" sz="800" b="1" kern="0" spc="120" dirty="0">
                <a:solidFill>
                  <a:schemeClr val="accent4"/>
                </a:solidFill>
                <a:latin typeface="Plus Jakarta Sans Medium" pitchFamily="34" charset="0"/>
                <a:ea typeface="Plus Jakarta Sans Medium" pitchFamily="34" charset="-122"/>
                <a:cs typeface="Plus Jakarta Sans Medium" pitchFamily="34" charset="-120"/>
              </a:rPr>
              <a:t>QUESTION 1 · WHAT IS HANDED OVER</a:t>
            </a:r>
            <a:endParaRPr lang="en-US" sz="800" dirty="0">
              <a:solidFill>
                <a:schemeClr val="accent4"/>
              </a:solidFill>
            </a:endParaRPr>
          </a:p>
        </p:txBody>
      </p:sp>
      <p:sp>
        <p:nvSpPr>
          <p:cNvPr id="9" name="Text 7"/>
          <p:cNvSpPr txBox="1"/>
          <p:nvPr/>
        </p:nvSpPr>
        <p:spPr>
          <a:xfrm>
            <a:off x="576072" y="1426464"/>
            <a:ext cx="2345436" cy="137160"/>
          </a:xfrm>
          <a:prstGeom prst="rect">
            <a:avLst/>
          </a:prstGeom>
          <a:noFill/>
          <a:ln/>
        </p:spPr>
        <p:txBody>
          <a:bodyPr wrap="square" lIns="0" tIns="0" rIns="0" bIns="0" rtlCol="0" anchor="ctr"/>
          <a:lstStyle/>
          <a:p>
            <a:r>
              <a:rPr lang="en-US" sz="600" b="1" dirty="0">
                <a:latin typeface="Plus Jakarta Sans ExtraLight" pitchFamily="34" charset="0"/>
                <a:ea typeface="Plus Jakarta Sans ExtraLight" pitchFamily="34" charset="-122"/>
                <a:cs typeface="Plus Jakarta Sans ExtraLight" pitchFamily="34" charset="-120"/>
              </a:rPr>
              <a:t>Ask in order. First yes wins.</a:t>
            </a:r>
            <a:endParaRPr lang="en-US" sz="600" b="1" dirty="0"/>
          </a:p>
        </p:txBody>
      </p:sp>
      <p:sp>
        <p:nvSpPr>
          <p:cNvPr id="10" name="Text 8"/>
          <p:cNvSpPr txBox="1"/>
          <p:nvPr/>
        </p:nvSpPr>
        <p:spPr>
          <a:xfrm>
            <a:off x="576072" y="1604772"/>
            <a:ext cx="1536192" cy="384048"/>
          </a:xfrm>
          <a:prstGeom prst="rect">
            <a:avLst/>
          </a:prstGeom>
          <a:noFill/>
          <a:ln/>
        </p:spPr>
        <p:txBody>
          <a:bodyPr wrap="square" lIns="0" tIns="0" rIns="0" bIns="0" rtlCol="0" anchor="t"/>
          <a:lstStyle/>
          <a:p>
            <a:pPr>
              <a:lnSpc>
                <a:spcPct val="115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After it runs, is any record, system or physical thing different?</a:t>
            </a:r>
            <a:endParaRPr lang="en-US" sz="638" dirty="0">
              <a:solidFill>
                <a:schemeClr val="tx1">
                  <a:lumMod val="65000"/>
                  <a:lumOff val="35000"/>
                </a:schemeClr>
              </a:solidFill>
            </a:endParaRPr>
          </a:p>
        </p:txBody>
      </p:sp>
      <p:sp>
        <p:nvSpPr>
          <p:cNvPr id="11" name="Text 9"/>
          <p:cNvSpPr txBox="1"/>
          <p:nvPr/>
        </p:nvSpPr>
        <p:spPr>
          <a:xfrm>
            <a:off x="2139696" y="1618488"/>
            <a:ext cx="781812" cy="137160"/>
          </a:xfrm>
          <a:prstGeom prst="rect">
            <a:avLst/>
          </a:prstGeom>
          <a:noFill/>
          <a:ln/>
        </p:spPr>
        <p:txBody>
          <a:bodyPr wrap="square" lIns="0" tIns="0" rIns="0" bIns="0" rtlCol="0" anchor="ctr"/>
          <a:lstStyle/>
          <a:p>
            <a:pPr algn="r"/>
            <a:r>
              <a:rPr lang="en-US" sz="600" b="1" kern="0" spc="75" dirty="0">
                <a:solidFill>
                  <a:srgbClr val="FC795F"/>
                </a:solidFill>
                <a:latin typeface="Plus Jakarta Sans Medium" pitchFamily="34" charset="0"/>
                <a:ea typeface="Plus Jakarta Sans Medium" pitchFamily="34" charset="-122"/>
                <a:cs typeface="Plus Jakarta Sans Medium" pitchFamily="34" charset="-120"/>
              </a:rPr>
              <a:t>ACTION</a:t>
            </a:r>
            <a:endParaRPr lang="en-US" sz="600" dirty="0"/>
          </a:p>
        </p:txBody>
      </p:sp>
      <p:sp>
        <p:nvSpPr>
          <p:cNvPr id="12" name="Text 10"/>
          <p:cNvSpPr txBox="1"/>
          <p:nvPr/>
        </p:nvSpPr>
        <p:spPr>
          <a:xfrm>
            <a:off x="576072" y="2029968"/>
            <a:ext cx="1536192" cy="384048"/>
          </a:xfrm>
          <a:prstGeom prst="rect">
            <a:avLst/>
          </a:prstGeom>
          <a:noFill/>
          <a:ln/>
        </p:spPr>
        <p:txBody>
          <a:bodyPr wrap="square" lIns="0" tIns="0" rIns="0" bIns="0" rtlCol="0" anchor="t"/>
          <a:lstStyle/>
          <a:p>
            <a:pPr>
              <a:lnSpc>
                <a:spcPct val="115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Does it fix an outcome for a specific case or person that something downstream acts on?</a:t>
            </a:r>
            <a:endParaRPr lang="en-US" sz="638" dirty="0">
              <a:solidFill>
                <a:schemeClr val="tx1">
                  <a:lumMod val="65000"/>
                  <a:lumOff val="35000"/>
                </a:schemeClr>
              </a:solidFill>
            </a:endParaRPr>
          </a:p>
        </p:txBody>
      </p:sp>
      <p:sp>
        <p:nvSpPr>
          <p:cNvPr id="13" name="Text 11"/>
          <p:cNvSpPr txBox="1"/>
          <p:nvPr/>
        </p:nvSpPr>
        <p:spPr>
          <a:xfrm>
            <a:off x="2139696" y="2043684"/>
            <a:ext cx="781812" cy="137160"/>
          </a:xfrm>
          <a:prstGeom prst="rect">
            <a:avLst/>
          </a:prstGeom>
          <a:noFill/>
          <a:ln/>
        </p:spPr>
        <p:txBody>
          <a:bodyPr wrap="square" lIns="0" tIns="0" rIns="0" bIns="0" rtlCol="0" anchor="ctr"/>
          <a:lstStyle/>
          <a:p>
            <a:pPr algn="r"/>
            <a:r>
              <a:rPr lang="en-US" sz="600" b="1" kern="0" spc="75" dirty="0">
                <a:solidFill>
                  <a:srgbClr val="BB51DC"/>
                </a:solidFill>
                <a:latin typeface="Plus Jakarta Sans Medium" pitchFamily="34" charset="0"/>
                <a:ea typeface="Plus Jakarta Sans Medium" pitchFamily="34" charset="-122"/>
                <a:cs typeface="Plus Jakarta Sans Medium" pitchFamily="34" charset="-120"/>
              </a:rPr>
              <a:t>DECISION</a:t>
            </a:r>
            <a:endParaRPr lang="en-US" sz="600" dirty="0"/>
          </a:p>
        </p:txBody>
      </p:sp>
      <p:sp>
        <p:nvSpPr>
          <p:cNvPr id="14" name="Text 12"/>
          <p:cNvSpPr txBox="1"/>
          <p:nvPr/>
        </p:nvSpPr>
        <p:spPr>
          <a:xfrm>
            <a:off x="576072" y="2455164"/>
            <a:ext cx="1536192" cy="384048"/>
          </a:xfrm>
          <a:prstGeom prst="rect">
            <a:avLst/>
          </a:prstGeom>
          <a:noFill/>
          <a:ln/>
        </p:spPr>
        <p:txBody>
          <a:bodyPr wrap="square" lIns="0" tIns="0" rIns="0" bIns="0" rtlCol="0" anchor="t"/>
          <a:lstStyle/>
          <a:p>
            <a:pPr>
              <a:lnSpc>
                <a:spcPct val="115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Neither — someone simply knows more.</a:t>
            </a:r>
            <a:endParaRPr lang="en-US" sz="638" dirty="0">
              <a:solidFill>
                <a:schemeClr val="tx1">
                  <a:lumMod val="65000"/>
                  <a:lumOff val="35000"/>
                </a:schemeClr>
              </a:solidFill>
            </a:endParaRPr>
          </a:p>
        </p:txBody>
      </p:sp>
      <p:sp>
        <p:nvSpPr>
          <p:cNvPr id="15" name="Text 13"/>
          <p:cNvSpPr txBox="1"/>
          <p:nvPr/>
        </p:nvSpPr>
        <p:spPr>
          <a:xfrm>
            <a:off x="2139696" y="2468880"/>
            <a:ext cx="781812" cy="137160"/>
          </a:xfrm>
          <a:prstGeom prst="rect">
            <a:avLst/>
          </a:prstGeom>
          <a:noFill/>
          <a:ln/>
        </p:spPr>
        <p:txBody>
          <a:bodyPr wrap="square" lIns="0" tIns="0" rIns="0" bIns="0" rtlCol="0" anchor="ctr"/>
          <a:lstStyle/>
          <a:p>
            <a:pPr algn="r"/>
            <a:r>
              <a:rPr lang="en-US" sz="600" b="1" kern="0" spc="75" dirty="0">
                <a:solidFill>
                  <a:srgbClr val="4A7DFF"/>
                </a:solidFill>
                <a:latin typeface="Plus Jakarta Sans Medium" pitchFamily="34" charset="0"/>
                <a:ea typeface="Plus Jakarta Sans Medium" pitchFamily="34" charset="-122"/>
                <a:cs typeface="Plus Jakarta Sans Medium" pitchFamily="34" charset="-120"/>
              </a:rPr>
              <a:t>KNOWLEDGE</a:t>
            </a:r>
            <a:endParaRPr lang="en-US" sz="600" dirty="0"/>
          </a:p>
        </p:txBody>
      </p:sp>
      <p:sp>
        <p:nvSpPr>
          <p:cNvPr id="16" name="Text 14"/>
          <p:cNvSpPr txBox="1"/>
          <p:nvPr/>
        </p:nvSpPr>
        <p:spPr>
          <a:xfrm>
            <a:off x="576072" y="2715768"/>
            <a:ext cx="2345436" cy="137160"/>
          </a:xfrm>
          <a:prstGeom prst="rect">
            <a:avLst/>
          </a:prstGeom>
          <a:noFill/>
          <a:ln/>
        </p:spPr>
        <p:txBody>
          <a:bodyPr wrap="square" lIns="0" tIns="0" rIns="0" bIns="0" rtlCol="0" anchor="ctr"/>
          <a:lstStyle/>
          <a:p>
            <a:r>
              <a:rPr lang="en-US" sz="600" dirty="0">
                <a:solidFill>
                  <a:schemeClr val="tx1">
                    <a:lumMod val="65000"/>
                    <a:lumOff val="35000"/>
                  </a:schemeClr>
                </a:solidFill>
                <a:latin typeface="Plus Jakarta Sans Medium" pitchFamily="34" charset="0"/>
                <a:ea typeface="Plus Jakarta Sans Medium" pitchFamily="34" charset="-122"/>
                <a:cs typeface="Plus Jakarta Sans Medium" pitchFamily="34" charset="-120"/>
              </a:rPr>
              <a:t>Determines which control family applies.</a:t>
            </a:r>
            <a:endParaRPr lang="en-US" sz="600" dirty="0">
              <a:solidFill>
                <a:schemeClr val="tx1">
                  <a:lumMod val="65000"/>
                  <a:lumOff val="35000"/>
                </a:schemeClr>
              </a:solidFill>
            </a:endParaRPr>
          </a:p>
        </p:txBody>
      </p:sp>
      <p:sp>
        <p:nvSpPr>
          <p:cNvPr id="18" name="Text 16"/>
          <p:cNvSpPr txBox="1"/>
          <p:nvPr/>
        </p:nvSpPr>
        <p:spPr>
          <a:xfrm>
            <a:off x="3415284" y="1225710"/>
            <a:ext cx="2345436" cy="137160"/>
          </a:xfrm>
          <a:prstGeom prst="rect">
            <a:avLst/>
          </a:prstGeom>
          <a:noFill/>
          <a:ln/>
        </p:spPr>
        <p:txBody>
          <a:bodyPr wrap="square" lIns="0" tIns="0" rIns="0" bIns="0" rtlCol="0" anchor="ctr"/>
          <a:lstStyle/>
          <a:p>
            <a:r>
              <a:rPr lang="en-US" sz="800" b="1" kern="0" spc="120" dirty="0">
                <a:solidFill>
                  <a:schemeClr val="accent4"/>
                </a:solidFill>
                <a:latin typeface="Plus Jakarta Sans Medium" pitchFamily="34" charset="0"/>
                <a:ea typeface="Plus Jakarta Sans Medium" pitchFamily="34" charset="-122"/>
                <a:cs typeface="Plus Jakarta Sans Medium" pitchFamily="34" charset="-120"/>
              </a:rPr>
              <a:t>QUESTION 2 · REVERSIBILITY</a:t>
            </a:r>
            <a:endParaRPr lang="en-US" sz="800" dirty="0">
              <a:solidFill>
                <a:schemeClr val="accent4"/>
              </a:solidFill>
            </a:endParaRPr>
          </a:p>
        </p:txBody>
      </p:sp>
      <p:sp>
        <p:nvSpPr>
          <p:cNvPr id="19" name="Text 17"/>
          <p:cNvSpPr txBox="1"/>
          <p:nvPr/>
        </p:nvSpPr>
        <p:spPr>
          <a:xfrm>
            <a:off x="3415284" y="1426464"/>
            <a:ext cx="2345436" cy="205740"/>
          </a:xfrm>
          <a:prstGeom prst="rect">
            <a:avLst/>
          </a:prstGeom>
          <a:noFill/>
          <a:ln/>
        </p:spPr>
        <p:txBody>
          <a:bodyPr wrap="square" lIns="0" tIns="0" rIns="0" bIns="0" rtlCol="0" anchor="t"/>
          <a:lstStyle/>
          <a:p>
            <a:r>
              <a:rPr lang="en-US" sz="600" b="1" dirty="0">
                <a:latin typeface="Plus Jakarta Sans ExtraLight" pitchFamily="34" charset="0"/>
                <a:ea typeface="Plus Jakarta Sans ExtraLight" pitchFamily="34" charset="-122"/>
                <a:cs typeface="Plus Jakarta Sans ExtraLight" pitchFamily="34" charset="-120"/>
              </a:rPr>
              <a:t>“We find out an hour later it was wrong. What does it take to undo?”</a:t>
            </a:r>
            <a:endParaRPr lang="en-US" sz="600" b="1" dirty="0"/>
          </a:p>
        </p:txBody>
      </p:sp>
      <p:sp>
        <p:nvSpPr>
          <p:cNvPr id="20" name="Text 18"/>
          <p:cNvSpPr txBox="1"/>
          <p:nvPr/>
        </p:nvSpPr>
        <p:spPr>
          <a:xfrm>
            <a:off x="3415284" y="1700784"/>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R1</a:t>
            </a:r>
            <a:endParaRPr lang="en-US" sz="675" dirty="0"/>
          </a:p>
        </p:txBody>
      </p:sp>
      <p:sp>
        <p:nvSpPr>
          <p:cNvPr id="21" name="Text 19"/>
          <p:cNvSpPr txBox="1"/>
          <p:nvPr/>
        </p:nvSpPr>
        <p:spPr>
          <a:xfrm>
            <a:off x="3675888" y="1700784"/>
            <a:ext cx="2071116" cy="233172"/>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We change it. No one noticed.</a:t>
            </a:r>
            <a:endParaRPr lang="en-US" sz="638" dirty="0">
              <a:solidFill>
                <a:schemeClr val="tx1">
                  <a:lumMod val="65000"/>
                  <a:lumOff val="35000"/>
                </a:schemeClr>
              </a:solidFill>
            </a:endParaRPr>
          </a:p>
        </p:txBody>
      </p:sp>
      <p:sp>
        <p:nvSpPr>
          <p:cNvPr id="22" name="Text 20"/>
          <p:cNvSpPr txBox="1"/>
          <p:nvPr/>
        </p:nvSpPr>
        <p:spPr>
          <a:xfrm>
            <a:off x="3415284" y="1961388"/>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R2</a:t>
            </a:r>
            <a:endParaRPr lang="en-US" sz="675" dirty="0"/>
          </a:p>
        </p:txBody>
      </p:sp>
      <p:sp>
        <p:nvSpPr>
          <p:cNvPr id="23" name="Text 21"/>
          <p:cNvSpPr txBox="1"/>
          <p:nvPr/>
        </p:nvSpPr>
        <p:spPr>
          <a:xfrm>
            <a:off x="3675888" y="1961388"/>
            <a:ext cx="2071116" cy="233172"/>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We undo it ourselves, inside a known window.</a:t>
            </a:r>
            <a:endParaRPr lang="en-US" sz="638" dirty="0">
              <a:solidFill>
                <a:schemeClr val="tx1">
                  <a:lumMod val="65000"/>
                  <a:lumOff val="35000"/>
                </a:schemeClr>
              </a:solidFill>
            </a:endParaRPr>
          </a:p>
        </p:txBody>
      </p:sp>
      <p:sp>
        <p:nvSpPr>
          <p:cNvPr id="24" name="Text 22"/>
          <p:cNvSpPr txBox="1"/>
          <p:nvPr/>
        </p:nvSpPr>
        <p:spPr>
          <a:xfrm>
            <a:off x="3415284" y="2221992"/>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R3</a:t>
            </a:r>
            <a:endParaRPr lang="en-US" sz="675" dirty="0"/>
          </a:p>
        </p:txBody>
      </p:sp>
      <p:sp>
        <p:nvSpPr>
          <p:cNvPr id="25" name="Text 23"/>
          <p:cNvSpPr txBox="1"/>
          <p:nvPr/>
        </p:nvSpPr>
        <p:spPr>
          <a:xfrm>
            <a:off x="3675888" y="2221992"/>
            <a:ext cx="2071116" cy="233172"/>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Another party must cooperate to undo it.</a:t>
            </a:r>
            <a:endParaRPr lang="en-US" sz="638" dirty="0">
              <a:solidFill>
                <a:schemeClr val="tx1">
                  <a:lumMod val="65000"/>
                  <a:lumOff val="35000"/>
                </a:schemeClr>
              </a:solidFill>
            </a:endParaRPr>
          </a:p>
        </p:txBody>
      </p:sp>
      <p:sp>
        <p:nvSpPr>
          <p:cNvPr id="26" name="Text 24"/>
          <p:cNvSpPr txBox="1"/>
          <p:nvPr/>
        </p:nvSpPr>
        <p:spPr>
          <a:xfrm>
            <a:off x="3415284" y="2482596"/>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R4</a:t>
            </a:r>
            <a:endParaRPr lang="en-US" sz="675" dirty="0"/>
          </a:p>
        </p:txBody>
      </p:sp>
      <p:sp>
        <p:nvSpPr>
          <p:cNvPr id="27" name="Text 25"/>
          <p:cNvSpPr txBox="1"/>
          <p:nvPr/>
        </p:nvSpPr>
        <p:spPr>
          <a:xfrm>
            <a:off x="3675888" y="2482596"/>
            <a:ext cx="2071116" cy="233172"/>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It cannot be undone — sent, paid, published, filed, or acted on.</a:t>
            </a:r>
            <a:endParaRPr lang="en-US" sz="638" dirty="0">
              <a:solidFill>
                <a:schemeClr val="tx1">
                  <a:lumMod val="65000"/>
                  <a:lumOff val="35000"/>
                </a:schemeClr>
              </a:solidFill>
            </a:endParaRPr>
          </a:p>
        </p:txBody>
      </p:sp>
      <p:sp>
        <p:nvSpPr>
          <p:cNvPr id="28" name="Text 26"/>
          <p:cNvSpPr txBox="1"/>
          <p:nvPr/>
        </p:nvSpPr>
        <p:spPr>
          <a:xfrm>
            <a:off x="3415284" y="2715768"/>
            <a:ext cx="2345436" cy="137160"/>
          </a:xfrm>
          <a:prstGeom prst="rect">
            <a:avLst/>
          </a:prstGeom>
          <a:noFill/>
          <a:ln/>
        </p:spPr>
        <p:txBody>
          <a:bodyPr wrap="square" lIns="0" tIns="0" rIns="0" bIns="0" rtlCol="0" anchor="ctr"/>
          <a:lstStyle/>
          <a:p>
            <a:r>
              <a:rPr lang="en-US" sz="600" dirty="0">
                <a:solidFill>
                  <a:schemeClr val="tx1">
                    <a:lumMod val="65000"/>
                    <a:lumOff val="35000"/>
                  </a:schemeClr>
                </a:solidFill>
                <a:latin typeface="Plus Jakarta Sans Medium" pitchFamily="34" charset="0"/>
                <a:ea typeface="Plus Jakarta Sans Medium" pitchFamily="34" charset="-122"/>
                <a:cs typeface="Plus Jakarta Sans Medium" pitchFamily="34" charset="-120"/>
              </a:rPr>
              <a:t>Blank is not an answer. “None” is.</a:t>
            </a:r>
            <a:endParaRPr lang="en-US" sz="600" dirty="0">
              <a:solidFill>
                <a:schemeClr val="tx1">
                  <a:lumMod val="65000"/>
                  <a:lumOff val="35000"/>
                </a:schemeClr>
              </a:solidFill>
            </a:endParaRPr>
          </a:p>
        </p:txBody>
      </p:sp>
      <p:sp>
        <p:nvSpPr>
          <p:cNvPr id="30" name="Text 28"/>
          <p:cNvSpPr txBox="1"/>
          <p:nvPr/>
        </p:nvSpPr>
        <p:spPr>
          <a:xfrm>
            <a:off x="6254496" y="1225710"/>
            <a:ext cx="2345436" cy="137160"/>
          </a:xfrm>
          <a:prstGeom prst="rect">
            <a:avLst/>
          </a:prstGeom>
          <a:noFill/>
          <a:ln/>
        </p:spPr>
        <p:txBody>
          <a:bodyPr wrap="square" lIns="0" tIns="0" rIns="0" bIns="0" rtlCol="0" anchor="ctr"/>
          <a:lstStyle/>
          <a:p>
            <a:r>
              <a:rPr lang="en-US" sz="800" b="1" kern="0" spc="120" dirty="0">
                <a:solidFill>
                  <a:schemeClr val="accent4"/>
                </a:solidFill>
                <a:latin typeface="Plus Jakarta Sans Medium" pitchFamily="34" charset="0"/>
                <a:ea typeface="Plus Jakarta Sans Medium" pitchFamily="34" charset="-122"/>
                <a:cs typeface="Plus Jakarta Sans Medium" pitchFamily="34" charset="-120"/>
              </a:rPr>
              <a:t>QUESTION 3 · REACH</a:t>
            </a:r>
            <a:endParaRPr lang="en-US" sz="800" dirty="0">
              <a:solidFill>
                <a:schemeClr val="accent4"/>
              </a:solidFill>
            </a:endParaRPr>
          </a:p>
        </p:txBody>
      </p:sp>
      <p:sp>
        <p:nvSpPr>
          <p:cNvPr id="31" name="Text 29"/>
          <p:cNvSpPr txBox="1"/>
          <p:nvPr/>
        </p:nvSpPr>
        <p:spPr>
          <a:xfrm>
            <a:off x="6254496" y="1426464"/>
            <a:ext cx="2345436" cy="205740"/>
          </a:xfrm>
          <a:prstGeom prst="rect">
            <a:avLst/>
          </a:prstGeom>
          <a:noFill/>
          <a:ln/>
        </p:spPr>
        <p:txBody>
          <a:bodyPr wrap="square" lIns="0" tIns="0" rIns="0" bIns="0" rtlCol="0" anchor="t"/>
          <a:lstStyle/>
          <a:p>
            <a:r>
              <a:rPr lang="en-US" sz="600" b="1" dirty="0">
                <a:latin typeface="Plus Jakarta Sans ExtraLight" pitchFamily="34" charset="0"/>
                <a:ea typeface="Plus Jakarta Sans ExtraLight" pitchFamily="34" charset="-122"/>
                <a:cs typeface="Plus Jakarta Sans ExtraLight" pitchFamily="34" charset="-120"/>
              </a:rPr>
              <a:t>“Who is affected, or would find out?”</a:t>
            </a:r>
            <a:endParaRPr lang="en-US" sz="600" b="1" dirty="0"/>
          </a:p>
        </p:txBody>
      </p:sp>
      <p:sp>
        <p:nvSpPr>
          <p:cNvPr id="32" name="Text 30"/>
          <p:cNvSpPr txBox="1"/>
          <p:nvPr/>
        </p:nvSpPr>
        <p:spPr>
          <a:xfrm>
            <a:off x="6254496" y="1687068"/>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H1</a:t>
            </a:r>
            <a:endParaRPr lang="en-US" sz="675" dirty="0"/>
          </a:p>
        </p:txBody>
      </p:sp>
      <p:sp>
        <p:nvSpPr>
          <p:cNvPr id="33" name="Text 31"/>
          <p:cNvSpPr txBox="1"/>
          <p:nvPr/>
        </p:nvSpPr>
        <p:spPr>
          <a:xfrm>
            <a:off x="6515100" y="1687068"/>
            <a:ext cx="2071116" cy="192024"/>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Only our own people.</a:t>
            </a:r>
            <a:endParaRPr lang="en-US" sz="638" dirty="0">
              <a:solidFill>
                <a:schemeClr val="tx1">
                  <a:lumMod val="65000"/>
                  <a:lumOff val="35000"/>
                </a:schemeClr>
              </a:solidFill>
            </a:endParaRPr>
          </a:p>
        </p:txBody>
      </p:sp>
      <p:sp>
        <p:nvSpPr>
          <p:cNvPr id="34" name="Text 32"/>
          <p:cNvSpPr txBox="1"/>
          <p:nvPr/>
        </p:nvSpPr>
        <p:spPr>
          <a:xfrm>
            <a:off x="6254496" y="1899666"/>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H2</a:t>
            </a:r>
            <a:endParaRPr lang="en-US" sz="675" dirty="0"/>
          </a:p>
        </p:txBody>
      </p:sp>
      <p:sp>
        <p:nvSpPr>
          <p:cNvPr id="35" name="Text 33"/>
          <p:cNvSpPr txBox="1"/>
          <p:nvPr/>
        </p:nvSpPr>
        <p:spPr>
          <a:xfrm>
            <a:off x="6515100" y="1899666"/>
            <a:ext cx="2071116" cy="192024"/>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One named customer, patient or citizen.</a:t>
            </a:r>
            <a:endParaRPr lang="en-US" sz="638" dirty="0">
              <a:solidFill>
                <a:schemeClr val="tx1">
                  <a:lumMod val="65000"/>
                  <a:lumOff val="35000"/>
                </a:schemeClr>
              </a:solidFill>
            </a:endParaRPr>
          </a:p>
        </p:txBody>
      </p:sp>
      <p:sp>
        <p:nvSpPr>
          <p:cNvPr id="36" name="Text 34"/>
          <p:cNvSpPr txBox="1"/>
          <p:nvPr/>
        </p:nvSpPr>
        <p:spPr>
          <a:xfrm>
            <a:off x="6254496" y="2112264"/>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H3</a:t>
            </a:r>
            <a:endParaRPr lang="en-US" sz="675" dirty="0"/>
          </a:p>
        </p:txBody>
      </p:sp>
      <p:sp>
        <p:nvSpPr>
          <p:cNvPr id="37" name="Text 35"/>
          <p:cNvSpPr txBox="1"/>
          <p:nvPr/>
        </p:nvSpPr>
        <p:spPr>
          <a:xfrm>
            <a:off x="6515100" y="2112264"/>
            <a:ext cx="2071116" cy="192024"/>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 record a regulator can inspect.</a:t>
            </a:r>
            <a:endParaRPr lang="en-US" sz="638" dirty="0">
              <a:solidFill>
                <a:schemeClr val="tx1">
                  <a:lumMod val="65000"/>
                  <a:lumOff val="35000"/>
                </a:schemeClr>
              </a:solidFill>
            </a:endParaRPr>
          </a:p>
        </p:txBody>
      </p:sp>
      <p:sp>
        <p:nvSpPr>
          <p:cNvPr id="38" name="Text 36"/>
          <p:cNvSpPr txBox="1"/>
          <p:nvPr/>
        </p:nvSpPr>
        <p:spPr>
          <a:xfrm>
            <a:off x="6254496" y="2324862"/>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H4</a:t>
            </a:r>
            <a:endParaRPr lang="en-US" sz="675" dirty="0"/>
          </a:p>
        </p:txBody>
      </p:sp>
      <p:sp>
        <p:nvSpPr>
          <p:cNvPr id="39" name="Text 37"/>
          <p:cNvSpPr txBox="1"/>
          <p:nvPr/>
        </p:nvSpPr>
        <p:spPr>
          <a:xfrm>
            <a:off x="6515100" y="2324862"/>
            <a:ext cx="2071116" cy="192024"/>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Anyone can see it, or an unnamed population.</a:t>
            </a:r>
            <a:endParaRPr lang="en-US" sz="638" dirty="0">
              <a:solidFill>
                <a:schemeClr val="tx1">
                  <a:lumMod val="65000"/>
                  <a:lumOff val="35000"/>
                </a:schemeClr>
              </a:solidFill>
            </a:endParaRPr>
          </a:p>
        </p:txBody>
      </p:sp>
      <p:sp>
        <p:nvSpPr>
          <p:cNvPr id="40" name="Text 38"/>
          <p:cNvSpPr txBox="1"/>
          <p:nvPr/>
        </p:nvSpPr>
        <p:spPr>
          <a:xfrm>
            <a:off x="6254496" y="2537460"/>
            <a:ext cx="233172"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H5</a:t>
            </a:r>
            <a:endParaRPr lang="en-US" sz="675" dirty="0"/>
          </a:p>
        </p:txBody>
      </p:sp>
      <p:sp>
        <p:nvSpPr>
          <p:cNvPr id="41" name="Text 39"/>
          <p:cNvSpPr txBox="1"/>
          <p:nvPr/>
        </p:nvSpPr>
        <p:spPr>
          <a:xfrm>
            <a:off x="6515100" y="2537460"/>
            <a:ext cx="2071116" cy="192024"/>
          </a:xfrm>
          <a:prstGeom prst="rect">
            <a:avLst/>
          </a:prstGeom>
          <a:noFill/>
          <a:ln/>
        </p:spPr>
        <p:txBody>
          <a:bodyPr wrap="square" lIns="0" tIns="0" rIns="0" bIns="0" rtlCol="0" anchor="t"/>
          <a:lstStyle/>
          <a:p>
            <a:pPr>
              <a:lnSpc>
                <a:spcPct val="110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Physical safety, health, or an essential service.</a:t>
            </a:r>
            <a:endParaRPr lang="en-US" sz="638" dirty="0">
              <a:solidFill>
                <a:schemeClr val="tx1">
                  <a:lumMod val="65000"/>
                  <a:lumOff val="35000"/>
                </a:schemeClr>
              </a:solidFill>
            </a:endParaRPr>
          </a:p>
        </p:txBody>
      </p:sp>
      <p:sp>
        <p:nvSpPr>
          <p:cNvPr id="42" name="Text 40"/>
          <p:cNvSpPr txBox="1"/>
          <p:nvPr/>
        </p:nvSpPr>
        <p:spPr>
          <a:xfrm>
            <a:off x="6254496" y="2715768"/>
            <a:ext cx="2345436" cy="137160"/>
          </a:xfrm>
          <a:prstGeom prst="rect">
            <a:avLst/>
          </a:prstGeom>
          <a:noFill/>
          <a:ln/>
        </p:spPr>
        <p:txBody>
          <a:bodyPr wrap="square" lIns="0" tIns="0" rIns="0" bIns="0" rtlCol="0" anchor="ctr"/>
          <a:lstStyle/>
          <a:p>
            <a:r>
              <a:rPr lang="en-US" sz="600" dirty="0">
                <a:solidFill>
                  <a:schemeClr val="tx1">
                    <a:lumMod val="65000"/>
                    <a:lumOff val="35000"/>
                  </a:schemeClr>
                </a:solidFill>
                <a:latin typeface="Plus Jakarta Sans Medium" pitchFamily="34" charset="0"/>
                <a:ea typeface="Plus Jakarta Sans Medium" pitchFamily="34" charset="-122"/>
                <a:cs typeface="Plus Jakarta Sans Medium" pitchFamily="34" charset="-120"/>
              </a:rPr>
              <a:t>Take the worse of Q2 and Q3.</a:t>
            </a:r>
            <a:endParaRPr lang="en-US" sz="600" dirty="0">
              <a:solidFill>
                <a:schemeClr val="tx1">
                  <a:lumMod val="65000"/>
                  <a:lumOff val="35000"/>
                </a:schemeClr>
              </a:solidFill>
            </a:endParaRPr>
          </a:p>
        </p:txBody>
      </p:sp>
      <p:sp>
        <p:nvSpPr>
          <p:cNvPr id="44" name="Text 42"/>
          <p:cNvSpPr txBox="1"/>
          <p:nvPr/>
        </p:nvSpPr>
        <p:spPr>
          <a:xfrm>
            <a:off x="617220" y="3168396"/>
            <a:ext cx="4800600" cy="137160"/>
          </a:xfrm>
          <a:prstGeom prst="rect">
            <a:avLst/>
          </a:prstGeom>
          <a:noFill/>
          <a:ln/>
        </p:spPr>
        <p:txBody>
          <a:bodyPr wrap="square" lIns="0" tIns="0" rIns="0" bIns="0" rtlCol="0" anchor="ctr"/>
          <a:lstStyle/>
          <a:p>
            <a:r>
              <a:rPr lang="en-US" sz="800" b="1" kern="0" spc="120" dirty="0">
                <a:solidFill>
                  <a:schemeClr val="accent4"/>
                </a:solidFill>
                <a:latin typeface="Plus Jakarta Sans Medium" pitchFamily="34" charset="0"/>
                <a:ea typeface="Plus Jakarta Sans Medium" pitchFamily="34" charset="-122"/>
                <a:cs typeface="Plus Jakarta Sans Medium" pitchFamily="34" charset="-120"/>
              </a:rPr>
              <a:t>THE ANSWERS GIVE YOU THE CEILING — NO JUDGEMENT REQUIRED</a:t>
            </a:r>
            <a:endParaRPr lang="en-US" sz="800" dirty="0">
              <a:solidFill>
                <a:schemeClr val="accent4"/>
              </a:solidFill>
            </a:endParaRPr>
          </a:p>
        </p:txBody>
      </p:sp>
      <p:sp>
        <p:nvSpPr>
          <p:cNvPr id="45" name="Text 43"/>
          <p:cNvSpPr txBox="1"/>
          <p:nvPr/>
        </p:nvSpPr>
        <p:spPr>
          <a:xfrm>
            <a:off x="617220" y="3374136"/>
            <a:ext cx="342900" cy="164592"/>
          </a:xfrm>
          <a:prstGeom prst="rect">
            <a:avLst/>
          </a:prstGeom>
          <a:noFill/>
          <a:ln/>
        </p:spPr>
        <p:txBody>
          <a:bodyPr wrap="square" lIns="0" tIns="0" rIns="0" bIns="0" rtlCol="0" anchor="ctr"/>
          <a:lstStyle/>
          <a:p>
            <a:r>
              <a:rPr lang="en-US" sz="900" dirty="0">
                <a:solidFill>
                  <a:schemeClr val="accent4"/>
                </a:solidFill>
                <a:latin typeface="Plus Jakarta Sans ExtraBold" pitchFamily="34" charset="0"/>
                <a:ea typeface="Plus Jakarta Sans ExtraBold" pitchFamily="34" charset="-122"/>
                <a:cs typeface="Plus Jakarta Sans ExtraBold" pitchFamily="34" charset="-120"/>
              </a:rPr>
              <a:t>E1</a:t>
            </a:r>
            <a:endParaRPr lang="en-US" sz="900" dirty="0">
              <a:solidFill>
                <a:schemeClr val="accent4"/>
              </a:solidFill>
            </a:endParaRPr>
          </a:p>
        </p:txBody>
      </p:sp>
      <p:sp>
        <p:nvSpPr>
          <p:cNvPr id="46" name="Text 44"/>
          <p:cNvSpPr txBox="1"/>
          <p:nvPr/>
        </p:nvSpPr>
        <p:spPr>
          <a:xfrm>
            <a:off x="918972" y="3401568"/>
            <a:ext cx="1159002" cy="137160"/>
          </a:xfrm>
          <a:prstGeom prst="rect">
            <a:avLst/>
          </a:prstGeom>
          <a:noFill/>
          <a:ln/>
        </p:spPr>
        <p:txBody>
          <a:bodyPr wrap="square" lIns="0" tIns="0" rIns="0" bIns="0" rtlCol="0" anchor="ctr"/>
          <a:lstStyle/>
          <a:p>
            <a:r>
              <a:rPr lang="en-US" sz="600" dirty="0">
                <a:latin typeface="Plus Jakarta Sans Medium" pitchFamily="34" charset="0"/>
                <a:ea typeface="Plus Jakarta Sans Medium" pitchFamily="34" charset="-122"/>
                <a:cs typeface="Plus Jakarta Sans Medium" pitchFamily="34" charset="-120"/>
              </a:rPr>
              <a:t>R1–R2 and H1</a:t>
            </a:r>
            <a:endParaRPr lang="en-US" sz="600" dirty="0"/>
          </a:p>
        </p:txBody>
      </p:sp>
      <p:sp>
        <p:nvSpPr>
          <p:cNvPr id="47" name="Text 45"/>
          <p:cNvSpPr txBox="1"/>
          <p:nvPr/>
        </p:nvSpPr>
        <p:spPr>
          <a:xfrm>
            <a:off x="617220" y="3566160"/>
            <a:ext cx="1447038" cy="329184"/>
          </a:xfrm>
          <a:prstGeom prst="rect">
            <a:avLst/>
          </a:prstGeom>
          <a:noFill/>
          <a:ln/>
        </p:spPr>
        <p:txBody>
          <a:bodyPr wrap="square" lIns="0" tIns="0" rIns="0" bIns="0" rtlCol="0" anchor="t"/>
          <a:lstStyle/>
          <a:p>
            <a:pPr>
              <a:lnSpc>
                <a:spcPct val="112000"/>
              </a:lnSpc>
            </a:pPr>
            <a:r>
              <a:rPr lang="en-US" sz="600" dirty="0">
                <a:latin typeface="Plus Jakarta Sans ExtraLight" pitchFamily="34" charset="0"/>
                <a:ea typeface="Plus Jakarta Sans ExtraLight" pitchFamily="34" charset="-122"/>
                <a:cs typeface="Plus Jakarta Sans ExtraLight" pitchFamily="34" charset="-120"/>
              </a:rPr>
              <a:t>Out of the loop</a:t>
            </a:r>
            <a:endParaRPr lang="en-US" sz="600" dirty="0"/>
          </a:p>
        </p:txBody>
      </p:sp>
      <p:sp>
        <p:nvSpPr>
          <p:cNvPr id="48" name="Text 46"/>
          <p:cNvSpPr txBox="1"/>
          <p:nvPr/>
        </p:nvSpPr>
        <p:spPr>
          <a:xfrm>
            <a:off x="2187702" y="3374136"/>
            <a:ext cx="342900" cy="164592"/>
          </a:xfrm>
          <a:prstGeom prst="rect">
            <a:avLst/>
          </a:prstGeom>
          <a:noFill/>
          <a:ln/>
        </p:spPr>
        <p:txBody>
          <a:bodyPr wrap="square" lIns="0" tIns="0" rIns="0" bIns="0" rtlCol="0" anchor="ctr"/>
          <a:lstStyle/>
          <a:p>
            <a:r>
              <a:rPr lang="en-US" sz="900" dirty="0">
                <a:solidFill>
                  <a:schemeClr val="accent4"/>
                </a:solidFill>
                <a:latin typeface="Plus Jakarta Sans ExtraBold" pitchFamily="34" charset="0"/>
                <a:ea typeface="Plus Jakarta Sans ExtraBold" pitchFamily="34" charset="-122"/>
                <a:cs typeface="Plus Jakarta Sans ExtraBold" pitchFamily="34" charset="-120"/>
              </a:rPr>
              <a:t>E2</a:t>
            </a:r>
            <a:endParaRPr lang="en-US" sz="900" dirty="0">
              <a:solidFill>
                <a:schemeClr val="accent4"/>
              </a:solidFill>
            </a:endParaRPr>
          </a:p>
        </p:txBody>
      </p:sp>
      <p:sp>
        <p:nvSpPr>
          <p:cNvPr id="49" name="Text 47"/>
          <p:cNvSpPr txBox="1"/>
          <p:nvPr/>
        </p:nvSpPr>
        <p:spPr>
          <a:xfrm>
            <a:off x="2489454" y="3401568"/>
            <a:ext cx="1159002" cy="137160"/>
          </a:xfrm>
          <a:prstGeom prst="rect">
            <a:avLst/>
          </a:prstGeom>
          <a:noFill/>
          <a:ln/>
        </p:spPr>
        <p:txBody>
          <a:bodyPr wrap="square" lIns="0" tIns="0" rIns="0" bIns="0" rtlCol="0" anchor="ctr"/>
          <a:lstStyle/>
          <a:p>
            <a:r>
              <a:rPr lang="en-US" sz="600" dirty="0">
                <a:latin typeface="Plus Jakarta Sans Medium" pitchFamily="34" charset="0"/>
                <a:ea typeface="Plus Jakarta Sans Medium" pitchFamily="34" charset="-122"/>
                <a:cs typeface="Plus Jakarta Sans Medium" pitchFamily="34" charset="-120"/>
              </a:rPr>
              <a:t>R3, or H2</a:t>
            </a:r>
            <a:endParaRPr lang="en-US" sz="600" dirty="0"/>
          </a:p>
        </p:txBody>
      </p:sp>
      <p:sp>
        <p:nvSpPr>
          <p:cNvPr id="50" name="Text 48"/>
          <p:cNvSpPr txBox="1"/>
          <p:nvPr/>
        </p:nvSpPr>
        <p:spPr>
          <a:xfrm>
            <a:off x="2187702" y="3566160"/>
            <a:ext cx="1447038" cy="329184"/>
          </a:xfrm>
          <a:prstGeom prst="rect">
            <a:avLst/>
          </a:prstGeom>
          <a:noFill/>
          <a:ln/>
        </p:spPr>
        <p:txBody>
          <a:bodyPr wrap="square" lIns="0" tIns="0" rIns="0" bIns="0" rtlCol="0" anchor="t"/>
          <a:lstStyle/>
          <a:p>
            <a:pPr>
              <a:lnSpc>
                <a:spcPct val="112000"/>
              </a:lnSpc>
            </a:pPr>
            <a:r>
              <a:rPr lang="en-US" sz="600" dirty="0">
                <a:latin typeface="Plus Jakarta Sans ExtraLight" pitchFamily="34" charset="0"/>
                <a:ea typeface="Plus Jakarta Sans ExtraLight" pitchFamily="34" charset="-122"/>
                <a:cs typeface="Plus Jakarta Sans ExtraLight" pitchFamily="34" charset="-120"/>
              </a:rPr>
              <a:t>On the loop, with a stated intervention window</a:t>
            </a:r>
            <a:endParaRPr lang="en-US" sz="600" dirty="0"/>
          </a:p>
        </p:txBody>
      </p:sp>
      <p:sp>
        <p:nvSpPr>
          <p:cNvPr id="51" name="Text 49"/>
          <p:cNvSpPr txBox="1"/>
          <p:nvPr/>
        </p:nvSpPr>
        <p:spPr>
          <a:xfrm>
            <a:off x="3758184" y="3374136"/>
            <a:ext cx="342900" cy="164592"/>
          </a:xfrm>
          <a:prstGeom prst="rect">
            <a:avLst/>
          </a:prstGeom>
          <a:noFill/>
          <a:ln/>
        </p:spPr>
        <p:txBody>
          <a:bodyPr wrap="square" lIns="0" tIns="0" rIns="0" bIns="0" rtlCol="0" anchor="ctr"/>
          <a:lstStyle/>
          <a:p>
            <a:r>
              <a:rPr lang="en-US" sz="900" dirty="0">
                <a:solidFill>
                  <a:schemeClr val="accent4"/>
                </a:solidFill>
                <a:latin typeface="Plus Jakarta Sans ExtraBold" pitchFamily="34" charset="0"/>
                <a:ea typeface="Plus Jakarta Sans ExtraBold" pitchFamily="34" charset="-122"/>
                <a:cs typeface="Plus Jakarta Sans ExtraBold" pitchFamily="34" charset="-120"/>
              </a:rPr>
              <a:t>E3</a:t>
            </a:r>
            <a:endParaRPr lang="en-US" sz="900" dirty="0">
              <a:solidFill>
                <a:schemeClr val="accent4"/>
              </a:solidFill>
            </a:endParaRPr>
          </a:p>
        </p:txBody>
      </p:sp>
      <p:sp>
        <p:nvSpPr>
          <p:cNvPr id="52" name="Text 50"/>
          <p:cNvSpPr txBox="1"/>
          <p:nvPr/>
        </p:nvSpPr>
        <p:spPr>
          <a:xfrm>
            <a:off x="4059936" y="3401568"/>
            <a:ext cx="1159002" cy="137160"/>
          </a:xfrm>
          <a:prstGeom prst="rect">
            <a:avLst/>
          </a:prstGeom>
          <a:noFill/>
          <a:ln/>
        </p:spPr>
        <p:txBody>
          <a:bodyPr wrap="square" lIns="0" tIns="0" rIns="0" bIns="0" rtlCol="0" anchor="ctr"/>
          <a:lstStyle/>
          <a:p>
            <a:r>
              <a:rPr lang="en-US" sz="600" dirty="0">
                <a:latin typeface="Plus Jakarta Sans Medium" pitchFamily="34" charset="0"/>
                <a:ea typeface="Plus Jakarta Sans Medium" pitchFamily="34" charset="-122"/>
                <a:cs typeface="Plus Jakarta Sans Medium" pitchFamily="34" charset="-120"/>
              </a:rPr>
              <a:t>R4, or H3</a:t>
            </a:r>
            <a:endParaRPr lang="en-US" sz="600" dirty="0"/>
          </a:p>
        </p:txBody>
      </p:sp>
      <p:sp>
        <p:nvSpPr>
          <p:cNvPr id="53" name="Text 51"/>
          <p:cNvSpPr txBox="1"/>
          <p:nvPr/>
        </p:nvSpPr>
        <p:spPr>
          <a:xfrm>
            <a:off x="3758184" y="3566160"/>
            <a:ext cx="1447038" cy="329184"/>
          </a:xfrm>
          <a:prstGeom prst="rect">
            <a:avLst/>
          </a:prstGeom>
          <a:noFill/>
          <a:ln/>
        </p:spPr>
        <p:txBody>
          <a:bodyPr wrap="square" lIns="0" tIns="0" rIns="0" bIns="0" rtlCol="0" anchor="t"/>
          <a:lstStyle/>
          <a:p>
            <a:pPr>
              <a:lnSpc>
                <a:spcPct val="112000"/>
              </a:lnSpc>
            </a:pPr>
            <a:r>
              <a:rPr lang="en-US" sz="600" dirty="0">
                <a:latin typeface="Plus Jakarta Sans ExtraLight" pitchFamily="34" charset="0"/>
                <a:ea typeface="Plus Jakarta Sans ExtraLight" pitchFamily="34" charset="-122"/>
                <a:cs typeface="Plus Jakarta Sans ExtraLight" pitchFamily="34" charset="-120"/>
              </a:rPr>
              <a:t>In the loop</a:t>
            </a:r>
            <a:endParaRPr lang="en-US" sz="600" dirty="0"/>
          </a:p>
        </p:txBody>
      </p:sp>
      <p:sp>
        <p:nvSpPr>
          <p:cNvPr id="54" name="Text 52"/>
          <p:cNvSpPr txBox="1"/>
          <p:nvPr/>
        </p:nvSpPr>
        <p:spPr>
          <a:xfrm>
            <a:off x="5328666" y="3374136"/>
            <a:ext cx="342900" cy="164592"/>
          </a:xfrm>
          <a:prstGeom prst="rect">
            <a:avLst/>
          </a:prstGeom>
          <a:noFill/>
          <a:ln/>
        </p:spPr>
        <p:txBody>
          <a:bodyPr wrap="square" lIns="0" tIns="0" rIns="0" bIns="0" rtlCol="0" anchor="ctr"/>
          <a:lstStyle/>
          <a:p>
            <a:r>
              <a:rPr lang="en-US" sz="900" dirty="0">
                <a:solidFill>
                  <a:schemeClr val="accent4"/>
                </a:solidFill>
                <a:latin typeface="Plus Jakarta Sans ExtraBold" pitchFamily="34" charset="0"/>
                <a:ea typeface="Plus Jakarta Sans ExtraBold" pitchFamily="34" charset="-122"/>
                <a:cs typeface="Plus Jakarta Sans ExtraBold" pitchFamily="34" charset="-120"/>
              </a:rPr>
              <a:t>E4</a:t>
            </a:r>
            <a:endParaRPr lang="en-US" sz="900" dirty="0">
              <a:solidFill>
                <a:schemeClr val="accent4"/>
              </a:solidFill>
            </a:endParaRPr>
          </a:p>
        </p:txBody>
      </p:sp>
      <p:sp>
        <p:nvSpPr>
          <p:cNvPr id="55" name="Text 53"/>
          <p:cNvSpPr txBox="1"/>
          <p:nvPr/>
        </p:nvSpPr>
        <p:spPr>
          <a:xfrm>
            <a:off x="5630418" y="3401568"/>
            <a:ext cx="1159002" cy="137160"/>
          </a:xfrm>
          <a:prstGeom prst="rect">
            <a:avLst/>
          </a:prstGeom>
          <a:noFill/>
          <a:ln/>
        </p:spPr>
        <p:txBody>
          <a:bodyPr wrap="square" lIns="0" tIns="0" rIns="0" bIns="0" rtlCol="0" anchor="ctr"/>
          <a:lstStyle/>
          <a:p>
            <a:r>
              <a:rPr lang="en-US" sz="600" dirty="0">
                <a:latin typeface="Plus Jakarta Sans Medium" pitchFamily="34" charset="0"/>
                <a:ea typeface="Plus Jakarta Sans Medium" pitchFamily="34" charset="-122"/>
                <a:cs typeface="Plus Jakarta Sans Medium" pitchFamily="34" charset="-120"/>
              </a:rPr>
              <a:t>H4</a:t>
            </a:r>
            <a:endParaRPr lang="en-US" sz="600" dirty="0"/>
          </a:p>
        </p:txBody>
      </p:sp>
      <p:sp>
        <p:nvSpPr>
          <p:cNvPr id="56" name="Text 54"/>
          <p:cNvSpPr txBox="1"/>
          <p:nvPr/>
        </p:nvSpPr>
        <p:spPr>
          <a:xfrm>
            <a:off x="5328666" y="3566160"/>
            <a:ext cx="1447038" cy="329184"/>
          </a:xfrm>
          <a:prstGeom prst="rect">
            <a:avLst/>
          </a:prstGeom>
          <a:noFill/>
          <a:ln/>
        </p:spPr>
        <p:txBody>
          <a:bodyPr wrap="square" lIns="0" tIns="0" rIns="0" bIns="0" rtlCol="0" anchor="t"/>
          <a:lstStyle/>
          <a:p>
            <a:pPr>
              <a:lnSpc>
                <a:spcPct val="112000"/>
              </a:lnSpc>
            </a:pPr>
            <a:r>
              <a:rPr lang="en-US" sz="600" dirty="0">
                <a:latin typeface="Plus Jakarta Sans ExtraLight" pitchFamily="34" charset="0"/>
                <a:ea typeface="Plus Jakarta Sans ExtraLight" pitchFamily="34" charset="-122"/>
                <a:cs typeface="Plus Jakarta Sans ExtraLight" pitchFamily="34" charset="-120"/>
              </a:rPr>
              <a:t>In the loop + independent second control</a:t>
            </a:r>
            <a:endParaRPr lang="en-US" sz="600" dirty="0"/>
          </a:p>
        </p:txBody>
      </p:sp>
      <p:sp>
        <p:nvSpPr>
          <p:cNvPr id="57" name="Text 55"/>
          <p:cNvSpPr txBox="1"/>
          <p:nvPr/>
        </p:nvSpPr>
        <p:spPr>
          <a:xfrm>
            <a:off x="6899148" y="3374136"/>
            <a:ext cx="342900" cy="164592"/>
          </a:xfrm>
          <a:prstGeom prst="rect">
            <a:avLst/>
          </a:prstGeom>
          <a:noFill/>
          <a:ln/>
        </p:spPr>
        <p:txBody>
          <a:bodyPr wrap="square" lIns="0" tIns="0" rIns="0" bIns="0" rtlCol="0" anchor="ctr"/>
          <a:lstStyle/>
          <a:p>
            <a:r>
              <a:rPr lang="en-US" sz="900" dirty="0">
                <a:solidFill>
                  <a:schemeClr val="accent4"/>
                </a:solidFill>
                <a:latin typeface="Plus Jakarta Sans ExtraBold" pitchFamily="34" charset="0"/>
                <a:ea typeface="Plus Jakarta Sans ExtraBold" pitchFamily="34" charset="-122"/>
                <a:cs typeface="Plus Jakarta Sans ExtraBold" pitchFamily="34" charset="-120"/>
              </a:rPr>
              <a:t>E5</a:t>
            </a:r>
            <a:endParaRPr lang="en-US" sz="900" dirty="0">
              <a:solidFill>
                <a:schemeClr val="accent4"/>
              </a:solidFill>
            </a:endParaRPr>
          </a:p>
        </p:txBody>
      </p:sp>
      <p:sp>
        <p:nvSpPr>
          <p:cNvPr id="58" name="Text 56"/>
          <p:cNvSpPr txBox="1"/>
          <p:nvPr/>
        </p:nvSpPr>
        <p:spPr>
          <a:xfrm>
            <a:off x="7200900" y="3401568"/>
            <a:ext cx="1159002" cy="137160"/>
          </a:xfrm>
          <a:prstGeom prst="rect">
            <a:avLst/>
          </a:prstGeom>
          <a:noFill/>
          <a:ln/>
        </p:spPr>
        <p:txBody>
          <a:bodyPr wrap="square" lIns="0" tIns="0" rIns="0" bIns="0" rtlCol="0" anchor="ctr"/>
          <a:lstStyle/>
          <a:p>
            <a:r>
              <a:rPr lang="en-US" sz="600" dirty="0">
                <a:latin typeface="Plus Jakarta Sans Medium" pitchFamily="34" charset="0"/>
                <a:ea typeface="Plus Jakarta Sans Medium" pitchFamily="34" charset="-122"/>
                <a:cs typeface="Plus Jakarta Sans Medium" pitchFamily="34" charset="-120"/>
              </a:rPr>
              <a:t>H5</a:t>
            </a:r>
            <a:endParaRPr lang="en-US" sz="600" dirty="0"/>
          </a:p>
        </p:txBody>
      </p:sp>
      <p:sp>
        <p:nvSpPr>
          <p:cNvPr id="59" name="Text 57"/>
          <p:cNvSpPr txBox="1"/>
          <p:nvPr/>
        </p:nvSpPr>
        <p:spPr>
          <a:xfrm>
            <a:off x="6899148" y="3566160"/>
            <a:ext cx="1447038" cy="329184"/>
          </a:xfrm>
          <a:prstGeom prst="rect">
            <a:avLst/>
          </a:prstGeom>
          <a:noFill/>
          <a:ln/>
        </p:spPr>
        <p:txBody>
          <a:bodyPr wrap="square" lIns="0" tIns="0" rIns="0" bIns="0" rtlCol="0" anchor="t"/>
          <a:lstStyle/>
          <a:p>
            <a:pPr>
              <a:lnSpc>
                <a:spcPct val="112000"/>
              </a:lnSpc>
            </a:pPr>
            <a:r>
              <a:rPr lang="en-US" sz="600" dirty="0">
                <a:latin typeface="Plus Jakarta Sans ExtraLight" pitchFamily="34" charset="0"/>
                <a:ea typeface="Plus Jakarta Sans ExtraLight" pitchFamily="34" charset="-122"/>
                <a:cs typeface="Plus Jakarta Sans ExtraLight" pitchFamily="34" charset="-120"/>
              </a:rPr>
              <a:t>In the loop + external safety sign-off</a:t>
            </a:r>
            <a:endParaRPr lang="en-US" sz="600" dirty="0"/>
          </a:p>
        </p:txBody>
      </p:sp>
      <p:sp>
        <p:nvSpPr>
          <p:cNvPr id="60" name="Text 58"/>
          <p:cNvSpPr txBox="1"/>
          <p:nvPr/>
        </p:nvSpPr>
        <p:spPr>
          <a:xfrm>
            <a:off x="617220" y="4089405"/>
            <a:ext cx="906843" cy="150876"/>
          </a:xfrm>
          <a:prstGeom prst="rect">
            <a:avLst/>
          </a:prstGeom>
          <a:noFill/>
          <a:ln/>
        </p:spPr>
        <p:txBody>
          <a:bodyPr wrap="square" lIns="0" tIns="0" rIns="0" bIns="0" rtlCol="0" anchor="ctr"/>
          <a:lstStyle/>
          <a:p>
            <a:r>
              <a:rPr lang="en-US" sz="638" dirty="0">
                <a:latin typeface="Plus Jakarta Sans Medium" pitchFamily="34" charset="0"/>
                <a:ea typeface="Plus Jakarta Sans Medium" pitchFamily="34" charset="-122"/>
                <a:cs typeface="Plus Jakarta Sans Medium" pitchFamily="34" charset="-120"/>
              </a:rPr>
              <a:t>Then three more.</a:t>
            </a:r>
            <a:endParaRPr lang="en-US" sz="638" dirty="0"/>
          </a:p>
        </p:txBody>
      </p:sp>
      <p:sp>
        <p:nvSpPr>
          <p:cNvPr id="61" name="Text 59"/>
          <p:cNvSpPr txBox="1"/>
          <p:nvPr/>
        </p:nvSpPr>
        <p:spPr>
          <a:xfrm>
            <a:off x="1604772" y="4073652"/>
            <a:ext cx="137160"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4</a:t>
            </a:r>
            <a:endParaRPr lang="en-US" sz="675" dirty="0"/>
          </a:p>
        </p:txBody>
      </p:sp>
      <p:sp>
        <p:nvSpPr>
          <p:cNvPr id="62" name="Text 60"/>
          <p:cNvSpPr txBox="1"/>
          <p:nvPr/>
        </p:nvSpPr>
        <p:spPr>
          <a:xfrm>
            <a:off x="1755648" y="4073652"/>
            <a:ext cx="2125980" cy="315468"/>
          </a:xfrm>
          <a:prstGeom prst="rect">
            <a:avLst/>
          </a:prstGeom>
          <a:noFill/>
          <a:ln/>
        </p:spPr>
        <p:txBody>
          <a:bodyPr wrap="square" lIns="0" tIns="0" rIns="0" bIns="0" rtlCol="0" anchor="t"/>
          <a:lstStyle/>
          <a:p>
            <a:pPr>
              <a:lnSpc>
                <a:spcPct val="114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Is the authority you want above the ceiling? Name the artefact that carries it instead — a template, a whitelist, a rule set, a blocking gate.</a:t>
            </a:r>
            <a:endParaRPr lang="en-US" sz="600" dirty="0">
              <a:solidFill>
                <a:schemeClr val="tx1">
                  <a:lumMod val="75000"/>
                  <a:lumOff val="25000"/>
                </a:schemeClr>
              </a:solidFill>
            </a:endParaRPr>
          </a:p>
        </p:txBody>
      </p:sp>
      <p:sp>
        <p:nvSpPr>
          <p:cNvPr id="63" name="Text 61"/>
          <p:cNvSpPr txBox="1"/>
          <p:nvPr/>
        </p:nvSpPr>
        <p:spPr>
          <a:xfrm>
            <a:off x="3977640" y="4073652"/>
            <a:ext cx="137160"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5</a:t>
            </a:r>
            <a:endParaRPr lang="en-US" sz="675" dirty="0"/>
          </a:p>
        </p:txBody>
      </p:sp>
      <p:sp>
        <p:nvSpPr>
          <p:cNvPr id="64" name="Text 62"/>
          <p:cNvSpPr txBox="1"/>
          <p:nvPr/>
        </p:nvSpPr>
        <p:spPr>
          <a:xfrm>
            <a:off x="4128516" y="4073652"/>
            <a:ext cx="2125980" cy="315468"/>
          </a:xfrm>
          <a:prstGeom prst="rect">
            <a:avLst/>
          </a:prstGeom>
          <a:noFill/>
          <a:ln/>
        </p:spPr>
        <p:txBody>
          <a:bodyPr wrap="square" lIns="0" tIns="0" rIns="0" bIns="0" rtlCol="0" anchor="t"/>
          <a:lstStyle/>
          <a:p>
            <a:pPr>
              <a:lnSpc>
                <a:spcPct val="114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Who owns this handover, by role? A team name is not an answer.</a:t>
            </a:r>
            <a:endParaRPr lang="en-US" sz="600" dirty="0">
              <a:solidFill>
                <a:schemeClr val="tx1">
                  <a:lumMod val="75000"/>
                  <a:lumOff val="25000"/>
                </a:schemeClr>
              </a:solidFill>
            </a:endParaRPr>
          </a:p>
        </p:txBody>
      </p:sp>
      <p:sp>
        <p:nvSpPr>
          <p:cNvPr id="65" name="Text 63"/>
          <p:cNvSpPr txBox="1"/>
          <p:nvPr/>
        </p:nvSpPr>
        <p:spPr>
          <a:xfrm>
            <a:off x="6350508" y="4073652"/>
            <a:ext cx="137160" cy="137160"/>
          </a:xfrm>
          <a:prstGeom prst="rect">
            <a:avLst/>
          </a:prstGeom>
          <a:noFill/>
          <a:ln/>
        </p:spPr>
        <p:txBody>
          <a:bodyPr wrap="square" lIns="0" tIns="0" rIns="0" bIns="0" rtlCol="0" anchor="ctr"/>
          <a:lstStyle/>
          <a:p>
            <a:r>
              <a:rPr lang="en-US" sz="675" dirty="0">
                <a:solidFill>
                  <a:srgbClr val="4A7DFF"/>
                </a:solidFill>
                <a:latin typeface="Plus Jakarta Sans ExtraBold" pitchFamily="34" charset="0"/>
                <a:ea typeface="Plus Jakarta Sans ExtraBold" pitchFamily="34" charset="-122"/>
                <a:cs typeface="Plus Jakarta Sans ExtraBold" pitchFamily="34" charset="-120"/>
              </a:rPr>
              <a:t>6</a:t>
            </a:r>
            <a:endParaRPr lang="en-US" sz="675" dirty="0"/>
          </a:p>
        </p:txBody>
      </p:sp>
      <p:sp>
        <p:nvSpPr>
          <p:cNvPr id="66" name="Text 64"/>
          <p:cNvSpPr txBox="1"/>
          <p:nvPr/>
        </p:nvSpPr>
        <p:spPr>
          <a:xfrm>
            <a:off x="6501384" y="4073652"/>
            <a:ext cx="2125980" cy="315468"/>
          </a:xfrm>
          <a:prstGeom prst="rect">
            <a:avLst/>
          </a:prstGeom>
          <a:noFill/>
          <a:ln/>
        </p:spPr>
        <p:txBody>
          <a:bodyPr wrap="square" lIns="0" tIns="0" rIns="0" bIns="0" rtlCol="0" anchor="t"/>
          <a:lstStyle/>
          <a:p>
            <a:pPr>
              <a:lnSpc>
                <a:spcPct val="114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What must it prove to climb — and what demotes it automatically?</a:t>
            </a:r>
            <a:endParaRPr lang="en-US" sz="600" dirty="0">
              <a:solidFill>
                <a:schemeClr val="tx1">
                  <a:lumMod val="75000"/>
                  <a:lumOff val="25000"/>
                </a:schemeClr>
              </a:solidFill>
            </a:endParaRPr>
          </a:p>
        </p:txBody>
      </p:sp>
      <p:sp>
        <p:nvSpPr>
          <p:cNvPr id="67" name="Text 65"/>
          <p:cNvSpPr txBox="1"/>
          <p:nvPr/>
        </p:nvSpPr>
        <p:spPr>
          <a:xfrm>
            <a:off x="466761" y="4430268"/>
            <a:ext cx="8298180" cy="274320"/>
          </a:xfrm>
          <a:prstGeom prst="rect">
            <a:avLst/>
          </a:prstGeom>
          <a:noFill/>
          <a:ln/>
        </p:spPr>
        <p:txBody>
          <a:bodyPr wrap="square" lIns="0" tIns="0" rIns="0" bIns="0" rtlCol="0" anchor="ctr"/>
          <a:lstStyle/>
          <a:p>
            <a:pPr algn="ctr"/>
            <a:r>
              <a:rPr lang="en-US" sz="900" dirty="0">
                <a:solidFill>
                  <a:schemeClr val="accent4"/>
                </a:solidFill>
                <a:latin typeface="Plus Jakarta Sans ExtraBold" pitchFamily="34" charset="0"/>
                <a:ea typeface="Plus Jakarta Sans ExtraBold" pitchFamily="34" charset="-122"/>
                <a:cs typeface="Plus Jakarta Sans ExtraBold" pitchFamily="34" charset="-120"/>
              </a:rPr>
              <a:t>Six questions, one cell, one control set.  </a:t>
            </a:r>
            <a:r>
              <a:rPr lang="en-US" sz="900" dirty="0">
                <a:solidFill>
                  <a:srgbClr val="8A93A0"/>
                </a:solidFill>
                <a:latin typeface="Plus Jakarta Sans ExtraLight" pitchFamily="34" charset="0"/>
                <a:ea typeface="Plus Jakarta Sans ExtraLight" pitchFamily="34" charset="-122"/>
                <a:cs typeface="Plus Jakarta Sans ExtraLight" pitchFamily="34" charset="-120"/>
              </a:rPr>
              <a:t>The output is not a label — it is a control specification and a named owner.</a:t>
            </a:r>
            <a:endParaRPr lang="en-US" sz="900" dirty="0"/>
          </a:p>
        </p:txBody>
      </p:sp>
      <p:sp>
        <p:nvSpPr>
          <p:cNvPr id="68" name="Title 67">
            <a:extLst>
              <a:ext uri="{FF2B5EF4-FFF2-40B4-BE49-F238E27FC236}">
                <a16:creationId xmlns:a16="http://schemas.microsoft.com/office/drawing/2014/main" id="{B7D0B6E1-456E-F265-FDA0-7B600878A132}"/>
              </a:ext>
            </a:extLst>
          </p:cNvPr>
          <p:cNvSpPr>
            <a:spLocks noGrp="1"/>
          </p:cNvSpPr>
          <p:nvPr>
            <p:ph type="title"/>
          </p:nvPr>
        </p:nvSpPr>
        <p:spPr>
          <a:xfrm>
            <a:off x="457200" y="531813"/>
            <a:ext cx="7315200" cy="333425"/>
          </a:xfrm>
        </p:spPr>
        <p:txBody>
          <a:bodyPr/>
          <a:lstStyle/>
          <a:p>
            <a:r>
              <a:rPr lang="en-AE" dirty="0"/>
              <a:t>Answered by the process owner</a:t>
            </a:r>
          </a:p>
        </p:txBody>
      </p:sp>
      <p:sp>
        <p:nvSpPr>
          <p:cNvPr id="69" name="Text Placeholder 68">
            <a:extLst>
              <a:ext uri="{FF2B5EF4-FFF2-40B4-BE49-F238E27FC236}">
                <a16:creationId xmlns:a16="http://schemas.microsoft.com/office/drawing/2014/main" id="{72A95A74-0572-2A58-45CF-7AE7B6A8E82F}"/>
              </a:ext>
            </a:extLst>
          </p:cNvPr>
          <p:cNvSpPr>
            <a:spLocks noGrp="1"/>
          </p:cNvSpPr>
          <p:nvPr>
            <p:ph type="body" sz="quarter" idx="13"/>
          </p:nvPr>
        </p:nvSpPr>
        <p:spPr>
          <a:xfrm>
            <a:off x="457200" y="307975"/>
            <a:ext cx="2378075" cy="184150"/>
          </a:xfrm>
        </p:spPr>
        <p:txBody>
          <a:bodyPr/>
          <a:lstStyle/>
          <a:p>
            <a:r>
              <a:rPr lang="en-AE" dirty="0"/>
              <a:t>HOW WE DECIDE</a:t>
            </a:r>
          </a:p>
        </p:txBody>
      </p:sp>
      <p:sp>
        <p:nvSpPr>
          <p:cNvPr id="70" name="Text Placeholder 69">
            <a:extLst>
              <a:ext uri="{FF2B5EF4-FFF2-40B4-BE49-F238E27FC236}">
                <a16:creationId xmlns:a16="http://schemas.microsoft.com/office/drawing/2014/main" id="{C2A7FBBE-12D7-ECAC-08BA-F745D0ECB44A}"/>
              </a:ext>
            </a:extLst>
          </p:cNvPr>
          <p:cNvSpPr>
            <a:spLocks noGrp="1"/>
          </p:cNvSpPr>
          <p:nvPr>
            <p:ph type="body" sz="quarter" idx="14"/>
          </p:nvPr>
        </p:nvSpPr>
        <p:spPr>
          <a:xfrm>
            <a:off x="457200" y="899478"/>
            <a:ext cx="7315200" cy="157351"/>
          </a:xfrm>
        </p:spPr>
        <p:txBody>
          <a:bodyPr/>
          <a:lstStyle/>
          <a:p>
            <a:r>
              <a:rPr lang="en-AE" dirty="0"/>
              <a:t>The answers determine the cell – nobody’s judgement is required.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B2E3D46E-1264-F643-763C-DEC7D721ED82}"/>
              </a:ext>
            </a:extLst>
          </p:cNvPr>
          <p:cNvGrpSpPr/>
          <p:nvPr/>
        </p:nvGrpSpPr>
        <p:grpSpPr>
          <a:xfrm>
            <a:off x="457200" y="2377857"/>
            <a:ext cx="8270706" cy="967063"/>
            <a:chOff x="393700" y="1665478"/>
            <a:chExt cx="2654046" cy="967063"/>
          </a:xfrm>
        </p:grpSpPr>
        <p:sp>
          <p:nvSpPr>
            <p:cNvPr id="44" name="Rectangle 43">
              <a:extLst>
                <a:ext uri="{FF2B5EF4-FFF2-40B4-BE49-F238E27FC236}">
                  <a16:creationId xmlns:a16="http://schemas.microsoft.com/office/drawing/2014/main" id="{36F27C9B-442F-E6AE-7EDD-EF5B06D139FD}"/>
                </a:ext>
              </a:extLst>
            </p:cNvPr>
            <p:cNvSpPr/>
            <p:nvPr/>
          </p:nvSpPr>
          <p:spPr>
            <a:xfrm>
              <a:off x="393700" y="1665478"/>
              <a:ext cx="2654046" cy="967063"/>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5F1325CD-25D2-0018-A393-0256A90539A4}"/>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46" name="Group 45">
            <a:extLst>
              <a:ext uri="{FF2B5EF4-FFF2-40B4-BE49-F238E27FC236}">
                <a16:creationId xmlns:a16="http://schemas.microsoft.com/office/drawing/2014/main" id="{AB0CC973-9769-C99E-FF27-71C4D74B42B8}"/>
              </a:ext>
            </a:extLst>
          </p:cNvPr>
          <p:cNvGrpSpPr/>
          <p:nvPr/>
        </p:nvGrpSpPr>
        <p:grpSpPr>
          <a:xfrm>
            <a:off x="6093342" y="1165904"/>
            <a:ext cx="2634564" cy="1113195"/>
            <a:chOff x="393700" y="1665478"/>
            <a:chExt cx="2654046" cy="1113195"/>
          </a:xfrm>
        </p:grpSpPr>
        <p:sp>
          <p:nvSpPr>
            <p:cNvPr id="47" name="Rectangle 46">
              <a:extLst>
                <a:ext uri="{FF2B5EF4-FFF2-40B4-BE49-F238E27FC236}">
                  <a16:creationId xmlns:a16="http://schemas.microsoft.com/office/drawing/2014/main" id="{63C181A1-8C2C-7769-B9AE-DDC48FA78F06}"/>
                </a:ext>
              </a:extLst>
            </p:cNvPr>
            <p:cNvSpPr/>
            <p:nvPr/>
          </p:nvSpPr>
          <p:spPr>
            <a:xfrm>
              <a:off x="393700" y="1665478"/>
              <a:ext cx="2654046" cy="1113195"/>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a:extLst>
                <a:ext uri="{FF2B5EF4-FFF2-40B4-BE49-F238E27FC236}">
                  <a16:creationId xmlns:a16="http://schemas.microsoft.com/office/drawing/2014/main" id="{8695A40C-DB0A-6E9E-079B-D72855438BAB}"/>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49" name="Group 48">
            <a:extLst>
              <a:ext uri="{FF2B5EF4-FFF2-40B4-BE49-F238E27FC236}">
                <a16:creationId xmlns:a16="http://schemas.microsoft.com/office/drawing/2014/main" id="{91E06A70-A837-5CD5-4227-03019D1E3948}"/>
              </a:ext>
            </a:extLst>
          </p:cNvPr>
          <p:cNvGrpSpPr/>
          <p:nvPr/>
        </p:nvGrpSpPr>
        <p:grpSpPr>
          <a:xfrm>
            <a:off x="3297216" y="1157436"/>
            <a:ext cx="2634564" cy="1130893"/>
            <a:chOff x="393700" y="1665477"/>
            <a:chExt cx="2654046" cy="1130893"/>
          </a:xfrm>
        </p:grpSpPr>
        <p:sp>
          <p:nvSpPr>
            <p:cNvPr id="50" name="Rectangle 49">
              <a:extLst>
                <a:ext uri="{FF2B5EF4-FFF2-40B4-BE49-F238E27FC236}">
                  <a16:creationId xmlns:a16="http://schemas.microsoft.com/office/drawing/2014/main" id="{33440273-3FFF-3BF0-34C9-EF5E2B8DA226}"/>
                </a:ext>
              </a:extLst>
            </p:cNvPr>
            <p:cNvSpPr/>
            <p:nvPr/>
          </p:nvSpPr>
          <p:spPr>
            <a:xfrm>
              <a:off x="393700" y="1665477"/>
              <a:ext cx="2654046" cy="1130893"/>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a:extLst>
                <a:ext uri="{FF2B5EF4-FFF2-40B4-BE49-F238E27FC236}">
                  <a16:creationId xmlns:a16="http://schemas.microsoft.com/office/drawing/2014/main" id="{34B3DDE3-9DD9-91C4-C36F-307C45E286EC}"/>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52" name="Group 51">
            <a:extLst>
              <a:ext uri="{FF2B5EF4-FFF2-40B4-BE49-F238E27FC236}">
                <a16:creationId xmlns:a16="http://schemas.microsoft.com/office/drawing/2014/main" id="{EA8B859E-D452-6082-B942-17EF81D6AD29}"/>
              </a:ext>
            </a:extLst>
          </p:cNvPr>
          <p:cNvGrpSpPr/>
          <p:nvPr/>
        </p:nvGrpSpPr>
        <p:grpSpPr>
          <a:xfrm>
            <a:off x="457200" y="1157437"/>
            <a:ext cx="2634564" cy="1130892"/>
            <a:chOff x="393700" y="1665478"/>
            <a:chExt cx="2654046" cy="1130892"/>
          </a:xfrm>
        </p:grpSpPr>
        <p:sp>
          <p:nvSpPr>
            <p:cNvPr id="53" name="Rectangle 52">
              <a:extLst>
                <a:ext uri="{FF2B5EF4-FFF2-40B4-BE49-F238E27FC236}">
                  <a16:creationId xmlns:a16="http://schemas.microsoft.com/office/drawing/2014/main" id="{F6747DD3-ABE2-F97C-1148-9177B0AB83A3}"/>
                </a:ext>
              </a:extLst>
            </p:cNvPr>
            <p:cNvSpPr/>
            <p:nvPr/>
          </p:nvSpPr>
          <p:spPr>
            <a:xfrm>
              <a:off x="393700" y="1665478"/>
              <a:ext cx="2654046" cy="1130892"/>
            </a:xfrm>
            <a:prstGeom prst="rect">
              <a:avLst/>
            </a:prstGeom>
            <a:solidFill>
              <a:schemeClr val="bg1"/>
            </a:solidFill>
            <a:ln w="9525">
              <a:solidFill>
                <a:srgbClr val="CBD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a:extLst>
                <a:ext uri="{FF2B5EF4-FFF2-40B4-BE49-F238E27FC236}">
                  <a16:creationId xmlns:a16="http://schemas.microsoft.com/office/drawing/2014/main" id="{FB8F0DED-C070-558E-91A4-DDF50152020E}"/>
                </a:ext>
              </a:extLst>
            </p:cNvPr>
            <p:cNvSpPr/>
            <p:nvPr/>
          </p:nvSpPr>
          <p:spPr>
            <a:xfrm>
              <a:off x="393700" y="1665478"/>
              <a:ext cx="2654046" cy="201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 name="Text 1"/>
          <p:cNvSpPr txBox="1"/>
          <p:nvPr/>
        </p:nvSpPr>
        <p:spPr>
          <a:xfrm>
            <a:off x="425196" y="452628"/>
            <a:ext cx="7955280" cy="384048"/>
          </a:xfrm>
          <a:prstGeom prst="rect">
            <a:avLst/>
          </a:prstGeom>
          <a:noFill/>
          <a:ln/>
        </p:spPr>
        <p:txBody>
          <a:bodyPr wrap="square" lIns="0" tIns="0" rIns="0" bIns="0" rtlCol="0" anchor="ctr"/>
          <a:lstStyle/>
          <a:p>
            <a:r>
              <a:rPr lang="en-US" sz="1950" dirty="0">
                <a:solidFill>
                  <a:srgbClr val="F7F4EE"/>
                </a:solidFill>
                <a:latin typeface="Plus Jakarta Sans ExtraBold" pitchFamily="34" charset="0"/>
                <a:ea typeface="Plus Jakarta Sans ExtraBold" pitchFamily="34" charset="-122"/>
                <a:cs typeface="Plus Jakarta Sans ExtraBold" pitchFamily="34" charset="-120"/>
              </a:rPr>
              <a:t>What it prevents, and what it unlocks</a:t>
            </a:r>
            <a:endParaRPr lang="en-US" sz="1950" dirty="0"/>
          </a:p>
        </p:txBody>
      </p:sp>
      <p:sp>
        <p:nvSpPr>
          <p:cNvPr id="4" name="Text 2"/>
          <p:cNvSpPr txBox="1"/>
          <p:nvPr/>
        </p:nvSpPr>
        <p:spPr>
          <a:xfrm>
            <a:off x="425196" y="4841748"/>
            <a:ext cx="4114800" cy="164592"/>
          </a:xfrm>
          <a:prstGeom prst="rect">
            <a:avLst/>
          </a:prstGeom>
          <a:noFill/>
          <a:ln/>
        </p:spPr>
        <p:txBody>
          <a:bodyPr wrap="square" lIns="0" tIns="0" rIns="0" bIns="0" rtlCol="0" anchor="ctr"/>
          <a:lstStyle/>
          <a:p>
            <a:r>
              <a:rPr lang="en-US" sz="563" dirty="0">
                <a:solidFill>
                  <a:srgbClr val="8A93A0"/>
                </a:solidFill>
                <a:latin typeface="Plus Jakarta Sans ExtraLight" pitchFamily="34" charset="0"/>
                <a:ea typeface="Plus Jakarta Sans ExtraLight" pitchFamily="34" charset="-122"/>
                <a:cs typeface="Plus Jakarta Sans ExtraLight" pitchFamily="34" charset="-120"/>
              </a:rPr>
              <a:t>Copyright © 2026. All Right Protected &amp; Reserved.</a:t>
            </a:r>
            <a:endParaRPr lang="en-US" sz="563" dirty="0"/>
          </a:p>
        </p:txBody>
      </p:sp>
      <p:sp>
        <p:nvSpPr>
          <p:cNvPr id="5" name="Text 3"/>
          <p:cNvSpPr txBox="1"/>
          <p:nvPr/>
        </p:nvSpPr>
        <p:spPr>
          <a:xfrm>
            <a:off x="8457971" y="4841748"/>
            <a:ext cx="274320" cy="164592"/>
          </a:xfrm>
          <a:prstGeom prst="rect">
            <a:avLst/>
          </a:prstGeom>
          <a:noFill/>
          <a:ln/>
        </p:spPr>
        <p:txBody>
          <a:bodyPr wrap="square" lIns="0" tIns="0" rIns="0" bIns="0" rtlCol="0" anchor="ctr"/>
          <a:lstStyle/>
          <a:p>
            <a:pPr algn="r"/>
            <a:r>
              <a:rPr lang="en-US" sz="563" dirty="0">
                <a:solidFill>
                  <a:srgbClr val="8A93A0"/>
                </a:solidFill>
                <a:latin typeface="Plus Jakarta Sans Medium" pitchFamily="34" charset="0"/>
                <a:ea typeface="Plus Jakarta Sans Medium" pitchFamily="34" charset="-122"/>
                <a:cs typeface="Plus Jakarta Sans Medium" pitchFamily="34" charset="-120"/>
              </a:rPr>
              <a:t>3</a:t>
            </a:r>
            <a:endParaRPr lang="en-US" sz="563" dirty="0"/>
          </a:p>
        </p:txBody>
      </p:sp>
      <p:sp>
        <p:nvSpPr>
          <p:cNvPr id="8" name="Text 6"/>
          <p:cNvSpPr txBox="1"/>
          <p:nvPr/>
        </p:nvSpPr>
        <p:spPr>
          <a:xfrm>
            <a:off x="576072" y="1261872"/>
            <a:ext cx="2345436" cy="137160"/>
          </a:xfrm>
          <a:prstGeom prst="rect">
            <a:avLst/>
          </a:prstGeom>
          <a:noFill/>
          <a:ln/>
        </p:spPr>
        <p:txBody>
          <a:bodyPr wrap="square" lIns="0" tIns="0" rIns="0" bIns="0" rtlCol="0" anchor="ctr"/>
          <a:lstStyle/>
          <a:p>
            <a:r>
              <a:rPr lang="en-US" sz="700" b="1" kern="0" spc="120" dirty="0">
                <a:solidFill>
                  <a:schemeClr val="accent4"/>
                </a:solidFill>
                <a:latin typeface="Plus Jakarta Sans Medium" pitchFamily="34" charset="0"/>
                <a:ea typeface="Plus Jakarta Sans Medium" pitchFamily="34" charset="-122"/>
                <a:cs typeface="Plus Jakarta Sans Medium" pitchFamily="34" charset="-120"/>
              </a:rPr>
              <a:t>KLARNA · 2024–25</a:t>
            </a:r>
            <a:endParaRPr lang="en-US" sz="700" dirty="0">
              <a:solidFill>
                <a:schemeClr val="accent4"/>
              </a:solidFill>
            </a:endParaRPr>
          </a:p>
        </p:txBody>
      </p:sp>
      <p:sp>
        <p:nvSpPr>
          <p:cNvPr id="9" name="Text 7"/>
          <p:cNvSpPr txBox="1"/>
          <p:nvPr/>
        </p:nvSpPr>
        <p:spPr>
          <a:xfrm>
            <a:off x="576072" y="1399032"/>
            <a:ext cx="2345436" cy="178308"/>
          </a:xfrm>
          <a:prstGeom prst="rect">
            <a:avLst/>
          </a:prstGeom>
          <a:noFill/>
          <a:ln/>
        </p:spPr>
        <p:txBody>
          <a:bodyPr wrap="square" lIns="0" tIns="0" rIns="0" bIns="0" rtlCol="0" anchor="ctr"/>
          <a:lstStyle/>
          <a:p>
            <a:r>
              <a:rPr lang="en-US" sz="900" dirty="0">
                <a:latin typeface="Plus Jakarta Sans ExtraBold" pitchFamily="34" charset="0"/>
                <a:ea typeface="Plus Jakarta Sans ExtraBold" pitchFamily="34" charset="-122"/>
                <a:cs typeface="Plus Jakarta Sans ExtraBold" pitchFamily="34" charset="-120"/>
              </a:rPr>
              <a:t>Reversed to hybrid</a:t>
            </a:r>
            <a:endParaRPr lang="en-US" sz="900" dirty="0"/>
          </a:p>
        </p:txBody>
      </p:sp>
      <p:sp>
        <p:nvSpPr>
          <p:cNvPr id="10" name="Text 8"/>
          <p:cNvSpPr txBox="1"/>
          <p:nvPr/>
        </p:nvSpPr>
        <p:spPr>
          <a:xfrm>
            <a:off x="576072" y="1604772"/>
            <a:ext cx="2345436" cy="452628"/>
          </a:xfrm>
          <a:prstGeom prst="rect">
            <a:avLst/>
          </a:prstGeom>
          <a:noFill/>
          <a:ln/>
        </p:spPr>
        <p:txBody>
          <a:bodyPr wrap="square" lIns="0" tIns="0" rIns="0" bIns="0" rtlCol="0" anchor="t"/>
          <a:lstStyle/>
          <a:p>
            <a:pPr>
              <a:lnSpc>
                <a:spcPct val="118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An AI-only service model was rolled back on quality. CEO: cost had been “a too predominant evaluation factor.”</a:t>
            </a:r>
            <a:endParaRPr lang="en-US" sz="638" dirty="0">
              <a:solidFill>
                <a:schemeClr val="tx1">
                  <a:lumMod val="65000"/>
                  <a:lumOff val="35000"/>
                </a:schemeClr>
              </a:solidFill>
            </a:endParaRPr>
          </a:p>
        </p:txBody>
      </p:sp>
      <p:sp>
        <p:nvSpPr>
          <p:cNvPr id="11" name="Text 9"/>
          <p:cNvSpPr txBox="1"/>
          <p:nvPr/>
        </p:nvSpPr>
        <p:spPr>
          <a:xfrm>
            <a:off x="576072" y="2071116"/>
            <a:ext cx="2345436" cy="150876"/>
          </a:xfrm>
          <a:prstGeom prst="rect">
            <a:avLst/>
          </a:prstGeom>
          <a:noFill/>
          <a:ln/>
        </p:spPr>
        <p:txBody>
          <a:bodyPr wrap="square" lIns="0" tIns="0" rIns="0" bIns="0" rtlCol="0" anchor="ctr"/>
          <a:lstStyle/>
          <a:p>
            <a:r>
              <a:rPr lang="en-US" sz="600" dirty="0">
                <a:solidFill>
                  <a:schemeClr val="accent4"/>
                </a:solidFill>
                <a:latin typeface="Plus Jakarta Sans Medium" pitchFamily="34" charset="0"/>
                <a:ea typeface="Plus Jakarta Sans Medium" pitchFamily="34" charset="-122"/>
                <a:cs typeface="Plus Jakarta Sans Medium" pitchFamily="34" charset="-120"/>
              </a:rPr>
              <a:t>R4/H2 handover run out of the loop</a:t>
            </a:r>
            <a:endParaRPr lang="en-US" sz="600" dirty="0">
              <a:solidFill>
                <a:schemeClr val="accent4"/>
              </a:solidFill>
            </a:endParaRPr>
          </a:p>
        </p:txBody>
      </p:sp>
      <p:sp>
        <p:nvSpPr>
          <p:cNvPr id="13" name="Text 11"/>
          <p:cNvSpPr txBox="1"/>
          <p:nvPr/>
        </p:nvSpPr>
        <p:spPr>
          <a:xfrm>
            <a:off x="3415284" y="1261872"/>
            <a:ext cx="2345436" cy="137160"/>
          </a:xfrm>
          <a:prstGeom prst="rect">
            <a:avLst/>
          </a:prstGeom>
          <a:noFill/>
          <a:ln/>
        </p:spPr>
        <p:txBody>
          <a:bodyPr wrap="square" lIns="0" tIns="0" rIns="0" bIns="0" rtlCol="0" anchor="ctr"/>
          <a:lstStyle/>
          <a:p>
            <a:r>
              <a:rPr lang="en-US" sz="700" b="1" kern="0" spc="120" dirty="0">
                <a:solidFill>
                  <a:schemeClr val="accent4"/>
                </a:solidFill>
                <a:latin typeface="Plus Jakarta Sans Medium" pitchFamily="34" charset="0"/>
                <a:ea typeface="Plus Jakarta Sans Medium" pitchFamily="34" charset="-122"/>
                <a:cs typeface="Plus Jakarta Sans Medium" pitchFamily="34" charset="-120"/>
              </a:rPr>
              <a:t>COMMONWEALTH BANK · 2025</a:t>
            </a:r>
            <a:endParaRPr lang="en-US" sz="700" dirty="0">
              <a:solidFill>
                <a:schemeClr val="accent4"/>
              </a:solidFill>
            </a:endParaRPr>
          </a:p>
        </p:txBody>
      </p:sp>
      <p:sp>
        <p:nvSpPr>
          <p:cNvPr id="14" name="Text 12"/>
          <p:cNvSpPr txBox="1"/>
          <p:nvPr/>
        </p:nvSpPr>
        <p:spPr>
          <a:xfrm>
            <a:off x="3415284" y="1399032"/>
            <a:ext cx="2345436" cy="178308"/>
          </a:xfrm>
          <a:prstGeom prst="rect">
            <a:avLst/>
          </a:prstGeom>
          <a:noFill/>
          <a:ln/>
        </p:spPr>
        <p:txBody>
          <a:bodyPr wrap="square" lIns="0" tIns="0" rIns="0" bIns="0" rtlCol="0" anchor="ctr"/>
          <a:lstStyle/>
          <a:p>
            <a:r>
              <a:rPr lang="en-US" sz="900" dirty="0">
                <a:latin typeface="Plus Jakarta Sans ExtraBold" pitchFamily="34" charset="0"/>
                <a:ea typeface="Plus Jakarta Sans ExtraBold" pitchFamily="34" charset="-122"/>
                <a:cs typeface="Plus Jakarta Sans ExtraBold" pitchFamily="34" charset="-120"/>
              </a:rPr>
              <a:t>45 roles reinstated</a:t>
            </a:r>
            <a:endParaRPr lang="en-US" sz="900" dirty="0"/>
          </a:p>
        </p:txBody>
      </p:sp>
      <p:sp>
        <p:nvSpPr>
          <p:cNvPr id="15" name="Text 13"/>
          <p:cNvSpPr txBox="1"/>
          <p:nvPr/>
        </p:nvSpPr>
        <p:spPr>
          <a:xfrm>
            <a:off x="3415284" y="1604772"/>
            <a:ext cx="2345436" cy="452628"/>
          </a:xfrm>
          <a:prstGeom prst="rect">
            <a:avLst/>
          </a:prstGeom>
          <a:noFill/>
          <a:ln/>
        </p:spPr>
        <p:txBody>
          <a:bodyPr wrap="square" lIns="0" tIns="0" rIns="0" bIns="0" rtlCol="0" anchor="t"/>
          <a:lstStyle/>
          <a:p>
            <a:pPr>
              <a:lnSpc>
                <a:spcPct val="118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Cut on the basis of a voice bot, reversed weeks later when call volumes rose. The bank called it an error.</a:t>
            </a:r>
            <a:endParaRPr lang="en-US" sz="638" dirty="0">
              <a:solidFill>
                <a:schemeClr val="tx1">
                  <a:lumMod val="65000"/>
                  <a:lumOff val="35000"/>
                </a:schemeClr>
              </a:solidFill>
            </a:endParaRPr>
          </a:p>
        </p:txBody>
      </p:sp>
      <p:sp>
        <p:nvSpPr>
          <p:cNvPr id="16" name="Text 14"/>
          <p:cNvSpPr txBox="1"/>
          <p:nvPr/>
        </p:nvSpPr>
        <p:spPr>
          <a:xfrm>
            <a:off x="3415284" y="2071116"/>
            <a:ext cx="2345436" cy="150876"/>
          </a:xfrm>
          <a:prstGeom prst="rect">
            <a:avLst/>
          </a:prstGeom>
          <a:noFill/>
          <a:ln/>
        </p:spPr>
        <p:txBody>
          <a:bodyPr wrap="square" lIns="0" tIns="0" rIns="0" bIns="0" rtlCol="0" anchor="ctr"/>
          <a:lstStyle/>
          <a:p>
            <a:r>
              <a:rPr lang="en-US" sz="600" dirty="0">
                <a:solidFill>
                  <a:schemeClr val="accent4"/>
                </a:solidFill>
                <a:latin typeface="Plus Jakarta Sans Medium" pitchFamily="34" charset="0"/>
                <a:ea typeface="Plus Jakarta Sans Medium" pitchFamily="34" charset="-122"/>
                <a:cs typeface="Plus Jakarta Sans Medium" pitchFamily="34" charset="-120"/>
              </a:rPr>
              <a:t>Authority assumed, never measured</a:t>
            </a:r>
            <a:endParaRPr lang="en-US" sz="600" dirty="0">
              <a:solidFill>
                <a:schemeClr val="accent4"/>
              </a:solidFill>
            </a:endParaRPr>
          </a:p>
        </p:txBody>
      </p:sp>
      <p:sp>
        <p:nvSpPr>
          <p:cNvPr id="18" name="Text 16"/>
          <p:cNvSpPr txBox="1"/>
          <p:nvPr/>
        </p:nvSpPr>
        <p:spPr>
          <a:xfrm>
            <a:off x="6254496" y="1261872"/>
            <a:ext cx="2345436" cy="137160"/>
          </a:xfrm>
          <a:prstGeom prst="rect">
            <a:avLst/>
          </a:prstGeom>
          <a:noFill/>
          <a:ln/>
        </p:spPr>
        <p:txBody>
          <a:bodyPr wrap="square" lIns="0" tIns="0" rIns="0" bIns="0" rtlCol="0" anchor="ctr"/>
          <a:lstStyle/>
          <a:p>
            <a:r>
              <a:rPr lang="en-US" sz="700" b="1" kern="0" spc="120" dirty="0">
                <a:solidFill>
                  <a:schemeClr val="accent4"/>
                </a:solidFill>
                <a:latin typeface="Plus Jakarta Sans Medium" pitchFamily="34" charset="0"/>
                <a:ea typeface="Plus Jakarta Sans Medium" pitchFamily="34" charset="-122"/>
                <a:cs typeface="Plus Jakarta Sans Medium" pitchFamily="34" charset="-120"/>
              </a:rPr>
              <a:t>VERIZON · 2025</a:t>
            </a:r>
            <a:endParaRPr lang="en-US" sz="700" dirty="0">
              <a:solidFill>
                <a:schemeClr val="accent4"/>
              </a:solidFill>
            </a:endParaRPr>
          </a:p>
        </p:txBody>
      </p:sp>
      <p:sp>
        <p:nvSpPr>
          <p:cNvPr id="19" name="Text 17"/>
          <p:cNvSpPr txBox="1"/>
          <p:nvPr/>
        </p:nvSpPr>
        <p:spPr>
          <a:xfrm>
            <a:off x="6254496" y="1399032"/>
            <a:ext cx="2345436" cy="178308"/>
          </a:xfrm>
          <a:prstGeom prst="rect">
            <a:avLst/>
          </a:prstGeom>
          <a:noFill/>
          <a:ln/>
        </p:spPr>
        <p:txBody>
          <a:bodyPr wrap="square" lIns="0" tIns="0" rIns="0" bIns="0" rtlCol="0" anchor="ctr"/>
          <a:lstStyle/>
          <a:p>
            <a:r>
              <a:rPr lang="en-US" sz="900" dirty="0">
                <a:latin typeface="Plus Jakarta Sans ExtraBold" pitchFamily="34" charset="0"/>
                <a:ea typeface="Plus Jakarta Sans ExtraBold" pitchFamily="34" charset="-122"/>
                <a:cs typeface="Plus Jakarta Sans ExtraBold" pitchFamily="34" charset="-120"/>
              </a:rPr>
              <a:t>Two outcomes, one programme</a:t>
            </a:r>
            <a:endParaRPr lang="en-US" sz="900" dirty="0"/>
          </a:p>
        </p:txBody>
      </p:sp>
      <p:sp>
        <p:nvSpPr>
          <p:cNvPr id="20" name="Text 18"/>
          <p:cNvSpPr txBox="1"/>
          <p:nvPr/>
        </p:nvSpPr>
        <p:spPr>
          <a:xfrm>
            <a:off x="6254496" y="1604772"/>
            <a:ext cx="2345436" cy="452628"/>
          </a:xfrm>
          <a:prstGeom prst="rect">
            <a:avLst/>
          </a:prstGeom>
          <a:noFill/>
          <a:ln/>
        </p:spPr>
        <p:txBody>
          <a:bodyPr wrap="square" lIns="0" tIns="0" rIns="0" bIns="0" rtlCol="0" anchor="t"/>
          <a:lstStyle/>
          <a:p>
            <a:pPr>
              <a:lnSpc>
                <a:spcPct val="118000"/>
              </a:lnSpc>
            </a:pPr>
            <a:r>
              <a:rPr lang="en-US" sz="638" dirty="0">
                <a:solidFill>
                  <a:schemeClr val="tx1">
                    <a:lumMod val="65000"/>
                    <a:lumOff val="35000"/>
                  </a:schemeClr>
                </a:solidFill>
                <a:latin typeface="Plus Jakarta Sans ExtraLight" pitchFamily="34" charset="0"/>
                <a:ea typeface="Plus Jakarta Sans ExtraLight" pitchFamily="34" charset="-122"/>
                <a:cs typeface="Plus Jakarta Sans ExtraLight" pitchFamily="34" charset="-120"/>
              </a:rPr>
              <a:t>28,000 reps with an assist tool worked. The same models facing consumers produced a public backlash.</a:t>
            </a:r>
            <a:endParaRPr lang="en-US" sz="638" dirty="0">
              <a:solidFill>
                <a:schemeClr val="tx1">
                  <a:lumMod val="65000"/>
                  <a:lumOff val="35000"/>
                </a:schemeClr>
              </a:solidFill>
            </a:endParaRPr>
          </a:p>
        </p:txBody>
      </p:sp>
      <p:sp>
        <p:nvSpPr>
          <p:cNvPr id="21" name="Text 19"/>
          <p:cNvSpPr txBox="1"/>
          <p:nvPr/>
        </p:nvSpPr>
        <p:spPr>
          <a:xfrm>
            <a:off x="6254496" y="2071116"/>
            <a:ext cx="2345436" cy="150876"/>
          </a:xfrm>
          <a:prstGeom prst="rect">
            <a:avLst/>
          </a:prstGeom>
          <a:noFill/>
          <a:ln/>
        </p:spPr>
        <p:txBody>
          <a:bodyPr wrap="square" lIns="0" tIns="0" rIns="0" bIns="0" rtlCol="0" anchor="ctr"/>
          <a:lstStyle/>
          <a:p>
            <a:r>
              <a:rPr lang="en-US" sz="600" dirty="0">
                <a:solidFill>
                  <a:schemeClr val="accent4"/>
                </a:solidFill>
                <a:latin typeface="Plus Jakarta Sans Medium" pitchFamily="34" charset="0"/>
                <a:ea typeface="Plus Jakarta Sans Medium" pitchFamily="34" charset="-122"/>
                <a:cs typeface="Plus Jakarta Sans Medium" pitchFamily="34" charset="-120"/>
              </a:rPr>
              <a:t>Same model, different exposure</a:t>
            </a:r>
            <a:endParaRPr lang="en-US" sz="600" dirty="0">
              <a:solidFill>
                <a:schemeClr val="accent4"/>
              </a:solidFill>
            </a:endParaRPr>
          </a:p>
        </p:txBody>
      </p:sp>
      <p:sp>
        <p:nvSpPr>
          <p:cNvPr id="23" name="Text 21"/>
          <p:cNvSpPr txBox="1"/>
          <p:nvPr/>
        </p:nvSpPr>
        <p:spPr>
          <a:xfrm>
            <a:off x="617220" y="2487582"/>
            <a:ext cx="4800600" cy="137160"/>
          </a:xfrm>
          <a:prstGeom prst="rect">
            <a:avLst/>
          </a:prstGeom>
          <a:noFill/>
          <a:ln/>
        </p:spPr>
        <p:txBody>
          <a:bodyPr wrap="square" lIns="0" tIns="0" rIns="0" bIns="0" rtlCol="0" anchor="ctr"/>
          <a:lstStyle/>
          <a:p>
            <a:r>
              <a:rPr lang="en-US" sz="700" b="1" kern="0" spc="120" dirty="0">
                <a:solidFill>
                  <a:schemeClr val="accent4"/>
                </a:solidFill>
                <a:latin typeface="Plus Jakarta Sans Medium" pitchFamily="34" charset="0"/>
                <a:ea typeface="Plus Jakarta Sans Medium" pitchFamily="34" charset="-122"/>
                <a:cs typeface="Plus Jakarta Sans Medium" pitchFamily="34" charset="-120"/>
              </a:rPr>
              <a:t>AND WHAT IT UNLOCKS — THE CEILING TELLS YOU WHAT YOU CAN SHIP TODAY</a:t>
            </a:r>
            <a:endParaRPr lang="en-US" sz="700" dirty="0">
              <a:solidFill>
                <a:schemeClr val="accent4"/>
              </a:solidFill>
            </a:endParaRPr>
          </a:p>
        </p:txBody>
      </p:sp>
      <p:sp>
        <p:nvSpPr>
          <p:cNvPr id="24" name="Text 22"/>
          <p:cNvSpPr txBox="1"/>
          <p:nvPr/>
        </p:nvSpPr>
        <p:spPr>
          <a:xfrm>
            <a:off x="617220" y="2702052"/>
            <a:ext cx="2510028" cy="164592"/>
          </a:xfrm>
          <a:prstGeom prst="rect">
            <a:avLst/>
          </a:prstGeom>
          <a:noFill/>
          <a:ln/>
        </p:spPr>
        <p:txBody>
          <a:bodyPr wrap="square" lIns="0" tIns="0" rIns="0" bIns="0" rtlCol="0" anchor="ctr"/>
          <a:lstStyle/>
          <a:p>
            <a:r>
              <a:rPr lang="en-US" sz="825" dirty="0">
                <a:latin typeface="Plus Jakarta Sans Medium" pitchFamily="34" charset="0"/>
                <a:ea typeface="Plus Jakarta Sans Medium" pitchFamily="34" charset="-122"/>
                <a:cs typeface="Plus Jakarta Sans Medium" pitchFamily="34" charset="-120"/>
              </a:rPr>
              <a:t>Ship now</a:t>
            </a:r>
            <a:endParaRPr lang="en-US" sz="825" dirty="0"/>
          </a:p>
        </p:txBody>
      </p:sp>
      <p:sp>
        <p:nvSpPr>
          <p:cNvPr id="25" name="Text 23"/>
          <p:cNvSpPr txBox="1"/>
          <p:nvPr/>
        </p:nvSpPr>
        <p:spPr>
          <a:xfrm>
            <a:off x="617220" y="2880360"/>
            <a:ext cx="2510028" cy="397764"/>
          </a:xfrm>
          <a:prstGeom prst="rect">
            <a:avLst/>
          </a:prstGeom>
          <a:noFill/>
          <a:ln/>
        </p:spPr>
        <p:txBody>
          <a:bodyPr wrap="square" lIns="0" tIns="0" rIns="0" bIns="0" rtlCol="0" anchor="t"/>
          <a:lstStyle/>
          <a:p>
            <a:pPr>
              <a:lnSpc>
                <a:spcPct val="116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The E1 handovers — internal, reversible, Knowledge — are already permitted at full autonomy. Most programmes never notice they have them.</a:t>
            </a:r>
            <a:endParaRPr lang="en-US" sz="638" dirty="0">
              <a:solidFill>
                <a:schemeClr val="tx1">
                  <a:lumMod val="75000"/>
                  <a:lumOff val="25000"/>
                </a:schemeClr>
              </a:solidFill>
            </a:endParaRPr>
          </a:p>
        </p:txBody>
      </p:sp>
      <p:sp>
        <p:nvSpPr>
          <p:cNvPr id="26" name="Text 24"/>
          <p:cNvSpPr txBox="1"/>
          <p:nvPr/>
        </p:nvSpPr>
        <p:spPr>
          <a:xfrm>
            <a:off x="3305556" y="2702052"/>
            <a:ext cx="2510028" cy="164592"/>
          </a:xfrm>
          <a:prstGeom prst="rect">
            <a:avLst/>
          </a:prstGeom>
          <a:noFill/>
          <a:ln/>
        </p:spPr>
        <p:txBody>
          <a:bodyPr wrap="square" lIns="0" tIns="0" rIns="0" bIns="0" rtlCol="0" anchor="ctr"/>
          <a:lstStyle/>
          <a:p>
            <a:r>
              <a:rPr lang="en-US" sz="825" dirty="0">
                <a:latin typeface="Plus Jakarta Sans Medium" pitchFamily="34" charset="0"/>
                <a:ea typeface="Plus Jakarta Sans Medium" pitchFamily="34" charset="-122"/>
                <a:cs typeface="Plus Jakarta Sans Medium" pitchFamily="34" charset="-120"/>
              </a:rPr>
              <a:t>Ship next</a:t>
            </a:r>
            <a:endParaRPr lang="en-US" sz="825" dirty="0"/>
          </a:p>
        </p:txBody>
      </p:sp>
      <p:sp>
        <p:nvSpPr>
          <p:cNvPr id="27" name="Text 25"/>
          <p:cNvSpPr txBox="1"/>
          <p:nvPr/>
        </p:nvSpPr>
        <p:spPr>
          <a:xfrm>
            <a:off x="3305556" y="2880360"/>
            <a:ext cx="2510028" cy="397764"/>
          </a:xfrm>
          <a:prstGeom prst="rect">
            <a:avLst/>
          </a:prstGeom>
          <a:noFill/>
          <a:ln/>
        </p:spPr>
        <p:txBody>
          <a:bodyPr wrap="square" lIns="0" tIns="0" rIns="0" bIns="0" rtlCol="0" anchor="t"/>
          <a:lstStyle/>
          <a:p>
            <a:pPr>
              <a:lnSpc>
                <a:spcPct val="116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E2 handovers with a stated intervention window. This is where the documented operational returns sit.</a:t>
            </a:r>
            <a:endParaRPr lang="en-US" sz="638" dirty="0">
              <a:solidFill>
                <a:schemeClr val="tx1">
                  <a:lumMod val="75000"/>
                  <a:lumOff val="25000"/>
                </a:schemeClr>
              </a:solidFill>
            </a:endParaRPr>
          </a:p>
        </p:txBody>
      </p:sp>
      <p:sp>
        <p:nvSpPr>
          <p:cNvPr id="28" name="Text 26"/>
          <p:cNvSpPr txBox="1"/>
          <p:nvPr/>
        </p:nvSpPr>
        <p:spPr>
          <a:xfrm>
            <a:off x="5993892" y="2702052"/>
            <a:ext cx="2510028" cy="164592"/>
          </a:xfrm>
          <a:prstGeom prst="rect">
            <a:avLst/>
          </a:prstGeom>
          <a:noFill/>
          <a:ln/>
        </p:spPr>
        <p:txBody>
          <a:bodyPr wrap="square" lIns="0" tIns="0" rIns="0" bIns="0" rtlCol="0" anchor="ctr"/>
          <a:lstStyle/>
          <a:p>
            <a:r>
              <a:rPr lang="en-US" sz="825" dirty="0">
                <a:latin typeface="Plus Jakarta Sans Medium" pitchFamily="34" charset="0"/>
                <a:ea typeface="Plus Jakarta Sans Medium" pitchFamily="34" charset="-122"/>
                <a:cs typeface="Plus Jakarta Sans Medium" pitchFamily="34" charset="-120"/>
              </a:rPr>
              <a:t>Earn later</a:t>
            </a:r>
            <a:endParaRPr lang="en-US" sz="825" dirty="0"/>
          </a:p>
        </p:txBody>
      </p:sp>
      <p:sp>
        <p:nvSpPr>
          <p:cNvPr id="29" name="Text 27"/>
          <p:cNvSpPr txBox="1"/>
          <p:nvPr/>
        </p:nvSpPr>
        <p:spPr>
          <a:xfrm>
            <a:off x="5993892" y="2880360"/>
            <a:ext cx="2510028" cy="397764"/>
          </a:xfrm>
          <a:prstGeom prst="rect">
            <a:avLst/>
          </a:prstGeom>
          <a:noFill/>
          <a:ln/>
        </p:spPr>
        <p:txBody>
          <a:bodyPr wrap="square" lIns="0" tIns="0" rIns="0" bIns="0" rtlCol="0" anchor="t"/>
          <a:lstStyle/>
          <a:p>
            <a:pPr>
              <a:lnSpc>
                <a:spcPct val="116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E3 and above climb on evidence, or stay in the loop by design. Naming which is which is what ends the stall.</a:t>
            </a:r>
            <a:endParaRPr lang="en-US" sz="638" dirty="0">
              <a:solidFill>
                <a:schemeClr val="tx1">
                  <a:lumMod val="75000"/>
                  <a:lumOff val="25000"/>
                </a:schemeClr>
              </a:solidFill>
            </a:endParaRPr>
          </a:p>
        </p:txBody>
      </p:sp>
      <p:sp>
        <p:nvSpPr>
          <p:cNvPr id="30" name="Text 28"/>
          <p:cNvSpPr txBox="1"/>
          <p:nvPr/>
        </p:nvSpPr>
        <p:spPr>
          <a:xfrm>
            <a:off x="483386" y="3442716"/>
            <a:ext cx="2647188" cy="274320"/>
          </a:xfrm>
          <a:prstGeom prst="rect">
            <a:avLst/>
          </a:prstGeom>
          <a:noFill/>
          <a:ln/>
        </p:spPr>
        <p:txBody>
          <a:bodyPr wrap="square" lIns="0" tIns="0" rIns="0" bIns="0" rtlCol="0" anchor="ctr"/>
          <a:lstStyle/>
          <a:p>
            <a:r>
              <a:rPr lang="en-US" sz="1650" dirty="0">
                <a:solidFill>
                  <a:schemeClr val="accent1"/>
                </a:solidFill>
                <a:latin typeface="Plus Jakarta Sans ExtraBold" pitchFamily="34" charset="0"/>
                <a:ea typeface="Plus Jakarta Sans ExtraBold" pitchFamily="34" charset="-122"/>
                <a:cs typeface="Plus Jakarta Sans ExtraBold" pitchFamily="34" charset="-120"/>
              </a:rPr>
              <a:t>2%</a:t>
            </a:r>
            <a:endParaRPr lang="en-US" sz="1650" dirty="0">
              <a:solidFill>
                <a:schemeClr val="accent1"/>
              </a:solidFill>
            </a:endParaRPr>
          </a:p>
        </p:txBody>
      </p:sp>
      <p:sp>
        <p:nvSpPr>
          <p:cNvPr id="31" name="Text 29"/>
          <p:cNvSpPr txBox="1"/>
          <p:nvPr/>
        </p:nvSpPr>
        <p:spPr>
          <a:xfrm>
            <a:off x="483386" y="3730752"/>
            <a:ext cx="2496312" cy="356616"/>
          </a:xfrm>
          <a:prstGeom prst="rect">
            <a:avLst/>
          </a:prstGeom>
          <a:noFill/>
          <a:ln/>
        </p:spPr>
        <p:txBody>
          <a:bodyPr wrap="square" lIns="0" tIns="0" rIns="0" bIns="0" rtlCol="0" anchor="t"/>
          <a:lstStyle/>
          <a:p>
            <a:pPr>
              <a:lnSpc>
                <a:spcPct val="114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of AI use cases in UK financial services run fully autonomously — the ceiling is already the binding constraint, whether or not anyone has written it down</a:t>
            </a:r>
            <a:endParaRPr lang="en-US" sz="600" dirty="0">
              <a:solidFill>
                <a:schemeClr val="tx1">
                  <a:lumMod val="75000"/>
                  <a:lumOff val="25000"/>
                </a:schemeClr>
              </a:solidFill>
            </a:endParaRPr>
          </a:p>
        </p:txBody>
      </p:sp>
      <p:sp>
        <p:nvSpPr>
          <p:cNvPr id="32" name="Text 30"/>
          <p:cNvSpPr txBox="1"/>
          <p:nvPr/>
        </p:nvSpPr>
        <p:spPr>
          <a:xfrm>
            <a:off x="483386" y="4101084"/>
            <a:ext cx="2647188" cy="137160"/>
          </a:xfrm>
          <a:prstGeom prst="rect">
            <a:avLst/>
          </a:prstGeom>
          <a:noFill/>
          <a:ln/>
        </p:spPr>
        <p:txBody>
          <a:bodyPr wrap="square" lIns="0" tIns="0" rIns="0" bIns="0" rtlCol="0" anchor="ctr"/>
          <a:lstStyle/>
          <a:p>
            <a:r>
              <a:rPr lang="en-US" sz="525" dirty="0">
                <a:solidFill>
                  <a:srgbClr val="8A93A0"/>
                </a:solidFill>
                <a:latin typeface="Plus Jakarta Sans Medium" pitchFamily="34" charset="0"/>
                <a:ea typeface="Plus Jakarta Sans Medium" pitchFamily="34" charset="-122"/>
                <a:cs typeface="Plus Jakarta Sans Medium" pitchFamily="34" charset="-120"/>
              </a:rPr>
              <a:t>Bank of England / FCA, Nov 2024</a:t>
            </a:r>
            <a:endParaRPr lang="en-US" sz="525" dirty="0"/>
          </a:p>
        </p:txBody>
      </p:sp>
      <p:sp>
        <p:nvSpPr>
          <p:cNvPr id="33" name="Text 31"/>
          <p:cNvSpPr txBox="1"/>
          <p:nvPr/>
        </p:nvSpPr>
        <p:spPr>
          <a:xfrm>
            <a:off x="3251109" y="3442716"/>
            <a:ext cx="2647188" cy="274320"/>
          </a:xfrm>
          <a:prstGeom prst="rect">
            <a:avLst/>
          </a:prstGeom>
          <a:noFill/>
          <a:ln/>
        </p:spPr>
        <p:txBody>
          <a:bodyPr wrap="square" lIns="0" tIns="0" rIns="0" bIns="0" rtlCol="0" anchor="ctr"/>
          <a:lstStyle/>
          <a:p>
            <a:r>
              <a:rPr lang="en-US" sz="1650" dirty="0">
                <a:solidFill>
                  <a:schemeClr val="accent3"/>
                </a:solidFill>
                <a:latin typeface="Plus Jakarta Sans ExtraBold" pitchFamily="34" charset="0"/>
                <a:ea typeface="Plus Jakarta Sans ExtraBold" pitchFamily="34" charset="-122"/>
                <a:cs typeface="Plus Jakarta Sans ExtraBold" pitchFamily="34" charset="-120"/>
              </a:rPr>
              <a:t>&gt;40%</a:t>
            </a:r>
            <a:endParaRPr lang="en-US" sz="1650" dirty="0">
              <a:solidFill>
                <a:schemeClr val="accent3"/>
              </a:solidFill>
            </a:endParaRPr>
          </a:p>
        </p:txBody>
      </p:sp>
      <p:sp>
        <p:nvSpPr>
          <p:cNvPr id="34" name="Text 32"/>
          <p:cNvSpPr txBox="1"/>
          <p:nvPr/>
        </p:nvSpPr>
        <p:spPr>
          <a:xfrm>
            <a:off x="3251109" y="3730752"/>
            <a:ext cx="2551176" cy="356616"/>
          </a:xfrm>
          <a:prstGeom prst="rect">
            <a:avLst/>
          </a:prstGeom>
          <a:noFill/>
          <a:ln/>
        </p:spPr>
        <p:txBody>
          <a:bodyPr wrap="square" lIns="0" tIns="0" rIns="0" bIns="0" rtlCol="0" anchor="t"/>
          <a:lstStyle/>
          <a:p>
            <a:pPr>
              <a:lnSpc>
                <a:spcPct val="114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of agentic AI projects are forecast to be cancelled by end-2027, on unclear value and inadequate risk controls</a:t>
            </a:r>
            <a:endParaRPr lang="en-US" sz="600" dirty="0">
              <a:solidFill>
                <a:schemeClr val="tx1">
                  <a:lumMod val="75000"/>
                  <a:lumOff val="25000"/>
                </a:schemeClr>
              </a:solidFill>
            </a:endParaRPr>
          </a:p>
        </p:txBody>
      </p:sp>
      <p:sp>
        <p:nvSpPr>
          <p:cNvPr id="35" name="Text 33"/>
          <p:cNvSpPr txBox="1"/>
          <p:nvPr/>
        </p:nvSpPr>
        <p:spPr>
          <a:xfrm>
            <a:off x="3251109" y="4101084"/>
            <a:ext cx="2647188" cy="137160"/>
          </a:xfrm>
          <a:prstGeom prst="rect">
            <a:avLst/>
          </a:prstGeom>
          <a:noFill/>
          <a:ln/>
        </p:spPr>
        <p:txBody>
          <a:bodyPr wrap="square" lIns="0" tIns="0" rIns="0" bIns="0" rtlCol="0" anchor="ctr"/>
          <a:lstStyle/>
          <a:p>
            <a:r>
              <a:rPr lang="en-US" sz="525" dirty="0">
                <a:solidFill>
                  <a:srgbClr val="8A93A0"/>
                </a:solidFill>
                <a:latin typeface="Plus Jakarta Sans Medium" pitchFamily="34" charset="0"/>
                <a:ea typeface="Plus Jakarta Sans Medium" pitchFamily="34" charset="-122"/>
                <a:cs typeface="Plus Jakarta Sans Medium" pitchFamily="34" charset="-120"/>
              </a:rPr>
              <a:t>Gartner, Jun 2025</a:t>
            </a:r>
            <a:endParaRPr lang="en-US" sz="525" dirty="0"/>
          </a:p>
        </p:txBody>
      </p:sp>
      <p:sp>
        <p:nvSpPr>
          <p:cNvPr id="36" name="Text 34"/>
          <p:cNvSpPr txBox="1"/>
          <p:nvPr/>
        </p:nvSpPr>
        <p:spPr>
          <a:xfrm>
            <a:off x="6035457" y="3442716"/>
            <a:ext cx="2647188" cy="274320"/>
          </a:xfrm>
          <a:prstGeom prst="rect">
            <a:avLst/>
          </a:prstGeom>
          <a:noFill/>
          <a:ln/>
        </p:spPr>
        <p:txBody>
          <a:bodyPr wrap="square" lIns="0" tIns="0" rIns="0" bIns="0" rtlCol="0" anchor="ctr"/>
          <a:lstStyle/>
          <a:p>
            <a:r>
              <a:rPr lang="en-US" sz="1650" dirty="0">
                <a:solidFill>
                  <a:schemeClr val="accent6"/>
                </a:solidFill>
                <a:latin typeface="Plus Jakarta Sans ExtraBold" pitchFamily="34" charset="0"/>
                <a:ea typeface="Plus Jakarta Sans ExtraBold" pitchFamily="34" charset="-122"/>
                <a:cs typeface="Plus Jakarta Sans ExtraBold" pitchFamily="34" charset="-120"/>
              </a:rPr>
              <a:t>14</a:t>
            </a:r>
            <a:endParaRPr lang="en-US" sz="1650" dirty="0">
              <a:solidFill>
                <a:schemeClr val="accent6"/>
              </a:solidFill>
            </a:endParaRPr>
          </a:p>
        </p:txBody>
      </p:sp>
      <p:sp>
        <p:nvSpPr>
          <p:cNvPr id="37" name="Text 35"/>
          <p:cNvSpPr txBox="1"/>
          <p:nvPr/>
        </p:nvSpPr>
        <p:spPr>
          <a:xfrm>
            <a:off x="6035457" y="3730752"/>
            <a:ext cx="2551176" cy="356616"/>
          </a:xfrm>
          <a:prstGeom prst="rect">
            <a:avLst/>
          </a:prstGeom>
          <a:noFill/>
          <a:ln/>
        </p:spPr>
        <p:txBody>
          <a:bodyPr wrap="square" lIns="0" tIns="0" rIns="0" bIns="0" rtlCol="0" anchor="t"/>
          <a:lstStyle/>
          <a:p>
            <a:pPr>
              <a:lnSpc>
                <a:spcPct val="114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findings when we ran this over three of our own engagements — nine were gaps in work we had already specified</a:t>
            </a:r>
            <a:endParaRPr lang="en-US" sz="600" dirty="0">
              <a:solidFill>
                <a:schemeClr val="tx1">
                  <a:lumMod val="75000"/>
                  <a:lumOff val="25000"/>
                </a:schemeClr>
              </a:solidFill>
            </a:endParaRPr>
          </a:p>
        </p:txBody>
      </p:sp>
      <p:sp>
        <p:nvSpPr>
          <p:cNvPr id="38" name="Text 36"/>
          <p:cNvSpPr txBox="1"/>
          <p:nvPr/>
        </p:nvSpPr>
        <p:spPr>
          <a:xfrm>
            <a:off x="6035457" y="4101084"/>
            <a:ext cx="2647188" cy="137160"/>
          </a:xfrm>
          <a:prstGeom prst="rect">
            <a:avLst/>
          </a:prstGeom>
          <a:noFill/>
          <a:ln/>
        </p:spPr>
        <p:txBody>
          <a:bodyPr wrap="square" lIns="0" tIns="0" rIns="0" bIns="0" rtlCol="0" anchor="ctr"/>
          <a:lstStyle/>
          <a:p>
            <a:r>
              <a:rPr lang="en-US" sz="525" dirty="0">
                <a:solidFill>
                  <a:srgbClr val="8A93A0"/>
                </a:solidFill>
                <a:latin typeface="Plus Jakarta Sans Medium" pitchFamily="34" charset="0"/>
                <a:ea typeface="Plus Jakarta Sans Medium" pitchFamily="34" charset="-122"/>
                <a:cs typeface="Plus Jakarta Sans Medium" pitchFamily="34" charset="-120"/>
              </a:rPr>
              <a:t>Cognirise, Sept 2026</a:t>
            </a:r>
            <a:endParaRPr lang="en-US" sz="525" dirty="0"/>
          </a:p>
        </p:txBody>
      </p:sp>
      <p:sp>
        <p:nvSpPr>
          <p:cNvPr id="39" name="Text 37"/>
          <p:cNvSpPr txBox="1"/>
          <p:nvPr/>
        </p:nvSpPr>
        <p:spPr>
          <a:xfrm>
            <a:off x="425196" y="4430268"/>
            <a:ext cx="8298180" cy="274320"/>
          </a:xfrm>
          <a:prstGeom prst="rect">
            <a:avLst/>
          </a:prstGeom>
          <a:noFill/>
          <a:ln/>
        </p:spPr>
        <p:txBody>
          <a:bodyPr wrap="square" lIns="0" tIns="0" rIns="0" bIns="0" rtlCol="0" anchor="ctr"/>
          <a:lstStyle/>
          <a:p>
            <a:pPr algn="ctr"/>
            <a:r>
              <a:rPr lang="en-US" sz="900" dirty="0">
                <a:solidFill>
                  <a:schemeClr val="accent4"/>
                </a:solidFill>
                <a:latin typeface="Plus Jakarta Sans ExtraBold" pitchFamily="34" charset="0"/>
                <a:ea typeface="Plus Jakarta Sans ExtraBold" pitchFamily="34" charset="-122"/>
                <a:cs typeface="Plus Jakarta Sans ExtraBold" pitchFamily="34" charset="-120"/>
              </a:rPr>
              <a:t>We don’t sell experimentation. We sell operational reality.  </a:t>
            </a:r>
            <a:r>
              <a:rPr lang="en-US" sz="900" dirty="0">
                <a:solidFill>
                  <a:srgbClr val="8A93A0"/>
                </a:solidFill>
                <a:latin typeface="Plus Jakarta Sans ExtraLight" pitchFamily="34" charset="0"/>
                <a:ea typeface="Plus Jakarta Sans ExtraLight" pitchFamily="34" charset="-122"/>
                <a:cs typeface="Plus Jakarta Sans ExtraLight" pitchFamily="34" charset="-120"/>
              </a:rPr>
              <a:t>Intelligence without authority is just an experiment.</a:t>
            </a:r>
            <a:endParaRPr lang="en-US" sz="900" dirty="0"/>
          </a:p>
        </p:txBody>
      </p:sp>
      <p:sp>
        <p:nvSpPr>
          <p:cNvPr id="40" name="Title 39">
            <a:extLst>
              <a:ext uri="{FF2B5EF4-FFF2-40B4-BE49-F238E27FC236}">
                <a16:creationId xmlns:a16="http://schemas.microsoft.com/office/drawing/2014/main" id="{473336D3-BBFD-5E51-8C3B-22E30C8CC378}"/>
              </a:ext>
            </a:extLst>
          </p:cNvPr>
          <p:cNvSpPr>
            <a:spLocks noGrp="1"/>
          </p:cNvSpPr>
          <p:nvPr>
            <p:ph type="title"/>
          </p:nvPr>
        </p:nvSpPr>
        <p:spPr>
          <a:xfrm>
            <a:off x="457200" y="531813"/>
            <a:ext cx="7315200" cy="333425"/>
          </a:xfrm>
        </p:spPr>
        <p:txBody>
          <a:bodyPr/>
          <a:lstStyle/>
          <a:p>
            <a:r>
              <a:rPr lang="en-AE" dirty="0"/>
              <a:t>Widely reported agent failures: the same error</a:t>
            </a:r>
          </a:p>
        </p:txBody>
      </p:sp>
      <p:sp>
        <p:nvSpPr>
          <p:cNvPr id="41" name="Text Placeholder 40">
            <a:extLst>
              <a:ext uri="{FF2B5EF4-FFF2-40B4-BE49-F238E27FC236}">
                <a16:creationId xmlns:a16="http://schemas.microsoft.com/office/drawing/2014/main" id="{16631FA8-8493-1526-86BA-378FDDB20D50}"/>
              </a:ext>
            </a:extLst>
          </p:cNvPr>
          <p:cNvSpPr>
            <a:spLocks noGrp="1"/>
          </p:cNvSpPr>
          <p:nvPr>
            <p:ph type="body" sz="quarter" idx="13"/>
          </p:nvPr>
        </p:nvSpPr>
        <p:spPr>
          <a:xfrm>
            <a:off x="457200" y="307975"/>
            <a:ext cx="2378075" cy="184150"/>
          </a:xfrm>
        </p:spPr>
        <p:txBody>
          <a:bodyPr/>
          <a:lstStyle/>
          <a:p>
            <a:r>
              <a:rPr lang="en-AE" dirty="0"/>
              <a:t>WHY IT MATTERS</a:t>
            </a:r>
          </a:p>
        </p:txBody>
      </p:sp>
      <p:sp>
        <p:nvSpPr>
          <p:cNvPr id="42" name="Text Placeholder 41">
            <a:extLst>
              <a:ext uri="{FF2B5EF4-FFF2-40B4-BE49-F238E27FC236}">
                <a16:creationId xmlns:a16="http://schemas.microsoft.com/office/drawing/2014/main" id="{106931E8-39D8-C117-8C62-697578AA8113}"/>
              </a:ext>
            </a:extLst>
          </p:cNvPr>
          <p:cNvSpPr>
            <a:spLocks noGrp="1"/>
          </p:cNvSpPr>
          <p:nvPr>
            <p:ph type="body" sz="quarter" idx="14"/>
          </p:nvPr>
        </p:nvSpPr>
        <p:spPr>
          <a:xfrm>
            <a:off x="457200" y="899478"/>
            <a:ext cx="7315200" cy="157351"/>
          </a:xfrm>
        </p:spPr>
        <p:txBody>
          <a:bodyPr/>
          <a:lstStyle/>
          <a:p>
            <a:r>
              <a:rPr lang="en-US" dirty="0"/>
              <a:t>Authority granted at a level the exposure did not support.</a:t>
            </a:r>
            <a:endParaRPr lang="en-AE"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0EB107FD-CC55-DC17-DCD5-1089449476A0}"/>
              </a:ext>
            </a:extLst>
          </p:cNvPr>
          <p:cNvGrpSpPr/>
          <p:nvPr/>
        </p:nvGrpSpPr>
        <p:grpSpPr>
          <a:xfrm>
            <a:off x="329184" y="1272887"/>
            <a:ext cx="8375073" cy="2627757"/>
            <a:chOff x="329184" y="1131570"/>
            <a:chExt cx="8375073" cy="2942082"/>
          </a:xfrm>
        </p:grpSpPr>
        <p:sp>
          <p:nvSpPr>
            <p:cNvPr id="7" name="Shape 5"/>
            <p:cNvSpPr/>
            <p:nvPr/>
          </p:nvSpPr>
          <p:spPr>
            <a:xfrm>
              <a:off x="329184" y="1131570"/>
              <a:ext cx="8366760" cy="329184"/>
            </a:xfrm>
            <a:prstGeom prst="rect">
              <a:avLst/>
            </a:prstGeom>
            <a:solidFill>
              <a:schemeClr val="bg2">
                <a:lumMod val="90000"/>
              </a:schemeClr>
            </a:solidFill>
            <a:ln w="3175">
              <a:noFill/>
              <a:prstDash val="solid"/>
            </a:ln>
          </p:spPr>
          <p:txBody>
            <a:bodyPr/>
            <a:lstStyle/>
            <a:p>
              <a:endParaRPr lang="en-AE" sz="1350"/>
            </a:p>
          </p:txBody>
        </p:sp>
        <p:sp>
          <p:nvSpPr>
            <p:cNvPr id="44" name="Shape 5">
              <a:extLst>
                <a:ext uri="{FF2B5EF4-FFF2-40B4-BE49-F238E27FC236}">
                  <a16:creationId xmlns:a16="http://schemas.microsoft.com/office/drawing/2014/main" id="{67E62855-C7AB-749D-5B6D-1B4FC1DE7298}"/>
                </a:ext>
              </a:extLst>
            </p:cNvPr>
            <p:cNvSpPr/>
            <p:nvPr/>
          </p:nvSpPr>
          <p:spPr>
            <a:xfrm>
              <a:off x="331449" y="1783080"/>
              <a:ext cx="8366760" cy="329184"/>
            </a:xfrm>
            <a:prstGeom prst="rect">
              <a:avLst/>
            </a:prstGeom>
            <a:solidFill>
              <a:schemeClr val="bg2">
                <a:lumMod val="90000"/>
              </a:schemeClr>
            </a:solidFill>
            <a:ln w="3175">
              <a:noFill/>
              <a:prstDash val="solid"/>
            </a:ln>
          </p:spPr>
          <p:txBody>
            <a:bodyPr/>
            <a:lstStyle/>
            <a:p>
              <a:endParaRPr lang="en-AE" sz="1350"/>
            </a:p>
          </p:txBody>
        </p:sp>
        <p:sp>
          <p:nvSpPr>
            <p:cNvPr id="46" name="Shape 5">
              <a:extLst>
                <a:ext uri="{FF2B5EF4-FFF2-40B4-BE49-F238E27FC236}">
                  <a16:creationId xmlns:a16="http://schemas.microsoft.com/office/drawing/2014/main" id="{584B3EF9-9F86-01F9-D08A-DEAE49DDC0E1}"/>
                </a:ext>
              </a:extLst>
            </p:cNvPr>
            <p:cNvSpPr/>
            <p:nvPr/>
          </p:nvSpPr>
          <p:spPr>
            <a:xfrm>
              <a:off x="333714" y="2434590"/>
              <a:ext cx="8366760" cy="329184"/>
            </a:xfrm>
            <a:prstGeom prst="rect">
              <a:avLst/>
            </a:prstGeom>
            <a:solidFill>
              <a:schemeClr val="bg2">
                <a:lumMod val="90000"/>
              </a:schemeClr>
            </a:solidFill>
            <a:ln w="3175">
              <a:noFill/>
              <a:prstDash val="solid"/>
            </a:ln>
          </p:spPr>
          <p:txBody>
            <a:bodyPr/>
            <a:lstStyle/>
            <a:p>
              <a:endParaRPr lang="en-AE" sz="1350"/>
            </a:p>
          </p:txBody>
        </p:sp>
        <p:sp>
          <p:nvSpPr>
            <p:cNvPr id="48" name="Shape 5">
              <a:extLst>
                <a:ext uri="{FF2B5EF4-FFF2-40B4-BE49-F238E27FC236}">
                  <a16:creationId xmlns:a16="http://schemas.microsoft.com/office/drawing/2014/main" id="{9A579655-1490-1635-98FD-6552C0B4859A}"/>
                </a:ext>
              </a:extLst>
            </p:cNvPr>
            <p:cNvSpPr/>
            <p:nvPr/>
          </p:nvSpPr>
          <p:spPr>
            <a:xfrm>
              <a:off x="335979" y="3086100"/>
              <a:ext cx="8366760" cy="329184"/>
            </a:xfrm>
            <a:prstGeom prst="rect">
              <a:avLst/>
            </a:prstGeom>
            <a:solidFill>
              <a:schemeClr val="bg2">
                <a:lumMod val="90000"/>
              </a:schemeClr>
            </a:solidFill>
            <a:ln w="3175">
              <a:noFill/>
              <a:prstDash val="solid"/>
            </a:ln>
          </p:spPr>
          <p:txBody>
            <a:bodyPr/>
            <a:lstStyle/>
            <a:p>
              <a:endParaRPr lang="en-AE" sz="1350"/>
            </a:p>
          </p:txBody>
        </p:sp>
        <p:sp>
          <p:nvSpPr>
            <p:cNvPr id="51" name="Shape 5">
              <a:extLst>
                <a:ext uri="{FF2B5EF4-FFF2-40B4-BE49-F238E27FC236}">
                  <a16:creationId xmlns:a16="http://schemas.microsoft.com/office/drawing/2014/main" id="{B49DD1D8-8657-D451-AE8E-DB2F9B8B6455}"/>
                </a:ext>
              </a:extLst>
            </p:cNvPr>
            <p:cNvSpPr/>
            <p:nvPr/>
          </p:nvSpPr>
          <p:spPr>
            <a:xfrm>
              <a:off x="337497" y="3744468"/>
              <a:ext cx="8366760" cy="329184"/>
            </a:xfrm>
            <a:prstGeom prst="rect">
              <a:avLst/>
            </a:prstGeom>
            <a:solidFill>
              <a:schemeClr val="bg2">
                <a:lumMod val="90000"/>
              </a:schemeClr>
            </a:solidFill>
            <a:ln w="3175">
              <a:noFill/>
              <a:prstDash val="solid"/>
            </a:ln>
          </p:spPr>
          <p:txBody>
            <a:bodyPr/>
            <a:lstStyle/>
            <a:p>
              <a:endParaRPr lang="en-AE" sz="1350"/>
            </a:p>
          </p:txBody>
        </p:sp>
      </p:grpSp>
      <p:sp>
        <p:nvSpPr>
          <p:cNvPr id="3" name="Text 1"/>
          <p:cNvSpPr txBox="1"/>
          <p:nvPr/>
        </p:nvSpPr>
        <p:spPr>
          <a:xfrm>
            <a:off x="425196" y="452628"/>
            <a:ext cx="7955280" cy="384048"/>
          </a:xfrm>
          <a:prstGeom prst="rect">
            <a:avLst/>
          </a:prstGeom>
          <a:noFill/>
          <a:ln/>
        </p:spPr>
        <p:txBody>
          <a:bodyPr wrap="square" lIns="0" tIns="0" rIns="0" bIns="0" rtlCol="0" anchor="ctr"/>
          <a:lstStyle/>
          <a:p>
            <a:r>
              <a:rPr lang="en-US" sz="1950" dirty="0">
                <a:solidFill>
                  <a:srgbClr val="F7F4EE"/>
                </a:solidFill>
                <a:latin typeface="Plus Jakarta Sans ExtraBold" pitchFamily="34" charset="0"/>
                <a:ea typeface="Plus Jakarta Sans ExtraBold" pitchFamily="34" charset="-122"/>
                <a:cs typeface="Plus Jakarta Sans ExtraBold" pitchFamily="34" charset="-120"/>
              </a:rPr>
              <a:t>One handover, end to end</a:t>
            </a:r>
            <a:endParaRPr lang="en-US" sz="1950" dirty="0"/>
          </a:p>
        </p:txBody>
      </p:sp>
      <p:sp>
        <p:nvSpPr>
          <p:cNvPr id="4" name="Text 2"/>
          <p:cNvSpPr txBox="1"/>
          <p:nvPr/>
        </p:nvSpPr>
        <p:spPr>
          <a:xfrm>
            <a:off x="425196" y="4841748"/>
            <a:ext cx="4114800" cy="164592"/>
          </a:xfrm>
          <a:prstGeom prst="rect">
            <a:avLst/>
          </a:prstGeom>
          <a:noFill/>
          <a:ln/>
        </p:spPr>
        <p:txBody>
          <a:bodyPr wrap="square" lIns="0" tIns="0" rIns="0" bIns="0" rtlCol="0" anchor="ctr"/>
          <a:lstStyle/>
          <a:p>
            <a:r>
              <a:rPr lang="en-US" sz="563" dirty="0">
                <a:solidFill>
                  <a:srgbClr val="8A93A0"/>
                </a:solidFill>
                <a:latin typeface="Plus Jakarta Sans ExtraLight" pitchFamily="34" charset="0"/>
                <a:ea typeface="Plus Jakarta Sans ExtraLight" pitchFamily="34" charset="-122"/>
                <a:cs typeface="Plus Jakarta Sans ExtraLight" pitchFamily="34" charset="-120"/>
              </a:rPr>
              <a:t>Copyright © 2026. All Right Protected &amp; Reserved.</a:t>
            </a:r>
            <a:endParaRPr lang="en-US" sz="563" dirty="0"/>
          </a:p>
        </p:txBody>
      </p:sp>
      <p:sp>
        <p:nvSpPr>
          <p:cNvPr id="5" name="Text 3"/>
          <p:cNvSpPr txBox="1"/>
          <p:nvPr/>
        </p:nvSpPr>
        <p:spPr>
          <a:xfrm>
            <a:off x="8457971" y="4841748"/>
            <a:ext cx="274320" cy="164592"/>
          </a:xfrm>
          <a:prstGeom prst="rect">
            <a:avLst/>
          </a:prstGeom>
          <a:noFill/>
          <a:ln/>
        </p:spPr>
        <p:txBody>
          <a:bodyPr wrap="square" lIns="0" tIns="0" rIns="0" bIns="0" rtlCol="0" anchor="ctr"/>
          <a:lstStyle/>
          <a:p>
            <a:pPr algn="r"/>
            <a:r>
              <a:rPr lang="en-US" sz="563" dirty="0">
                <a:solidFill>
                  <a:srgbClr val="8A93A0"/>
                </a:solidFill>
                <a:latin typeface="Plus Jakarta Sans Medium" pitchFamily="34" charset="0"/>
                <a:ea typeface="Plus Jakarta Sans Medium" pitchFamily="34" charset="-122"/>
                <a:cs typeface="Plus Jakarta Sans Medium" pitchFamily="34" charset="-120"/>
              </a:rPr>
              <a:t>4</a:t>
            </a:r>
            <a:endParaRPr lang="en-US" sz="563" dirty="0"/>
          </a:p>
        </p:txBody>
      </p:sp>
      <p:sp>
        <p:nvSpPr>
          <p:cNvPr id="8" name="Text 6"/>
          <p:cNvSpPr txBox="1"/>
          <p:nvPr/>
        </p:nvSpPr>
        <p:spPr>
          <a:xfrm>
            <a:off x="493776" y="1320893"/>
            <a:ext cx="1618488" cy="188468"/>
          </a:xfrm>
          <a:prstGeom prst="rect">
            <a:avLst/>
          </a:prstGeom>
          <a:noFill/>
          <a:ln/>
        </p:spPr>
        <p:txBody>
          <a:bodyPr wrap="square" lIns="0" tIns="0" rIns="0" bIns="0" rtlCol="0" anchor="ctr"/>
          <a:lstStyle/>
          <a:p>
            <a:pPr>
              <a:lnSpc>
                <a:spcPct val="112000"/>
              </a:lnSpc>
            </a:pPr>
            <a:r>
              <a:rPr lang="en-US" sz="600" kern="0" spc="90" dirty="0">
                <a:solidFill>
                  <a:schemeClr val="accent4"/>
                </a:solidFill>
                <a:latin typeface="Plus Jakarta Sans Medium" pitchFamily="34" charset="0"/>
                <a:ea typeface="Plus Jakarta Sans Medium" pitchFamily="34" charset="-122"/>
                <a:cs typeface="Plus Jakarta Sans Medium" pitchFamily="34" charset="-120"/>
              </a:rPr>
              <a:t>THE HANDOVER</a:t>
            </a:r>
            <a:endParaRPr lang="en-US" sz="600" dirty="0">
              <a:solidFill>
                <a:schemeClr val="accent4"/>
              </a:solidFill>
            </a:endParaRPr>
          </a:p>
        </p:txBody>
      </p:sp>
      <p:sp>
        <p:nvSpPr>
          <p:cNvPr id="9" name="Text 7"/>
          <p:cNvSpPr txBox="1"/>
          <p:nvPr/>
        </p:nvSpPr>
        <p:spPr>
          <a:xfrm>
            <a:off x="2249424" y="1320893"/>
            <a:ext cx="5472684" cy="188468"/>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The agent rebooks a passenger onto a new flight after a cancellation and issues the new boarding pass.</a:t>
            </a:r>
            <a:endParaRPr lang="en-US" sz="638" dirty="0">
              <a:solidFill>
                <a:schemeClr val="tx1">
                  <a:lumMod val="75000"/>
                  <a:lumOff val="25000"/>
                </a:schemeClr>
              </a:solidFill>
            </a:endParaRPr>
          </a:p>
        </p:txBody>
      </p:sp>
      <p:sp>
        <p:nvSpPr>
          <p:cNvPr id="10" name="Text 8"/>
          <p:cNvSpPr txBox="1"/>
          <p:nvPr/>
        </p:nvSpPr>
        <p:spPr>
          <a:xfrm>
            <a:off x="493776" y="1608512"/>
            <a:ext cx="1618488" cy="219456"/>
          </a:xfrm>
          <a:prstGeom prst="rect">
            <a:avLst/>
          </a:prstGeom>
          <a:noFill/>
          <a:ln/>
        </p:spPr>
        <p:txBody>
          <a:bodyPr wrap="square" lIns="0" tIns="0" rIns="0" bIns="0" rtlCol="0" anchor="ctr"/>
          <a:lstStyle/>
          <a:p>
            <a:pPr>
              <a:lnSpc>
                <a:spcPct val="112000"/>
              </a:lnSpc>
            </a:pPr>
            <a:r>
              <a:rPr lang="en-US" sz="638" dirty="0">
                <a:latin typeface="Plus Jakarta Sans ExtraLight" pitchFamily="34" charset="0"/>
                <a:ea typeface="Plus Jakarta Sans ExtraLight" pitchFamily="34" charset="-122"/>
                <a:cs typeface="Plus Jakarta Sans ExtraLight" pitchFamily="34" charset="-120"/>
              </a:rPr>
              <a:t>Q1 · What is handed over</a:t>
            </a:r>
            <a:endParaRPr lang="en-US" sz="638" dirty="0"/>
          </a:p>
        </p:txBody>
      </p:sp>
      <p:sp>
        <p:nvSpPr>
          <p:cNvPr id="11" name="Text 9"/>
          <p:cNvSpPr txBox="1"/>
          <p:nvPr/>
        </p:nvSpPr>
        <p:spPr>
          <a:xfrm>
            <a:off x="2249424" y="1608512"/>
            <a:ext cx="5472684" cy="219456"/>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A seat inventory record changes and a boarding pass is issued.</a:t>
            </a:r>
            <a:endParaRPr lang="en-US" sz="638" dirty="0">
              <a:solidFill>
                <a:schemeClr val="tx1">
                  <a:lumMod val="75000"/>
                  <a:lumOff val="25000"/>
                </a:schemeClr>
              </a:solidFill>
            </a:endParaRPr>
          </a:p>
        </p:txBody>
      </p:sp>
      <p:sp>
        <p:nvSpPr>
          <p:cNvPr id="12" name="Text 10"/>
          <p:cNvSpPr txBox="1"/>
          <p:nvPr/>
        </p:nvSpPr>
        <p:spPr>
          <a:xfrm>
            <a:off x="7818120" y="1633451"/>
            <a:ext cx="699516" cy="164592"/>
          </a:xfrm>
          <a:prstGeom prst="rect">
            <a:avLst/>
          </a:prstGeom>
          <a:noFill/>
          <a:ln/>
        </p:spPr>
        <p:txBody>
          <a:bodyPr wrap="square" lIns="0" tIns="0" rIns="0" bIns="0" rtlCol="0" anchor="ctr"/>
          <a:lstStyle/>
          <a:p>
            <a:pPr algn="r"/>
            <a:r>
              <a:rPr lang="en-US" sz="825" dirty="0">
                <a:solidFill>
                  <a:schemeClr val="accent4"/>
                </a:solidFill>
                <a:latin typeface="Plus Jakarta Sans ExtraBold" pitchFamily="34" charset="0"/>
                <a:ea typeface="Plus Jakarta Sans ExtraBold" pitchFamily="34" charset="-122"/>
                <a:cs typeface="Plus Jakarta Sans ExtraBold" pitchFamily="34" charset="-120"/>
              </a:rPr>
              <a:t>ACTION</a:t>
            </a:r>
            <a:endParaRPr lang="en-US" sz="825" dirty="0">
              <a:solidFill>
                <a:schemeClr val="accent4"/>
              </a:solidFill>
            </a:endParaRPr>
          </a:p>
        </p:txBody>
      </p:sp>
      <p:sp>
        <p:nvSpPr>
          <p:cNvPr id="14" name="Text 12"/>
          <p:cNvSpPr txBox="1"/>
          <p:nvPr/>
        </p:nvSpPr>
        <p:spPr>
          <a:xfrm>
            <a:off x="493776" y="1919116"/>
            <a:ext cx="1618488" cy="178847"/>
          </a:xfrm>
          <a:prstGeom prst="rect">
            <a:avLst/>
          </a:prstGeom>
          <a:noFill/>
          <a:ln/>
        </p:spPr>
        <p:txBody>
          <a:bodyPr wrap="square" lIns="0" tIns="0" rIns="0" bIns="0" rtlCol="0" anchor="ctr"/>
          <a:lstStyle/>
          <a:p>
            <a:pPr>
              <a:lnSpc>
                <a:spcPct val="112000"/>
              </a:lnSpc>
            </a:pPr>
            <a:r>
              <a:rPr lang="en-US" sz="638" dirty="0">
                <a:latin typeface="Plus Jakarta Sans ExtraLight" pitchFamily="34" charset="0"/>
                <a:ea typeface="Plus Jakarta Sans ExtraLight" pitchFamily="34" charset="-122"/>
                <a:cs typeface="Plus Jakarta Sans ExtraLight" pitchFamily="34" charset="-120"/>
              </a:rPr>
              <a:t>Q2 · Reversibility</a:t>
            </a:r>
            <a:endParaRPr lang="en-US" sz="638" dirty="0"/>
          </a:p>
        </p:txBody>
      </p:sp>
      <p:sp>
        <p:nvSpPr>
          <p:cNvPr id="15" name="Text 13"/>
          <p:cNvSpPr txBox="1"/>
          <p:nvPr/>
        </p:nvSpPr>
        <p:spPr>
          <a:xfrm>
            <a:off x="2249424" y="1919116"/>
            <a:ext cx="5472684" cy="178847"/>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We can rebook again, but the original seat may already be gone — the passenger and the receiving carrier are involved.</a:t>
            </a:r>
            <a:endParaRPr lang="en-US" sz="638" dirty="0">
              <a:solidFill>
                <a:schemeClr val="tx1">
                  <a:lumMod val="75000"/>
                  <a:lumOff val="25000"/>
                </a:schemeClr>
              </a:solidFill>
            </a:endParaRPr>
          </a:p>
        </p:txBody>
      </p:sp>
      <p:sp>
        <p:nvSpPr>
          <p:cNvPr id="16" name="Text 14"/>
          <p:cNvSpPr txBox="1"/>
          <p:nvPr/>
        </p:nvSpPr>
        <p:spPr>
          <a:xfrm>
            <a:off x="7818120" y="1946709"/>
            <a:ext cx="699516" cy="123660"/>
          </a:xfrm>
          <a:prstGeom prst="rect">
            <a:avLst/>
          </a:prstGeom>
          <a:noFill/>
          <a:ln/>
        </p:spPr>
        <p:txBody>
          <a:bodyPr wrap="square" lIns="0" tIns="0" rIns="0" bIns="0" rtlCol="0" anchor="ctr"/>
          <a:lstStyle/>
          <a:p>
            <a:pPr algn="r"/>
            <a:r>
              <a:rPr lang="en-US" sz="825" dirty="0">
                <a:solidFill>
                  <a:srgbClr val="4A7DFF"/>
                </a:solidFill>
                <a:latin typeface="Plus Jakarta Sans ExtraBold" pitchFamily="34" charset="0"/>
                <a:ea typeface="Plus Jakarta Sans ExtraBold" pitchFamily="34" charset="-122"/>
                <a:cs typeface="Plus Jakarta Sans ExtraBold" pitchFamily="34" charset="-120"/>
              </a:rPr>
              <a:t>R3</a:t>
            </a:r>
            <a:endParaRPr lang="en-US" sz="825" dirty="0"/>
          </a:p>
        </p:txBody>
      </p:sp>
      <p:sp>
        <p:nvSpPr>
          <p:cNvPr id="17" name="Text 15"/>
          <p:cNvSpPr txBox="1"/>
          <p:nvPr/>
        </p:nvSpPr>
        <p:spPr>
          <a:xfrm>
            <a:off x="493776" y="2222352"/>
            <a:ext cx="1618488" cy="149891"/>
          </a:xfrm>
          <a:prstGeom prst="rect">
            <a:avLst/>
          </a:prstGeom>
          <a:noFill/>
          <a:ln/>
        </p:spPr>
        <p:txBody>
          <a:bodyPr wrap="square" lIns="0" tIns="0" rIns="0" bIns="0" rtlCol="0" anchor="ctr"/>
          <a:lstStyle/>
          <a:p>
            <a:pPr>
              <a:lnSpc>
                <a:spcPct val="112000"/>
              </a:lnSpc>
            </a:pPr>
            <a:r>
              <a:rPr lang="en-US" sz="638" dirty="0">
                <a:latin typeface="Plus Jakarta Sans ExtraLight" pitchFamily="34" charset="0"/>
                <a:ea typeface="Plus Jakarta Sans ExtraLight" pitchFamily="34" charset="-122"/>
                <a:cs typeface="Plus Jakarta Sans ExtraLight" pitchFamily="34" charset="-120"/>
              </a:rPr>
              <a:t>Q3 · Reach</a:t>
            </a:r>
            <a:endParaRPr lang="en-US" sz="638" dirty="0"/>
          </a:p>
        </p:txBody>
      </p:sp>
      <p:sp>
        <p:nvSpPr>
          <p:cNvPr id="18" name="Text 16"/>
          <p:cNvSpPr txBox="1"/>
          <p:nvPr/>
        </p:nvSpPr>
        <p:spPr>
          <a:xfrm>
            <a:off x="2249424" y="2222352"/>
            <a:ext cx="5472684" cy="149891"/>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One named passenger.</a:t>
            </a:r>
            <a:endParaRPr lang="en-US" sz="638" dirty="0">
              <a:solidFill>
                <a:schemeClr val="tx1">
                  <a:lumMod val="75000"/>
                  <a:lumOff val="25000"/>
                </a:schemeClr>
              </a:solidFill>
            </a:endParaRPr>
          </a:p>
        </p:txBody>
      </p:sp>
      <p:sp>
        <p:nvSpPr>
          <p:cNvPr id="19" name="Text 17"/>
          <p:cNvSpPr txBox="1"/>
          <p:nvPr/>
        </p:nvSpPr>
        <p:spPr>
          <a:xfrm>
            <a:off x="7818120" y="2220896"/>
            <a:ext cx="699516" cy="136026"/>
          </a:xfrm>
          <a:prstGeom prst="rect">
            <a:avLst/>
          </a:prstGeom>
          <a:noFill/>
          <a:ln/>
        </p:spPr>
        <p:txBody>
          <a:bodyPr wrap="square" lIns="0" tIns="0" rIns="0" bIns="0" rtlCol="0" anchor="ctr"/>
          <a:lstStyle/>
          <a:p>
            <a:pPr algn="r"/>
            <a:r>
              <a:rPr lang="en-US" sz="825" dirty="0">
                <a:solidFill>
                  <a:srgbClr val="4A7DFF"/>
                </a:solidFill>
                <a:latin typeface="Plus Jakarta Sans ExtraBold" pitchFamily="34" charset="0"/>
                <a:ea typeface="Plus Jakarta Sans ExtraBold" pitchFamily="34" charset="-122"/>
                <a:cs typeface="Plus Jakarta Sans ExtraBold" pitchFamily="34" charset="-120"/>
              </a:rPr>
              <a:t>H2</a:t>
            </a:r>
            <a:endParaRPr lang="en-US" sz="825" dirty="0"/>
          </a:p>
        </p:txBody>
      </p:sp>
      <p:sp>
        <p:nvSpPr>
          <p:cNvPr id="21" name="Text 19"/>
          <p:cNvSpPr txBox="1"/>
          <p:nvPr/>
        </p:nvSpPr>
        <p:spPr>
          <a:xfrm>
            <a:off x="493776" y="2502820"/>
            <a:ext cx="1618488" cy="164880"/>
          </a:xfrm>
          <a:prstGeom prst="rect">
            <a:avLst/>
          </a:prstGeom>
          <a:noFill/>
          <a:ln/>
        </p:spPr>
        <p:txBody>
          <a:bodyPr wrap="square" lIns="0" tIns="0" rIns="0" bIns="0" rtlCol="0" anchor="ctr"/>
          <a:lstStyle/>
          <a:p>
            <a:pPr>
              <a:lnSpc>
                <a:spcPct val="112000"/>
              </a:lnSpc>
            </a:pPr>
            <a:r>
              <a:rPr lang="en-US" sz="600" kern="0" spc="90" dirty="0">
                <a:solidFill>
                  <a:schemeClr val="accent4"/>
                </a:solidFill>
                <a:latin typeface="Plus Jakarta Sans Medium" pitchFamily="34" charset="0"/>
                <a:ea typeface="Plus Jakarta Sans Medium" pitchFamily="34" charset="-122"/>
                <a:cs typeface="Plus Jakarta Sans Medium" pitchFamily="34" charset="-120"/>
              </a:rPr>
              <a:t>EXPOSURE BAND</a:t>
            </a:r>
            <a:endParaRPr lang="en-US" sz="600" dirty="0">
              <a:solidFill>
                <a:schemeClr val="accent4"/>
              </a:solidFill>
            </a:endParaRPr>
          </a:p>
        </p:txBody>
      </p:sp>
      <p:sp>
        <p:nvSpPr>
          <p:cNvPr id="22" name="Text 20"/>
          <p:cNvSpPr txBox="1"/>
          <p:nvPr/>
        </p:nvSpPr>
        <p:spPr>
          <a:xfrm>
            <a:off x="2249424" y="2502820"/>
            <a:ext cx="5472684" cy="164880"/>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Worse of R3 and H2.</a:t>
            </a:r>
            <a:endParaRPr lang="en-US" sz="638" dirty="0">
              <a:solidFill>
                <a:schemeClr val="tx1">
                  <a:lumMod val="75000"/>
                  <a:lumOff val="25000"/>
                </a:schemeClr>
              </a:solidFill>
            </a:endParaRPr>
          </a:p>
        </p:txBody>
      </p:sp>
      <p:sp>
        <p:nvSpPr>
          <p:cNvPr id="23" name="Text 21"/>
          <p:cNvSpPr txBox="1"/>
          <p:nvPr/>
        </p:nvSpPr>
        <p:spPr>
          <a:xfrm>
            <a:off x="7818120" y="2495998"/>
            <a:ext cx="699516" cy="123660"/>
          </a:xfrm>
          <a:prstGeom prst="rect">
            <a:avLst/>
          </a:prstGeom>
          <a:noFill/>
          <a:ln/>
        </p:spPr>
        <p:txBody>
          <a:bodyPr wrap="square" lIns="0" tIns="0" rIns="0" bIns="0" rtlCol="0" anchor="ctr"/>
          <a:lstStyle/>
          <a:p>
            <a:pPr algn="r"/>
            <a:r>
              <a:rPr lang="en-US" sz="825" dirty="0">
                <a:solidFill>
                  <a:srgbClr val="4A7DFF"/>
                </a:solidFill>
                <a:latin typeface="Plus Jakarta Sans ExtraBold" pitchFamily="34" charset="0"/>
                <a:ea typeface="Plus Jakarta Sans ExtraBold" pitchFamily="34" charset="-122"/>
                <a:cs typeface="Plus Jakarta Sans ExtraBold" pitchFamily="34" charset="-120"/>
              </a:rPr>
              <a:t>E2</a:t>
            </a:r>
            <a:endParaRPr lang="en-US" sz="825" dirty="0"/>
          </a:p>
        </p:txBody>
      </p:sp>
      <p:sp>
        <p:nvSpPr>
          <p:cNvPr id="24" name="Text 22"/>
          <p:cNvSpPr txBox="1"/>
          <p:nvPr/>
        </p:nvSpPr>
        <p:spPr>
          <a:xfrm>
            <a:off x="493776" y="2780116"/>
            <a:ext cx="1618488" cy="181368"/>
          </a:xfrm>
          <a:prstGeom prst="rect">
            <a:avLst/>
          </a:prstGeom>
          <a:noFill/>
          <a:ln/>
        </p:spPr>
        <p:txBody>
          <a:bodyPr wrap="square" lIns="0" tIns="0" rIns="0" bIns="0" rtlCol="0" anchor="ctr"/>
          <a:lstStyle/>
          <a:p>
            <a:pPr>
              <a:lnSpc>
                <a:spcPct val="112000"/>
              </a:lnSpc>
            </a:pPr>
            <a:r>
              <a:rPr lang="en-US" sz="600" kern="0" spc="90" dirty="0">
                <a:solidFill>
                  <a:schemeClr val="accent4"/>
                </a:solidFill>
                <a:latin typeface="Plus Jakarta Sans Medium" pitchFamily="34" charset="0"/>
                <a:ea typeface="Plus Jakarta Sans Medium" pitchFamily="34" charset="-122"/>
                <a:cs typeface="Plus Jakarta Sans Medium" pitchFamily="34" charset="-120"/>
              </a:rPr>
              <a:t>CEILING</a:t>
            </a:r>
            <a:endParaRPr lang="en-US" sz="600" dirty="0">
              <a:solidFill>
                <a:schemeClr val="accent4"/>
              </a:solidFill>
            </a:endParaRPr>
          </a:p>
        </p:txBody>
      </p:sp>
      <p:sp>
        <p:nvSpPr>
          <p:cNvPr id="25" name="Text 23"/>
          <p:cNvSpPr txBox="1"/>
          <p:nvPr/>
        </p:nvSpPr>
        <p:spPr>
          <a:xfrm>
            <a:off x="2249424" y="2780116"/>
            <a:ext cx="5472684" cy="181368"/>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On the loop, with a stated intervention window.</a:t>
            </a:r>
            <a:endParaRPr lang="en-US" sz="638" dirty="0">
              <a:solidFill>
                <a:schemeClr val="tx1">
                  <a:lumMod val="75000"/>
                  <a:lumOff val="25000"/>
                </a:schemeClr>
              </a:solidFill>
            </a:endParaRPr>
          </a:p>
        </p:txBody>
      </p:sp>
      <p:sp>
        <p:nvSpPr>
          <p:cNvPr id="27" name="Text 25"/>
          <p:cNvSpPr txBox="1"/>
          <p:nvPr/>
        </p:nvSpPr>
        <p:spPr>
          <a:xfrm>
            <a:off x="493776" y="3046615"/>
            <a:ext cx="1618488" cy="219456"/>
          </a:xfrm>
          <a:prstGeom prst="rect">
            <a:avLst/>
          </a:prstGeom>
          <a:noFill/>
          <a:ln/>
        </p:spPr>
        <p:txBody>
          <a:bodyPr wrap="square" lIns="0" tIns="0" rIns="0" bIns="0" rtlCol="0" anchor="ctr"/>
          <a:lstStyle/>
          <a:p>
            <a:pPr>
              <a:lnSpc>
                <a:spcPct val="112000"/>
              </a:lnSpc>
            </a:pPr>
            <a:r>
              <a:rPr lang="en-US" sz="638" dirty="0">
                <a:latin typeface="Plus Jakarta Sans ExtraLight" pitchFamily="34" charset="0"/>
                <a:ea typeface="Plus Jakarta Sans ExtraLight" pitchFamily="34" charset="-122"/>
                <a:cs typeface="Plus Jakarta Sans ExtraLight" pitchFamily="34" charset="-120"/>
              </a:rPr>
              <a:t>Q4 · Artefact</a:t>
            </a:r>
            <a:endParaRPr lang="en-US" sz="638" dirty="0"/>
          </a:p>
        </p:txBody>
      </p:sp>
      <p:sp>
        <p:nvSpPr>
          <p:cNvPr id="28" name="Text 26"/>
          <p:cNvSpPr txBox="1"/>
          <p:nvPr/>
        </p:nvSpPr>
        <p:spPr>
          <a:xfrm>
            <a:off x="2249424" y="3046615"/>
            <a:ext cx="5472684" cy="219456"/>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Not required — the requested authority is at the ceiling, not above it.</a:t>
            </a:r>
            <a:endParaRPr lang="en-US" sz="638" dirty="0">
              <a:solidFill>
                <a:schemeClr val="tx1">
                  <a:lumMod val="75000"/>
                  <a:lumOff val="25000"/>
                </a:schemeClr>
              </a:solidFill>
            </a:endParaRPr>
          </a:p>
        </p:txBody>
      </p:sp>
      <p:sp>
        <p:nvSpPr>
          <p:cNvPr id="29" name="Text 27"/>
          <p:cNvSpPr txBox="1"/>
          <p:nvPr/>
        </p:nvSpPr>
        <p:spPr>
          <a:xfrm>
            <a:off x="493776" y="3348784"/>
            <a:ext cx="1618488" cy="219456"/>
          </a:xfrm>
          <a:prstGeom prst="rect">
            <a:avLst/>
          </a:prstGeom>
          <a:noFill/>
          <a:ln/>
        </p:spPr>
        <p:txBody>
          <a:bodyPr wrap="square" lIns="0" tIns="0" rIns="0" bIns="0" rtlCol="0" anchor="ctr"/>
          <a:lstStyle/>
          <a:p>
            <a:pPr>
              <a:lnSpc>
                <a:spcPct val="112000"/>
              </a:lnSpc>
            </a:pPr>
            <a:r>
              <a:rPr lang="en-US" sz="638" dirty="0">
                <a:latin typeface="Plus Jakarta Sans ExtraLight" pitchFamily="34" charset="0"/>
                <a:ea typeface="Plus Jakarta Sans ExtraLight" pitchFamily="34" charset="-122"/>
                <a:cs typeface="Plus Jakarta Sans ExtraLight" pitchFamily="34" charset="-120"/>
              </a:rPr>
              <a:t>Q5 · Owner</a:t>
            </a:r>
            <a:endParaRPr lang="en-US" sz="638" dirty="0"/>
          </a:p>
        </p:txBody>
      </p:sp>
      <p:sp>
        <p:nvSpPr>
          <p:cNvPr id="30" name="Text 28"/>
          <p:cNvSpPr txBox="1"/>
          <p:nvPr/>
        </p:nvSpPr>
        <p:spPr>
          <a:xfrm>
            <a:off x="2249424" y="3348784"/>
            <a:ext cx="5472684" cy="219456"/>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Duty Manager, Operations Control Centre.</a:t>
            </a:r>
            <a:endParaRPr lang="en-US" sz="638" dirty="0">
              <a:solidFill>
                <a:schemeClr val="tx1">
                  <a:lumMod val="75000"/>
                  <a:lumOff val="25000"/>
                </a:schemeClr>
              </a:solidFill>
            </a:endParaRPr>
          </a:p>
        </p:txBody>
      </p:sp>
      <p:sp>
        <p:nvSpPr>
          <p:cNvPr id="32" name="Text 30"/>
          <p:cNvSpPr txBox="1"/>
          <p:nvPr/>
        </p:nvSpPr>
        <p:spPr>
          <a:xfrm>
            <a:off x="493776" y="3623991"/>
            <a:ext cx="1618488" cy="238464"/>
          </a:xfrm>
          <a:prstGeom prst="rect">
            <a:avLst/>
          </a:prstGeom>
          <a:noFill/>
          <a:ln/>
        </p:spPr>
        <p:txBody>
          <a:bodyPr wrap="square" lIns="0" tIns="0" rIns="0" bIns="0" rtlCol="0" anchor="ctr"/>
          <a:lstStyle/>
          <a:p>
            <a:pPr>
              <a:lnSpc>
                <a:spcPct val="112000"/>
              </a:lnSpc>
            </a:pPr>
            <a:r>
              <a:rPr lang="en-US" sz="638" dirty="0">
                <a:latin typeface="Plus Jakarta Sans ExtraLight" pitchFamily="34" charset="0"/>
                <a:ea typeface="Plus Jakarta Sans ExtraLight" pitchFamily="34" charset="-122"/>
                <a:cs typeface="Plus Jakarta Sans ExtraLight" pitchFamily="34" charset="-120"/>
              </a:rPr>
              <a:t>Q6 · Promotion / demotion</a:t>
            </a:r>
            <a:endParaRPr lang="en-US" sz="638" dirty="0"/>
          </a:p>
        </p:txBody>
      </p:sp>
      <p:sp>
        <p:nvSpPr>
          <p:cNvPr id="33" name="Text 31"/>
          <p:cNvSpPr txBox="1"/>
          <p:nvPr/>
        </p:nvSpPr>
        <p:spPr>
          <a:xfrm>
            <a:off x="2249424" y="3623991"/>
            <a:ext cx="5472684" cy="238464"/>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Climbs to out-of-the-loop after 500 consecutive rebookings with zero disputed reversals and no complaint uplift versus the manual control group. Demotes automatically on any involuntary downgrade or missed connection it caused.</a:t>
            </a:r>
            <a:endParaRPr lang="en-US" sz="638" dirty="0">
              <a:solidFill>
                <a:schemeClr val="tx1">
                  <a:lumMod val="75000"/>
                  <a:lumOff val="25000"/>
                </a:schemeClr>
              </a:solidFill>
            </a:endParaRPr>
          </a:p>
        </p:txBody>
      </p:sp>
      <p:sp>
        <p:nvSpPr>
          <p:cNvPr id="34" name="Text 32"/>
          <p:cNvSpPr txBox="1"/>
          <p:nvPr/>
        </p:nvSpPr>
        <p:spPr>
          <a:xfrm>
            <a:off x="493776" y="3924495"/>
            <a:ext cx="1618488" cy="238464"/>
          </a:xfrm>
          <a:prstGeom prst="rect">
            <a:avLst/>
          </a:prstGeom>
          <a:noFill/>
          <a:ln/>
        </p:spPr>
        <p:txBody>
          <a:bodyPr wrap="square" lIns="0" tIns="0" rIns="0" bIns="0" rtlCol="0" anchor="ctr"/>
          <a:lstStyle/>
          <a:p>
            <a:pPr>
              <a:lnSpc>
                <a:spcPct val="112000"/>
              </a:lnSpc>
            </a:pPr>
            <a:r>
              <a:rPr lang="en-US" sz="600" kern="0" spc="90" dirty="0">
                <a:solidFill>
                  <a:schemeClr val="accent4"/>
                </a:solidFill>
                <a:latin typeface="Plus Jakarta Sans Medium" pitchFamily="34" charset="0"/>
                <a:ea typeface="Plus Jakarta Sans Medium" pitchFamily="34" charset="-122"/>
                <a:cs typeface="Plus Jakarta Sans Medium" pitchFamily="34" charset="-120"/>
              </a:rPr>
              <a:t>CONTROL SET</a:t>
            </a:r>
            <a:endParaRPr lang="en-US" sz="600" dirty="0">
              <a:solidFill>
                <a:schemeClr val="accent4"/>
              </a:solidFill>
            </a:endParaRPr>
          </a:p>
        </p:txBody>
      </p:sp>
      <p:sp>
        <p:nvSpPr>
          <p:cNvPr id="35" name="Text 33"/>
          <p:cNvSpPr txBox="1"/>
          <p:nvPr/>
        </p:nvSpPr>
        <p:spPr>
          <a:xfrm>
            <a:off x="2249424" y="3924495"/>
            <a:ext cx="5472684" cy="238464"/>
          </a:xfrm>
          <a:prstGeom prst="rect">
            <a:avLst/>
          </a:prstGeom>
          <a:noFill/>
          <a:ln/>
        </p:spPr>
        <p:txBody>
          <a:bodyPr wrap="square" lIns="0" tIns="0" rIns="0" bIns="0" rtlCol="0" anchor="ctr"/>
          <a:lstStyle/>
          <a:p>
            <a:pPr>
              <a:lnSpc>
                <a:spcPct val="114000"/>
              </a:lnSpc>
            </a:pPr>
            <a:r>
              <a:rPr lang="en-US" sz="638"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Universal U1–U7 · Action A1–A8 · On-the-loop L2.1–L2.5 · Exposure E1–E2 · Promotion P1–P8. The binding control is L2.2: the intervention window must be shorter than the time the released seat stays available.</a:t>
            </a:r>
            <a:endParaRPr lang="en-US" sz="638" dirty="0">
              <a:solidFill>
                <a:schemeClr val="tx1">
                  <a:lumMod val="75000"/>
                  <a:lumOff val="25000"/>
                </a:schemeClr>
              </a:solidFill>
            </a:endParaRPr>
          </a:p>
        </p:txBody>
      </p:sp>
      <p:sp>
        <p:nvSpPr>
          <p:cNvPr id="36" name="Text 34"/>
          <p:cNvSpPr txBox="1"/>
          <p:nvPr/>
        </p:nvSpPr>
        <p:spPr>
          <a:xfrm>
            <a:off x="425196" y="4430268"/>
            <a:ext cx="8298180" cy="274320"/>
          </a:xfrm>
          <a:prstGeom prst="rect">
            <a:avLst/>
          </a:prstGeom>
          <a:noFill/>
          <a:ln/>
        </p:spPr>
        <p:txBody>
          <a:bodyPr wrap="square" lIns="0" tIns="0" rIns="0" bIns="0" rtlCol="0" anchor="ctr"/>
          <a:lstStyle/>
          <a:p>
            <a:pPr algn="ctr"/>
            <a:r>
              <a:rPr lang="en-US" sz="900" dirty="0">
                <a:solidFill>
                  <a:schemeClr val="accent4"/>
                </a:solidFill>
                <a:latin typeface="Plus Jakarta Sans ExtraBold" pitchFamily="34" charset="0"/>
                <a:ea typeface="Plus Jakarta Sans ExtraBold" pitchFamily="34" charset="-122"/>
                <a:cs typeface="Plus Jakarta Sans ExtraBold" pitchFamily="34" charset="-120"/>
              </a:rPr>
              <a:t>No step required an AI specialist.  </a:t>
            </a:r>
            <a:r>
              <a:rPr lang="en-US" sz="900" dirty="0">
                <a:solidFill>
                  <a:srgbClr val="8A93A0"/>
                </a:solidFill>
                <a:latin typeface="Plus Jakarta Sans ExtraLight" pitchFamily="34" charset="0"/>
                <a:ea typeface="Plus Jakarta Sans ExtraLight" pitchFamily="34" charset="-122"/>
                <a:cs typeface="Plus Jakarta Sans ExtraLight" pitchFamily="34" charset="-120"/>
              </a:rPr>
              <a:t>Every answer came from the person who runs the operation.</a:t>
            </a:r>
            <a:endParaRPr lang="en-US" sz="900" dirty="0"/>
          </a:p>
        </p:txBody>
      </p:sp>
      <p:sp>
        <p:nvSpPr>
          <p:cNvPr id="37" name="Title 36">
            <a:extLst>
              <a:ext uri="{FF2B5EF4-FFF2-40B4-BE49-F238E27FC236}">
                <a16:creationId xmlns:a16="http://schemas.microsoft.com/office/drawing/2014/main" id="{AD30F19F-1514-ABE5-066B-AC106C752BAE}"/>
              </a:ext>
            </a:extLst>
          </p:cNvPr>
          <p:cNvSpPr>
            <a:spLocks noGrp="1"/>
          </p:cNvSpPr>
          <p:nvPr>
            <p:ph type="title"/>
          </p:nvPr>
        </p:nvSpPr>
        <p:spPr>
          <a:xfrm>
            <a:off x="457200" y="531813"/>
            <a:ext cx="7315200" cy="369332"/>
          </a:xfrm>
        </p:spPr>
        <p:txBody>
          <a:bodyPr/>
          <a:lstStyle/>
          <a:p>
            <a:r>
              <a:rPr lang="en-AE" dirty="0"/>
              <a:t>An industry example</a:t>
            </a:r>
          </a:p>
        </p:txBody>
      </p:sp>
      <p:sp>
        <p:nvSpPr>
          <p:cNvPr id="38" name="Text Placeholder 37">
            <a:extLst>
              <a:ext uri="{FF2B5EF4-FFF2-40B4-BE49-F238E27FC236}">
                <a16:creationId xmlns:a16="http://schemas.microsoft.com/office/drawing/2014/main" id="{D20EF358-6C81-6DDB-E109-EE14C9C1D192}"/>
              </a:ext>
            </a:extLst>
          </p:cNvPr>
          <p:cNvSpPr>
            <a:spLocks noGrp="1"/>
          </p:cNvSpPr>
          <p:nvPr>
            <p:ph type="body" sz="quarter" idx="13"/>
          </p:nvPr>
        </p:nvSpPr>
        <p:spPr>
          <a:xfrm>
            <a:off x="457200" y="307975"/>
            <a:ext cx="2378075" cy="184150"/>
          </a:xfrm>
        </p:spPr>
        <p:txBody>
          <a:bodyPr/>
          <a:lstStyle/>
          <a:p>
            <a:r>
              <a:rPr lang="en-AE" dirty="0"/>
              <a:t>APPENDIX A</a:t>
            </a:r>
          </a:p>
        </p:txBody>
      </p:sp>
      <p:sp>
        <p:nvSpPr>
          <p:cNvPr id="39" name="Text Placeholder 38">
            <a:extLst>
              <a:ext uri="{FF2B5EF4-FFF2-40B4-BE49-F238E27FC236}">
                <a16:creationId xmlns:a16="http://schemas.microsoft.com/office/drawing/2014/main" id="{D74DE03D-568D-BFB2-D9DE-2865883759A5}"/>
              </a:ext>
            </a:extLst>
          </p:cNvPr>
          <p:cNvSpPr>
            <a:spLocks noGrp="1"/>
          </p:cNvSpPr>
          <p:nvPr>
            <p:ph type="body" sz="quarter" idx="14"/>
          </p:nvPr>
        </p:nvSpPr>
        <p:spPr>
          <a:xfrm>
            <a:off x="457200" y="900113"/>
            <a:ext cx="7315200" cy="307777"/>
          </a:xfrm>
        </p:spPr>
        <p:txBody>
          <a:bodyPr/>
          <a:lstStyle/>
          <a:p>
            <a:r>
              <a:rPr lang="en-AE" dirty="0"/>
              <a:t>A disruption re-accomodation airline agent. </a:t>
            </a:r>
            <a:r>
              <a:rPr lang="en-US" dirty="0"/>
              <a:t>The same six questions, answered by the Head of Customer Operations.</a:t>
            </a:r>
          </a:p>
        </p:txBody>
      </p:sp>
      <p:cxnSp>
        <p:nvCxnSpPr>
          <p:cNvPr id="53" name="Straight Connector 52">
            <a:extLst>
              <a:ext uri="{FF2B5EF4-FFF2-40B4-BE49-F238E27FC236}">
                <a16:creationId xmlns:a16="http://schemas.microsoft.com/office/drawing/2014/main" id="{7BFAC3E3-29D9-DD94-140E-D2F42E5CEAE6}"/>
              </a:ext>
            </a:extLst>
          </p:cNvPr>
          <p:cNvCxnSpPr>
            <a:cxnSpLocks/>
          </p:cNvCxnSpPr>
          <p:nvPr/>
        </p:nvCxnSpPr>
        <p:spPr>
          <a:xfrm>
            <a:off x="337497" y="4202525"/>
            <a:ext cx="8366760" cy="0"/>
          </a:xfrm>
          <a:prstGeom prst="line">
            <a:avLst/>
          </a:prstGeom>
          <a:ln w="9525">
            <a:solidFill>
              <a:schemeClr val="bg2">
                <a:lumMod val="75000"/>
              </a:schemeClr>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425196" y="452628"/>
            <a:ext cx="7955280" cy="384048"/>
          </a:xfrm>
          <a:prstGeom prst="rect">
            <a:avLst/>
          </a:prstGeom>
          <a:noFill/>
          <a:ln/>
        </p:spPr>
        <p:txBody>
          <a:bodyPr wrap="square" lIns="0" tIns="0" rIns="0" bIns="0" rtlCol="0" anchor="ctr"/>
          <a:lstStyle/>
          <a:p>
            <a:r>
              <a:rPr lang="en-US" sz="1950" dirty="0">
                <a:solidFill>
                  <a:srgbClr val="F7F4EE"/>
                </a:solidFill>
                <a:latin typeface="Plus Jakarta Sans ExtraBold" pitchFamily="34" charset="0"/>
                <a:ea typeface="Plus Jakarta Sans ExtraBold" pitchFamily="34" charset="-122"/>
                <a:cs typeface="Plus Jakarta Sans ExtraBold" pitchFamily="34" charset="-120"/>
              </a:rPr>
              <a:t>The same model across five industries</a:t>
            </a:r>
            <a:endParaRPr lang="en-US" sz="1950" dirty="0"/>
          </a:p>
        </p:txBody>
      </p:sp>
      <p:sp>
        <p:nvSpPr>
          <p:cNvPr id="4" name="Text 2"/>
          <p:cNvSpPr txBox="1"/>
          <p:nvPr/>
        </p:nvSpPr>
        <p:spPr>
          <a:xfrm>
            <a:off x="425196" y="4841748"/>
            <a:ext cx="4114800" cy="164592"/>
          </a:xfrm>
          <a:prstGeom prst="rect">
            <a:avLst/>
          </a:prstGeom>
          <a:noFill/>
          <a:ln/>
        </p:spPr>
        <p:txBody>
          <a:bodyPr wrap="square" lIns="0" tIns="0" rIns="0" bIns="0" rtlCol="0" anchor="ctr"/>
          <a:lstStyle/>
          <a:p>
            <a:r>
              <a:rPr lang="en-US" sz="563" dirty="0">
                <a:solidFill>
                  <a:srgbClr val="8A93A0"/>
                </a:solidFill>
                <a:latin typeface="Plus Jakarta Sans ExtraLight" pitchFamily="34" charset="0"/>
                <a:ea typeface="Plus Jakarta Sans ExtraLight" pitchFamily="34" charset="-122"/>
                <a:cs typeface="Plus Jakarta Sans ExtraLight" pitchFamily="34" charset="-120"/>
              </a:rPr>
              <a:t>Copyright © 2026. All Right Protected &amp; Reserved.</a:t>
            </a:r>
            <a:endParaRPr lang="en-US" sz="563" dirty="0"/>
          </a:p>
        </p:txBody>
      </p:sp>
      <p:sp>
        <p:nvSpPr>
          <p:cNvPr id="5" name="Text 3"/>
          <p:cNvSpPr txBox="1"/>
          <p:nvPr/>
        </p:nvSpPr>
        <p:spPr>
          <a:xfrm>
            <a:off x="8457971" y="4841748"/>
            <a:ext cx="274320" cy="164592"/>
          </a:xfrm>
          <a:prstGeom prst="rect">
            <a:avLst/>
          </a:prstGeom>
          <a:noFill/>
          <a:ln/>
        </p:spPr>
        <p:txBody>
          <a:bodyPr wrap="square" lIns="0" tIns="0" rIns="0" bIns="0" rtlCol="0" anchor="ctr"/>
          <a:lstStyle/>
          <a:p>
            <a:pPr algn="r"/>
            <a:r>
              <a:rPr lang="en-US" sz="563" dirty="0">
                <a:solidFill>
                  <a:srgbClr val="8A93A0"/>
                </a:solidFill>
                <a:latin typeface="Plus Jakarta Sans Medium" pitchFamily="34" charset="0"/>
                <a:ea typeface="Plus Jakarta Sans Medium" pitchFamily="34" charset="-122"/>
                <a:cs typeface="Plus Jakarta Sans Medium" pitchFamily="34" charset="-120"/>
              </a:rPr>
              <a:t>5</a:t>
            </a:r>
            <a:endParaRPr lang="en-US" sz="563" dirty="0"/>
          </a:p>
        </p:txBody>
      </p:sp>
      <p:sp>
        <p:nvSpPr>
          <p:cNvPr id="7" name="Text 5"/>
          <p:cNvSpPr txBox="1"/>
          <p:nvPr/>
        </p:nvSpPr>
        <p:spPr>
          <a:xfrm>
            <a:off x="425196" y="1179576"/>
            <a:ext cx="1577340" cy="219456"/>
          </a:xfrm>
          <a:prstGeom prst="rect">
            <a:avLst/>
          </a:prstGeom>
          <a:noFill/>
          <a:ln/>
        </p:spPr>
        <p:txBody>
          <a:bodyPr wrap="square" lIns="0" tIns="0" rIns="0" bIns="0" rtlCol="0" anchor="t"/>
          <a:lstStyle/>
          <a:p>
            <a:r>
              <a:rPr lang="en-US" sz="700" b="1" kern="0" spc="90" dirty="0">
                <a:solidFill>
                  <a:schemeClr val="accent4"/>
                </a:solidFill>
                <a:latin typeface="Plus Jakarta Sans Medium" pitchFamily="34" charset="0"/>
                <a:ea typeface="Plus Jakarta Sans Medium" pitchFamily="34" charset="-122"/>
                <a:cs typeface="Plus Jakarta Sans Medium" pitchFamily="34" charset="-120"/>
              </a:rPr>
              <a:t>FINANCIAL SERVICES</a:t>
            </a:r>
            <a:endParaRPr lang="en-US" sz="700" dirty="0">
              <a:solidFill>
                <a:schemeClr val="accent4"/>
              </a:solidFill>
            </a:endParaRPr>
          </a:p>
        </p:txBody>
      </p:sp>
      <p:sp>
        <p:nvSpPr>
          <p:cNvPr id="8" name="Shape 6"/>
          <p:cNvSpPr/>
          <p:nvPr/>
        </p:nvSpPr>
        <p:spPr>
          <a:xfrm>
            <a:off x="425196" y="139903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9" name="Text 7"/>
          <p:cNvSpPr txBox="1"/>
          <p:nvPr/>
        </p:nvSpPr>
        <p:spPr>
          <a:xfrm>
            <a:off x="514350" y="145389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Adviser meeting summary</a:t>
            </a:r>
            <a:endParaRPr lang="en-US" sz="700" b="1" dirty="0"/>
          </a:p>
        </p:txBody>
      </p:sp>
      <p:sp>
        <p:nvSpPr>
          <p:cNvPr id="10" name="Text 8"/>
          <p:cNvSpPr txBox="1"/>
          <p:nvPr/>
        </p:nvSpPr>
        <p:spPr>
          <a:xfrm>
            <a:off x="514350" y="1714500"/>
            <a:ext cx="452628" cy="137160"/>
          </a:xfrm>
          <a:prstGeom prst="rect">
            <a:avLst/>
          </a:prstGeom>
          <a:noFill/>
          <a:ln/>
        </p:spPr>
        <p:txBody>
          <a:bodyPr wrap="square" lIns="0" tIns="0" rIns="0" bIns="0" rtlCol="0" anchor="ctr"/>
          <a:lstStyle/>
          <a:p>
            <a:r>
              <a:rPr lang="en-US" sz="525" dirty="0">
                <a:solidFill>
                  <a:srgbClr val="4A7DFF"/>
                </a:solidFill>
                <a:latin typeface="Plus Jakarta Sans Medium" pitchFamily="34" charset="0"/>
                <a:ea typeface="Plus Jakarta Sans Medium" pitchFamily="34" charset="-122"/>
                <a:cs typeface="Plus Jakarta Sans Medium" pitchFamily="34" charset="-120"/>
              </a:rPr>
              <a:t>Know</a:t>
            </a:r>
            <a:endParaRPr lang="en-US" sz="525" dirty="0"/>
          </a:p>
        </p:txBody>
      </p:sp>
      <p:sp>
        <p:nvSpPr>
          <p:cNvPr id="11" name="Text 9"/>
          <p:cNvSpPr txBox="1"/>
          <p:nvPr/>
        </p:nvSpPr>
        <p:spPr>
          <a:xfrm>
            <a:off x="973836" y="171450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E1</a:t>
            </a:r>
            <a:endParaRPr lang="en-US" sz="525" dirty="0">
              <a:solidFill>
                <a:schemeClr val="tx1">
                  <a:lumMod val="75000"/>
                  <a:lumOff val="25000"/>
                </a:schemeClr>
              </a:solidFill>
            </a:endParaRPr>
          </a:p>
        </p:txBody>
      </p:sp>
      <p:sp>
        <p:nvSpPr>
          <p:cNvPr id="12" name="Text 10"/>
          <p:cNvSpPr txBox="1"/>
          <p:nvPr/>
        </p:nvSpPr>
        <p:spPr>
          <a:xfrm>
            <a:off x="1330452" y="171450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13" name="Shape 11"/>
          <p:cNvSpPr/>
          <p:nvPr/>
        </p:nvSpPr>
        <p:spPr>
          <a:xfrm>
            <a:off x="425196" y="194767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4" name="Text 12"/>
          <p:cNvSpPr txBox="1"/>
          <p:nvPr/>
        </p:nvSpPr>
        <p:spPr>
          <a:xfrm>
            <a:off x="514350" y="200253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Card fraud score at authorisation</a:t>
            </a:r>
            <a:endParaRPr lang="en-US" sz="700" b="1" dirty="0"/>
          </a:p>
        </p:txBody>
      </p:sp>
      <p:sp>
        <p:nvSpPr>
          <p:cNvPr id="15" name="Text 13"/>
          <p:cNvSpPr txBox="1"/>
          <p:nvPr/>
        </p:nvSpPr>
        <p:spPr>
          <a:xfrm>
            <a:off x="514350" y="2263140"/>
            <a:ext cx="452628" cy="137160"/>
          </a:xfrm>
          <a:prstGeom prst="rect">
            <a:avLst/>
          </a:prstGeom>
          <a:noFill/>
          <a:ln/>
        </p:spPr>
        <p:txBody>
          <a:bodyPr wrap="square" lIns="0" tIns="0" rIns="0" bIns="0" rtlCol="0" anchor="ctr"/>
          <a:lstStyle/>
          <a:p>
            <a:r>
              <a:rPr lang="en-US" sz="525" dirty="0">
                <a:solidFill>
                  <a:srgbClr val="BB51DC"/>
                </a:solidFill>
                <a:latin typeface="Plus Jakarta Sans Medium" pitchFamily="34" charset="0"/>
                <a:ea typeface="Plus Jakarta Sans Medium" pitchFamily="34" charset="-122"/>
                <a:cs typeface="Plus Jakarta Sans Medium" pitchFamily="34" charset="-120"/>
              </a:rPr>
              <a:t>Dec</a:t>
            </a:r>
            <a:endParaRPr lang="en-US" sz="525" dirty="0"/>
          </a:p>
        </p:txBody>
      </p:sp>
      <p:sp>
        <p:nvSpPr>
          <p:cNvPr id="16" name="Text 14"/>
          <p:cNvSpPr txBox="1"/>
          <p:nvPr/>
        </p:nvSpPr>
        <p:spPr>
          <a:xfrm>
            <a:off x="973836" y="226314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E2</a:t>
            </a:r>
            <a:endParaRPr lang="en-US" sz="525" dirty="0">
              <a:solidFill>
                <a:schemeClr val="tx1">
                  <a:lumMod val="75000"/>
                  <a:lumOff val="25000"/>
                </a:schemeClr>
              </a:solidFill>
            </a:endParaRPr>
          </a:p>
        </p:txBody>
      </p:sp>
      <p:sp>
        <p:nvSpPr>
          <p:cNvPr id="17" name="Text 15"/>
          <p:cNvSpPr txBox="1"/>
          <p:nvPr/>
        </p:nvSpPr>
        <p:spPr>
          <a:xfrm>
            <a:off x="1330452" y="226314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18" name="Shape 16"/>
          <p:cNvSpPr/>
          <p:nvPr/>
        </p:nvSpPr>
        <p:spPr>
          <a:xfrm>
            <a:off x="425196" y="249631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9" name="Text 17"/>
          <p:cNvSpPr txBox="1"/>
          <p:nvPr/>
        </p:nvSpPr>
        <p:spPr>
          <a:xfrm>
            <a:off x="514350" y="255117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AML alert disposition</a:t>
            </a:r>
            <a:endParaRPr lang="en-US" sz="700" b="1" dirty="0"/>
          </a:p>
        </p:txBody>
      </p:sp>
      <p:sp>
        <p:nvSpPr>
          <p:cNvPr id="20" name="Text 18"/>
          <p:cNvSpPr txBox="1"/>
          <p:nvPr/>
        </p:nvSpPr>
        <p:spPr>
          <a:xfrm>
            <a:off x="514350" y="2811780"/>
            <a:ext cx="452628" cy="137160"/>
          </a:xfrm>
          <a:prstGeom prst="rect">
            <a:avLst/>
          </a:prstGeom>
          <a:noFill/>
          <a:ln/>
        </p:spPr>
        <p:txBody>
          <a:bodyPr wrap="square" lIns="0" tIns="0" rIns="0" bIns="0" rtlCol="0" anchor="ctr"/>
          <a:lstStyle/>
          <a:p>
            <a:r>
              <a:rPr lang="en-US" sz="525" dirty="0">
                <a:solidFill>
                  <a:srgbClr val="BB51DC"/>
                </a:solidFill>
                <a:latin typeface="Plus Jakarta Sans Medium" pitchFamily="34" charset="0"/>
                <a:ea typeface="Plus Jakarta Sans Medium" pitchFamily="34" charset="-122"/>
                <a:cs typeface="Plus Jakarta Sans Medium" pitchFamily="34" charset="-120"/>
              </a:rPr>
              <a:t>Dec</a:t>
            </a:r>
            <a:endParaRPr lang="en-US" sz="525" dirty="0"/>
          </a:p>
        </p:txBody>
      </p:sp>
      <p:sp>
        <p:nvSpPr>
          <p:cNvPr id="21" name="Text 19"/>
          <p:cNvSpPr txBox="1"/>
          <p:nvPr/>
        </p:nvSpPr>
        <p:spPr>
          <a:xfrm>
            <a:off x="973836" y="281178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E3</a:t>
            </a:r>
            <a:endParaRPr lang="en-US" sz="525" dirty="0">
              <a:solidFill>
                <a:schemeClr val="tx1">
                  <a:lumMod val="75000"/>
                  <a:lumOff val="25000"/>
                </a:schemeClr>
              </a:solidFill>
            </a:endParaRPr>
          </a:p>
        </p:txBody>
      </p:sp>
      <p:sp>
        <p:nvSpPr>
          <p:cNvPr id="22" name="Text 20"/>
          <p:cNvSpPr txBox="1"/>
          <p:nvPr/>
        </p:nvSpPr>
        <p:spPr>
          <a:xfrm>
            <a:off x="1330452" y="281178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In</a:t>
            </a:r>
            <a:endParaRPr lang="en-US" sz="525" dirty="0">
              <a:solidFill>
                <a:schemeClr val="tx1">
                  <a:lumMod val="75000"/>
                  <a:lumOff val="25000"/>
                </a:schemeClr>
              </a:solidFill>
            </a:endParaRPr>
          </a:p>
        </p:txBody>
      </p:sp>
      <p:sp>
        <p:nvSpPr>
          <p:cNvPr id="23" name="Shape 21"/>
          <p:cNvSpPr/>
          <p:nvPr/>
        </p:nvSpPr>
        <p:spPr>
          <a:xfrm>
            <a:off x="425196" y="304495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24" name="Text 22"/>
          <p:cNvSpPr txBox="1"/>
          <p:nvPr/>
        </p:nvSpPr>
        <p:spPr>
          <a:xfrm>
            <a:off x="514350" y="309981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Credit decline + adverse-action reason</a:t>
            </a:r>
            <a:endParaRPr lang="en-US" sz="700" b="1" dirty="0"/>
          </a:p>
        </p:txBody>
      </p:sp>
      <p:sp>
        <p:nvSpPr>
          <p:cNvPr id="25" name="Text 23"/>
          <p:cNvSpPr txBox="1"/>
          <p:nvPr/>
        </p:nvSpPr>
        <p:spPr>
          <a:xfrm>
            <a:off x="514350" y="3360420"/>
            <a:ext cx="452628" cy="137160"/>
          </a:xfrm>
          <a:prstGeom prst="rect">
            <a:avLst/>
          </a:prstGeom>
          <a:noFill/>
          <a:ln/>
        </p:spPr>
        <p:txBody>
          <a:bodyPr wrap="square" lIns="0" tIns="0" rIns="0" bIns="0" rtlCol="0" anchor="ctr"/>
          <a:lstStyle/>
          <a:p>
            <a:r>
              <a:rPr lang="en-US" sz="525" dirty="0">
                <a:solidFill>
                  <a:srgbClr val="BB51DC"/>
                </a:solidFill>
                <a:latin typeface="Plus Jakarta Sans Medium" pitchFamily="34" charset="0"/>
                <a:ea typeface="Plus Jakarta Sans Medium" pitchFamily="34" charset="-122"/>
                <a:cs typeface="Plus Jakarta Sans Medium" pitchFamily="34" charset="-120"/>
              </a:rPr>
              <a:t>Dec</a:t>
            </a:r>
            <a:endParaRPr lang="en-US" sz="525" dirty="0"/>
          </a:p>
        </p:txBody>
      </p:sp>
      <p:sp>
        <p:nvSpPr>
          <p:cNvPr id="26" name="Text 24"/>
          <p:cNvSpPr txBox="1"/>
          <p:nvPr/>
        </p:nvSpPr>
        <p:spPr>
          <a:xfrm>
            <a:off x="973836" y="336042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E3</a:t>
            </a:r>
            <a:endParaRPr lang="en-US" sz="525" dirty="0">
              <a:solidFill>
                <a:schemeClr val="tx1">
                  <a:lumMod val="75000"/>
                  <a:lumOff val="25000"/>
                </a:schemeClr>
              </a:solidFill>
            </a:endParaRPr>
          </a:p>
        </p:txBody>
      </p:sp>
      <p:sp>
        <p:nvSpPr>
          <p:cNvPr id="27" name="Text 25"/>
          <p:cNvSpPr txBox="1"/>
          <p:nvPr/>
        </p:nvSpPr>
        <p:spPr>
          <a:xfrm>
            <a:off x="1330452" y="336042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In</a:t>
            </a:r>
            <a:endParaRPr lang="en-US" sz="525" dirty="0">
              <a:solidFill>
                <a:schemeClr val="tx1">
                  <a:lumMod val="75000"/>
                  <a:lumOff val="25000"/>
                </a:schemeClr>
              </a:solidFill>
            </a:endParaRPr>
          </a:p>
        </p:txBody>
      </p:sp>
      <p:sp>
        <p:nvSpPr>
          <p:cNvPr id="28" name="Shape 26"/>
          <p:cNvSpPr/>
          <p:nvPr/>
        </p:nvSpPr>
        <p:spPr>
          <a:xfrm>
            <a:off x="425196" y="359359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29" name="Text 27"/>
          <p:cNvSpPr txBox="1"/>
          <p:nvPr/>
        </p:nvSpPr>
        <p:spPr>
          <a:xfrm>
            <a:off x="514350" y="364845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Agent-initiated payment</a:t>
            </a:r>
            <a:endParaRPr lang="en-US" sz="700" b="1" dirty="0"/>
          </a:p>
        </p:txBody>
      </p:sp>
      <p:sp>
        <p:nvSpPr>
          <p:cNvPr id="30" name="Text 28"/>
          <p:cNvSpPr txBox="1"/>
          <p:nvPr/>
        </p:nvSpPr>
        <p:spPr>
          <a:xfrm>
            <a:off x="514350" y="390906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31" name="Text 29"/>
          <p:cNvSpPr txBox="1"/>
          <p:nvPr/>
        </p:nvSpPr>
        <p:spPr>
          <a:xfrm>
            <a:off x="973836" y="390906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E3</a:t>
            </a:r>
            <a:endParaRPr lang="en-US" sz="525" dirty="0">
              <a:solidFill>
                <a:schemeClr val="tx1">
                  <a:lumMod val="75000"/>
                  <a:lumOff val="25000"/>
                </a:schemeClr>
              </a:solidFill>
            </a:endParaRPr>
          </a:p>
        </p:txBody>
      </p:sp>
      <p:sp>
        <p:nvSpPr>
          <p:cNvPr id="32" name="Text 30"/>
          <p:cNvSpPr txBox="1"/>
          <p:nvPr/>
        </p:nvSpPr>
        <p:spPr>
          <a:xfrm>
            <a:off x="1330452" y="390906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In</a:t>
            </a:r>
            <a:endParaRPr lang="en-US" sz="525" dirty="0">
              <a:solidFill>
                <a:schemeClr val="tx1">
                  <a:lumMod val="75000"/>
                  <a:lumOff val="25000"/>
                </a:schemeClr>
              </a:solidFill>
            </a:endParaRPr>
          </a:p>
        </p:txBody>
      </p:sp>
      <p:sp>
        <p:nvSpPr>
          <p:cNvPr id="33" name="Text 31"/>
          <p:cNvSpPr txBox="1"/>
          <p:nvPr/>
        </p:nvSpPr>
        <p:spPr>
          <a:xfrm>
            <a:off x="2105406" y="1179576"/>
            <a:ext cx="1577340" cy="219456"/>
          </a:xfrm>
          <a:prstGeom prst="rect">
            <a:avLst/>
          </a:prstGeom>
          <a:noFill/>
          <a:ln/>
        </p:spPr>
        <p:txBody>
          <a:bodyPr wrap="square" lIns="0" tIns="0" rIns="0" bIns="0" rtlCol="0" anchor="t"/>
          <a:lstStyle/>
          <a:p>
            <a:r>
              <a:rPr lang="en-US" sz="700" b="1" kern="0" spc="90" dirty="0">
                <a:solidFill>
                  <a:schemeClr val="accent4"/>
                </a:solidFill>
                <a:latin typeface="Plus Jakarta Sans Medium" pitchFamily="34" charset="0"/>
                <a:ea typeface="Plus Jakarta Sans Medium" pitchFamily="34" charset="-122"/>
                <a:cs typeface="Plus Jakarta Sans Medium" pitchFamily="34" charset="-120"/>
              </a:rPr>
              <a:t>TELECOMS</a:t>
            </a:r>
            <a:endParaRPr lang="en-US" sz="700" dirty="0">
              <a:solidFill>
                <a:schemeClr val="accent4"/>
              </a:solidFill>
            </a:endParaRPr>
          </a:p>
        </p:txBody>
      </p:sp>
      <p:sp>
        <p:nvSpPr>
          <p:cNvPr id="34" name="Shape 32"/>
          <p:cNvSpPr/>
          <p:nvPr/>
        </p:nvSpPr>
        <p:spPr>
          <a:xfrm>
            <a:off x="2105406" y="139903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35" name="Text 33"/>
          <p:cNvSpPr txBox="1"/>
          <p:nvPr/>
        </p:nvSpPr>
        <p:spPr>
          <a:xfrm>
            <a:off x="2194560" y="145389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Agent-assist suggestion to a rep</a:t>
            </a:r>
            <a:endParaRPr lang="en-US" sz="700" b="1" dirty="0"/>
          </a:p>
        </p:txBody>
      </p:sp>
      <p:sp>
        <p:nvSpPr>
          <p:cNvPr id="36" name="Text 34"/>
          <p:cNvSpPr txBox="1"/>
          <p:nvPr/>
        </p:nvSpPr>
        <p:spPr>
          <a:xfrm>
            <a:off x="2194560" y="1714500"/>
            <a:ext cx="452628" cy="137160"/>
          </a:xfrm>
          <a:prstGeom prst="rect">
            <a:avLst/>
          </a:prstGeom>
          <a:noFill/>
          <a:ln/>
        </p:spPr>
        <p:txBody>
          <a:bodyPr wrap="square" lIns="0" tIns="0" rIns="0" bIns="0" rtlCol="0" anchor="ctr"/>
          <a:lstStyle/>
          <a:p>
            <a:r>
              <a:rPr lang="en-US" sz="525" dirty="0">
                <a:solidFill>
                  <a:srgbClr val="4A7DFF"/>
                </a:solidFill>
                <a:latin typeface="Plus Jakarta Sans Medium" pitchFamily="34" charset="0"/>
                <a:ea typeface="Plus Jakarta Sans Medium" pitchFamily="34" charset="-122"/>
                <a:cs typeface="Plus Jakarta Sans Medium" pitchFamily="34" charset="-120"/>
              </a:rPr>
              <a:t>Know</a:t>
            </a:r>
            <a:endParaRPr lang="en-US" sz="525" dirty="0"/>
          </a:p>
        </p:txBody>
      </p:sp>
      <p:sp>
        <p:nvSpPr>
          <p:cNvPr id="37" name="Text 35"/>
          <p:cNvSpPr txBox="1"/>
          <p:nvPr/>
        </p:nvSpPr>
        <p:spPr>
          <a:xfrm>
            <a:off x="2654046" y="171450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E1</a:t>
            </a:r>
            <a:endParaRPr lang="en-US" sz="525" dirty="0">
              <a:solidFill>
                <a:schemeClr val="tx1">
                  <a:lumMod val="75000"/>
                  <a:lumOff val="25000"/>
                </a:schemeClr>
              </a:solidFill>
            </a:endParaRPr>
          </a:p>
        </p:txBody>
      </p:sp>
      <p:sp>
        <p:nvSpPr>
          <p:cNvPr id="38" name="Text 36"/>
          <p:cNvSpPr txBox="1"/>
          <p:nvPr/>
        </p:nvSpPr>
        <p:spPr>
          <a:xfrm>
            <a:off x="3010662" y="171450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39" name="Shape 37"/>
          <p:cNvSpPr/>
          <p:nvPr/>
        </p:nvSpPr>
        <p:spPr>
          <a:xfrm>
            <a:off x="2105406" y="194767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40" name="Text 38"/>
          <p:cNvSpPr txBox="1"/>
          <p:nvPr/>
        </p:nvSpPr>
        <p:spPr>
          <a:xfrm>
            <a:off x="2194560" y="200253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Call-routing intent classification</a:t>
            </a:r>
            <a:endParaRPr lang="en-US" sz="700" b="1" dirty="0"/>
          </a:p>
        </p:txBody>
      </p:sp>
      <p:sp>
        <p:nvSpPr>
          <p:cNvPr id="41" name="Text 39"/>
          <p:cNvSpPr txBox="1"/>
          <p:nvPr/>
        </p:nvSpPr>
        <p:spPr>
          <a:xfrm>
            <a:off x="2194560" y="2263140"/>
            <a:ext cx="452628" cy="137160"/>
          </a:xfrm>
          <a:prstGeom prst="rect">
            <a:avLst/>
          </a:prstGeom>
          <a:noFill/>
          <a:ln/>
        </p:spPr>
        <p:txBody>
          <a:bodyPr wrap="square" lIns="0" tIns="0" rIns="0" bIns="0" rtlCol="0" anchor="ctr"/>
          <a:lstStyle/>
          <a:p>
            <a:r>
              <a:rPr lang="en-US" sz="525" dirty="0">
                <a:solidFill>
                  <a:srgbClr val="BB51DC"/>
                </a:solidFill>
                <a:latin typeface="Plus Jakarta Sans Medium" pitchFamily="34" charset="0"/>
                <a:ea typeface="Plus Jakarta Sans Medium" pitchFamily="34" charset="-122"/>
                <a:cs typeface="Plus Jakarta Sans Medium" pitchFamily="34" charset="-120"/>
              </a:rPr>
              <a:t>Dec</a:t>
            </a:r>
            <a:endParaRPr lang="en-US" sz="525" dirty="0"/>
          </a:p>
        </p:txBody>
      </p:sp>
      <p:sp>
        <p:nvSpPr>
          <p:cNvPr id="42" name="Text 40"/>
          <p:cNvSpPr txBox="1"/>
          <p:nvPr/>
        </p:nvSpPr>
        <p:spPr>
          <a:xfrm>
            <a:off x="2654046" y="226314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E2</a:t>
            </a:r>
            <a:endParaRPr lang="en-US" sz="525" dirty="0">
              <a:solidFill>
                <a:schemeClr val="tx1">
                  <a:lumMod val="75000"/>
                  <a:lumOff val="25000"/>
                </a:schemeClr>
              </a:solidFill>
            </a:endParaRPr>
          </a:p>
        </p:txBody>
      </p:sp>
      <p:sp>
        <p:nvSpPr>
          <p:cNvPr id="43" name="Text 41"/>
          <p:cNvSpPr txBox="1"/>
          <p:nvPr/>
        </p:nvSpPr>
        <p:spPr>
          <a:xfrm>
            <a:off x="3010662" y="226314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44" name="Shape 42"/>
          <p:cNvSpPr/>
          <p:nvPr/>
        </p:nvSpPr>
        <p:spPr>
          <a:xfrm>
            <a:off x="2105406" y="249631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45" name="Text 43"/>
          <p:cNvSpPr txBox="1"/>
          <p:nvPr/>
        </p:nvSpPr>
        <p:spPr>
          <a:xfrm>
            <a:off x="2194560" y="255117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RAN sleep-mode change</a:t>
            </a:r>
            <a:endParaRPr lang="en-US" sz="700" b="1" dirty="0"/>
          </a:p>
        </p:txBody>
      </p:sp>
      <p:sp>
        <p:nvSpPr>
          <p:cNvPr id="46" name="Text 44"/>
          <p:cNvSpPr txBox="1"/>
          <p:nvPr/>
        </p:nvSpPr>
        <p:spPr>
          <a:xfrm>
            <a:off x="2194560" y="281178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47" name="Text 45"/>
          <p:cNvSpPr txBox="1"/>
          <p:nvPr/>
        </p:nvSpPr>
        <p:spPr>
          <a:xfrm>
            <a:off x="2654046" y="281178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E2</a:t>
            </a:r>
            <a:endParaRPr lang="en-US" sz="525" dirty="0">
              <a:solidFill>
                <a:schemeClr val="tx1">
                  <a:lumMod val="75000"/>
                  <a:lumOff val="25000"/>
                </a:schemeClr>
              </a:solidFill>
            </a:endParaRPr>
          </a:p>
        </p:txBody>
      </p:sp>
      <p:sp>
        <p:nvSpPr>
          <p:cNvPr id="48" name="Text 46"/>
          <p:cNvSpPr txBox="1"/>
          <p:nvPr/>
        </p:nvSpPr>
        <p:spPr>
          <a:xfrm>
            <a:off x="3010662" y="281178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On</a:t>
            </a:r>
            <a:endParaRPr lang="en-US" sz="525" dirty="0">
              <a:solidFill>
                <a:schemeClr val="tx1">
                  <a:lumMod val="75000"/>
                  <a:lumOff val="25000"/>
                </a:schemeClr>
              </a:solidFill>
            </a:endParaRPr>
          </a:p>
        </p:txBody>
      </p:sp>
      <p:sp>
        <p:nvSpPr>
          <p:cNvPr id="49" name="Shape 47"/>
          <p:cNvSpPr/>
          <p:nvPr/>
        </p:nvSpPr>
        <p:spPr>
          <a:xfrm>
            <a:off x="2105406" y="304495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50" name="Text 48"/>
          <p:cNvSpPr txBox="1"/>
          <p:nvPr/>
        </p:nvSpPr>
        <p:spPr>
          <a:xfrm>
            <a:off x="2194560" y="309981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NOC fault auto-remediation</a:t>
            </a:r>
            <a:endParaRPr lang="en-US" sz="700" b="1" dirty="0"/>
          </a:p>
        </p:txBody>
      </p:sp>
      <p:sp>
        <p:nvSpPr>
          <p:cNvPr id="51" name="Text 49"/>
          <p:cNvSpPr txBox="1"/>
          <p:nvPr/>
        </p:nvSpPr>
        <p:spPr>
          <a:xfrm>
            <a:off x="2194560" y="336042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52" name="Text 50"/>
          <p:cNvSpPr txBox="1"/>
          <p:nvPr/>
        </p:nvSpPr>
        <p:spPr>
          <a:xfrm>
            <a:off x="2654046" y="336042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E2</a:t>
            </a:r>
            <a:endParaRPr lang="en-US" sz="525" dirty="0">
              <a:solidFill>
                <a:schemeClr val="tx1">
                  <a:lumMod val="75000"/>
                  <a:lumOff val="25000"/>
                </a:schemeClr>
              </a:solidFill>
            </a:endParaRPr>
          </a:p>
        </p:txBody>
      </p:sp>
      <p:sp>
        <p:nvSpPr>
          <p:cNvPr id="53" name="Text 51"/>
          <p:cNvSpPr txBox="1"/>
          <p:nvPr/>
        </p:nvSpPr>
        <p:spPr>
          <a:xfrm>
            <a:off x="3010662" y="336042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On</a:t>
            </a:r>
            <a:endParaRPr lang="en-US" sz="525" dirty="0">
              <a:solidFill>
                <a:schemeClr val="tx1">
                  <a:lumMod val="75000"/>
                  <a:lumOff val="25000"/>
                </a:schemeClr>
              </a:solidFill>
            </a:endParaRPr>
          </a:p>
        </p:txBody>
      </p:sp>
      <p:sp>
        <p:nvSpPr>
          <p:cNvPr id="54" name="Shape 52"/>
          <p:cNvSpPr/>
          <p:nvPr/>
        </p:nvSpPr>
        <p:spPr>
          <a:xfrm>
            <a:off x="2105406" y="359359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55" name="Text 53"/>
          <p:cNvSpPr txBox="1"/>
          <p:nvPr/>
        </p:nvSpPr>
        <p:spPr>
          <a:xfrm>
            <a:off x="2194560" y="364845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Network spam-call blocking</a:t>
            </a:r>
            <a:endParaRPr lang="en-US" sz="700" b="1" dirty="0"/>
          </a:p>
        </p:txBody>
      </p:sp>
      <p:sp>
        <p:nvSpPr>
          <p:cNvPr id="56" name="Text 54"/>
          <p:cNvSpPr txBox="1"/>
          <p:nvPr/>
        </p:nvSpPr>
        <p:spPr>
          <a:xfrm>
            <a:off x="2194560" y="390906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57" name="Text 55"/>
          <p:cNvSpPr txBox="1"/>
          <p:nvPr/>
        </p:nvSpPr>
        <p:spPr>
          <a:xfrm>
            <a:off x="2654046" y="390906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E2</a:t>
            </a:r>
            <a:endParaRPr lang="en-US" sz="525" dirty="0">
              <a:solidFill>
                <a:schemeClr val="tx1">
                  <a:lumMod val="75000"/>
                  <a:lumOff val="25000"/>
                </a:schemeClr>
              </a:solidFill>
            </a:endParaRPr>
          </a:p>
        </p:txBody>
      </p:sp>
      <p:sp>
        <p:nvSpPr>
          <p:cNvPr id="58" name="Text 56"/>
          <p:cNvSpPr txBox="1"/>
          <p:nvPr/>
        </p:nvSpPr>
        <p:spPr>
          <a:xfrm>
            <a:off x="3010662" y="390906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59" name="Text 57"/>
          <p:cNvSpPr txBox="1"/>
          <p:nvPr/>
        </p:nvSpPr>
        <p:spPr>
          <a:xfrm>
            <a:off x="3785616" y="1179576"/>
            <a:ext cx="1577340" cy="219456"/>
          </a:xfrm>
          <a:prstGeom prst="rect">
            <a:avLst/>
          </a:prstGeom>
          <a:noFill/>
          <a:ln/>
        </p:spPr>
        <p:txBody>
          <a:bodyPr wrap="square" lIns="0" tIns="0" rIns="0" bIns="0" rtlCol="0" anchor="t"/>
          <a:lstStyle/>
          <a:p>
            <a:r>
              <a:rPr lang="en-US" sz="700" b="1" kern="0" spc="90" dirty="0">
                <a:solidFill>
                  <a:schemeClr val="accent4"/>
                </a:solidFill>
                <a:latin typeface="Plus Jakarta Sans Medium" pitchFamily="34" charset="0"/>
                <a:ea typeface="Plus Jakarta Sans Medium" pitchFamily="34" charset="-122"/>
                <a:cs typeface="Plus Jakarta Sans Medium" pitchFamily="34" charset="-120"/>
              </a:rPr>
              <a:t>TRAVEL &amp; HOSPITALITY</a:t>
            </a:r>
            <a:endParaRPr lang="en-US" sz="700" dirty="0">
              <a:solidFill>
                <a:schemeClr val="accent4"/>
              </a:solidFill>
            </a:endParaRPr>
          </a:p>
        </p:txBody>
      </p:sp>
      <p:sp>
        <p:nvSpPr>
          <p:cNvPr id="60" name="Shape 58"/>
          <p:cNvSpPr/>
          <p:nvPr/>
        </p:nvSpPr>
        <p:spPr>
          <a:xfrm>
            <a:off x="3785616" y="139903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61" name="Text 59"/>
          <p:cNvSpPr txBox="1"/>
          <p:nvPr/>
        </p:nvSpPr>
        <p:spPr>
          <a:xfrm>
            <a:off x="3874770" y="145389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Trip recommendation</a:t>
            </a:r>
            <a:endParaRPr lang="en-US" sz="700" b="1" dirty="0"/>
          </a:p>
        </p:txBody>
      </p:sp>
      <p:sp>
        <p:nvSpPr>
          <p:cNvPr id="62" name="Text 60"/>
          <p:cNvSpPr txBox="1"/>
          <p:nvPr/>
        </p:nvSpPr>
        <p:spPr>
          <a:xfrm>
            <a:off x="3874770" y="1714500"/>
            <a:ext cx="452628" cy="137160"/>
          </a:xfrm>
          <a:prstGeom prst="rect">
            <a:avLst/>
          </a:prstGeom>
          <a:noFill/>
          <a:ln/>
        </p:spPr>
        <p:txBody>
          <a:bodyPr wrap="square" lIns="0" tIns="0" rIns="0" bIns="0" rtlCol="0" anchor="ctr"/>
          <a:lstStyle/>
          <a:p>
            <a:r>
              <a:rPr lang="en-US" sz="525" dirty="0">
                <a:solidFill>
                  <a:srgbClr val="4A7DFF"/>
                </a:solidFill>
                <a:latin typeface="Plus Jakarta Sans Medium" pitchFamily="34" charset="0"/>
                <a:ea typeface="Plus Jakarta Sans Medium" pitchFamily="34" charset="-122"/>
                <a:cs typeface="Plus Jakarta Sans Medium" pitchFamily="34" charset="-120"/>
              </a:rPr>
              <a:t>Know</a:t>
            </a:r>
            <a:endParaRPr lang="en-US" sz="525" dirty="0"/>
          </a:p>
        </p:txBody>
      </p:sp>
      <p:sp>
        <p:nvSpPr>
          <p:cNvPr id="63" name="Text 61"/>
          <p:cNvSpPr txBox="1"/>
          <p:nvPr/>
        </p:nvSpPr>
        <p:spPr>
          <a:xfrm>
            <a:off x="4334256" y="171450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E1</a:t>
            </a:r>
            <a:endParaRPr lang="en-US" sz="525" dirty="0">
              <a:solidFill>
                <a:schemeClr val="tx1">
                  <a:lumMod val="75000"/>
                  <a:lumOff val="25000"/>
                </a:schemeClr>
              </a:solidFill>
            </a:endParaRPr>
          </a:p>
        </p:txBody>
      </p:sp>
      <p:sp>
        <p:nvSpPr>
          <p:cNvPr id="64" name="Text 62"/>
          <p:cNvSpPr txBox="1"/>
          <p:nvPr/>
        </p:nvSpPr>
        <p:spPr>
          <a:xfrm>
            <a:off x="4690872" y="171450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65" name="Shape 63"/>
          <p:cNvSpPr/>
          <p:nvPr/>
        </p:nvSpPr>
        <p:spPr>
          <a:xfrm>
            <a:off x="3785616" y="194767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66" name="Text 64"/>
          <p:cNvSpPr txBox="1"/>
          <p:nvPr/>
        </p:nvSpPr>
        <p:spPr>
          <a:xfrm>
            <a:off x="3874770" y="200253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Gate reassignment</a:t>
            </a:r>
            <a:endParaRPr lang="en-US" sz="700" b="1" dirty="0"/>
          </a:p>
        </p:txBody>
      </p:sp>
      <p:sp>
        <p:nvSpPr>
          <p:cNvPr id="67" name="Text 65"/>
          <p:cNvSpPr txBox="1"/>
          <p:nvPr/>
        </p:nvSpPr>
        <p:spPr>
          <a:xfrm>
            <a:off x="3874770" y="226314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68" name="Text 66"/>
          <p:cNvSpPr txBox="1"/>
          <p:nvPr/>
        </p:nvSpPr>
        <p:spPr>
          <a:xfrm>
            <a:off x="4334256" y="226314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E2</a:t>
            </a:r>
            <a:endParaRPr lang="en-US" sz="525" dirty="0">
              <a:solidFill>
                <a:schemeClr val="tx1">
                  <a:lumMod val="75000"/>
                  <a:lumOff val="25000"/>
                </a:schemeClr>
              </a:solidFill>
            </a:endParaRPr>
          </a:p>
        </p:txBody>
      </p:sp>
      <p:sp>
        <p:nvSpPr>
          <p:cNvPr id="69" name="Text 67"/>
          <p:cNvSpPr txBox="1"/>
          <p:nvPr/>
        </p:nvSpPr>
        <p:spPr>
          <a:xfrm>
            <a:off x="4690872" y="226314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70" name="Shape 68"/>
          <p:cNvSpPr/>
          <p:nvPr/>
        </p:nvSpPr>
        <p:spPr>
          <a:xfrm>
            <a:off x="3785616" y="249631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71" name="Text 69"/>
          <p:cNvSpPr txBox="1"/>
          <p:nvPr/>
        </p:nvSpPr>
        <p:spPr>
          <a:xfrm>
            <a:off x="3874770" y="255117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Disruption re-accommodation</a:t>
            </a:r>
            <a:endParaRPr lang="en-US" sz="700" b="1" dirty="0"/>
          </a:p>
        </p:txBody>
      </p:sp>
      <p:sp>
        <p:nvSpPr>
          <p:cNvPr id="72" name="Text 70"/>
          <p:cNvSpPr txBox="1"/>
          <p:nvPr/>
        </p:nvSpPr>
        <p:spPr>
          <a:xfrm>
            <a:off x="3874770" y="281178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73" name="Text 71"/>
          <p:cNvSpPr txBox="1"/>
          <p:nvPr/>
        </p:nvSpPr>
        <p:spPr>
          <a:xfrm>
            <a:off x="4334256" y="281178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E2</a:t>
            </a:r>
            <a:endParaRPr lang="en-US" sz="525" dirty="0">
              <a:solidFill>
                <a:schemeClr val="tx1">
                  <a:lumMod val="75000"/>
                  <a:lumOff val="25000"/>
                </a:schemeClr>
              </a:solidFill>
            </a:endParaRPr>
          </a:p>
        </p:txBody>
      </p:sp>
      <p:sp>
        <p:nvSpPr>
          <p:cNvPr id="74" name="Text 72"/>
          <p:cNvSpPr txBox="1"/>
          <p:nvPr/>
        </p:nvSpPr>
        <p:spPr>
          <a:xfrm>
            <a:off x="4690872" y="281178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On</a:t>
            </a:r>
            <a:endParaRPr lang="en-US" sz="525" dirty="0">
              <a:solidFill>
                <a:schemeClr val="tx1">
                  <a:lumMod val="75000"/>
                  <a:lumOff val="25000"/>
                </a:schemeClr>
              </a:solidFill>
            </a:endParaRPr>
          </a:p>
        </p:txBody>
      </p:sp>
      <p:sp>
        <p:nvSpPr>
          <p:cNvPr id="75" name="Shape 73"/>
          <p:cNvSpPr/>
          <p:nvPr/>
        </p:nvSpPr>
        <p:spPr>
          <a:xfrm>
            <a:off x="3785616" y="304495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76" name="Text 74"/>
          <p:cNvSpPr txBox="1"/>
          <p:nvPr/>
        </p:nvSpPr>
        <p:spPr>
          <a:xfrm>
            <a:off x="3874770" y="309981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Refund issuance</a:t>
            </a:r>
            <a:endParaRPr lang="en-US" sz="700" b="1" dirty="0"/>
          </a:p>
        </p:txBody>
      </p:sp>
      <p:sp>
        <p:nvSpPr>
          <p:cNvPr id="77" name="Text 75"/>
          <p:cNvSpPr txBox="1"/>
          <p:nvPr/>
        </p:nvSpPr>
        <p:spPr>
          <a:xfrm>
            <a:off x="3874770" y="336042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78" name="Text 76"/>
          <p:cNvSpPr txBox="1"/>
          <p:nvPr/>
        </p:nvSpPr>
        <p:spPr>
          <a:xfrm>
            <a:off x="4334256" y="336042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E3</a:t>
            </a:r>
            <a:endParaRPr lang="en-US" sz="525" dirty="0">
              <a:solidFill>
                <a:schemeClr val="tx1">
                  <a:lumMod val="75000"/>
                  <a:lumOff val="25000"/>
                </a:schemeClr>
              </a:solidFill>
            </a:endParaRPr>
          </a:p>
        </p:txBody>
      </p:sp>
      <p:sp>
        <p:nvSpPr>
          <p:cNvPr id="79" name="Text 77"/>
          <p:cNvSpPr txBox="1"/>
          <p:nvPr/>
        </p:nvSpPr>
        <p:spPr>
          <a:xfrm>
            <a:off x="4690872" y="336042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In</a:t>
            </a:r>
            <a:endParaRPr lang="en-US" sz="525" dirty="0">
              <a:solidFill>
                <a:schemeClr val="tx1">
                  <a:lumMod val="75000"/>
                  <a:lumOff val="25000"/>
                </a:schemeClr>
              </a:solidFill>
            </a:endParaRPr>
          </a:p>
        </p:txBody>
      </p:sp>
      <p:sp>
        <p:nvSpPr>
          <p:cNvPr id="80" name="Shape 78"/>
          <p:cNvSpPr/>
          <p:nvPr/>
        </p:nvSpPr>
        <p:spPr>
          <a:xfrm>
            <a:off x="3785616" y="359359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81" name="Text 79"/>
          <p:cNvSpPr txBox="1"/>
          <p:nvPr/>
        </p:nvSpPr>
        <p:spPr>
          <a:xfrm>
            <a:off x="3874770" y="364845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Pre-arrival identity verification</a:t>
            </a:r>
            <a:endParaRPr lang="en-US" sz="700" b="1" dirty="0"/>
          </a:p>
        </p:txBody>
      </p:sp>
      <p:sp>
        <p:nvSpPr>
          <p:cNvPr id="82" name="Text 80"/>
          <p:cNvSpPr txBox="1"/>
          <p:nvPr/>
        </p:nvSpPr>
        <p:spPr>
          <a:xfrm>
            <a:off x="3874770" y="390906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83" name="Text 81"/>
          <p:cNvSpPr txBox="1"/>
          <p:nvPr/>
        </p:nvSpPr>
        <p:spPr>
          <a:xfrm>
            <a:off x="4334256" y="390906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E3</a:t>
            </a:r>
            <a:endParaRPr lang="en-US" sz="525" dirty="0">
              <a:solidFill>
                <a:schemeClr val="tx1">
                  <a:lumMod val="75000"/>
                  <a:lumOff val="25000"/>
                </a:schemeClr>
              </a:solidFill>
            </a:endParaRPr>
          </a:p>
        </p:txBody>
      </p:sp>
      <p:sp>
        <p:nvSpPr>
          <p:cNvPr id="84" name="Text 82"/>
          <p:cNvSpPr txBox="1"/>
          <p:nvPr/>
        </p:nvSpPr>
        <p:spPr>
          <a:xfrm>
            <a:off x="4690872" y="390906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In</a:t>
            </a:r>
            <a:endParaRPr lang="en-US" sz="525" dirty="0">
              <a:solidFill>
                <a:schemeClr val="tx1">
                  <a:lumMod val="75000"/>
                  <a:lumOff val="25000"/>
                </a:schemeClr>
              </a:solidFill>
            </a:endParaRPr>
          </a:p>
        </p:txBody>
      </p:sp>
      <p:sp>
        <p:nvSpPr>
          <p:cNvPr id="85" name="Text 83"/>
          <p:cNvSpPr txBox="1"/>
          <p:nvPr/>
        </p:nvSpPr>
        <p:spPr>
          <a:xfrm>
            <a:off x="5465826" y="1179576"/>
            <a:ext cx="1577340" cy="219456"/>
          </a:xfrm>
          <a:prstGeom prst="rect">
            <a:avLst/>
          </a:prstGeom>
          <a:noFill/>
          <a:ln/>
        </p:spPr>
        <p:txBody>
          <a:bodyPr wrap="square" lIns="0" tIns="0" rIns="0" bIns="0" rtlCol="0" anchor="t"/>
          <a:lstStyle/>
          <a:p>
            <a:r>
              <a:rPr lang="en-US" sz="700" b="1" kern="0" spc="90" dirty="0">
                <a:solidFill>
                  <a:schemeClr val="accent4"/>
                </a:solidFill>
                <a:latin typeface="Plus Jakarta Sans Medium" pitchFamily="34" charset="0"/>
                <a:ea typeface="Plus Jakarta Sans Medium" pitchFamily="34" charset="-122"/>
                <a:cs typeface="Plus Jakarta Sans Medium" pitchFamily="34" charset="-120"/>
              </a:rPr>
              <a:t>ENERGY &amp; RESOURCES</a:t>
            </a:r>
            <a:endParaRPr lang="en-US" sz="700" dirty="0">
              <a:solidFill>
                <a:schemeClr val="accent4"/>
              </a:solidFill>
            </a:endParaRPr>
          </a:p>
        </p:txBody>
      </p:sp>
      <p:sp>
        <p:nvSpPr>
          <p:cNvPr id="86" name="Shape 84"/>
          <p:cNvSpPr/>
          <p:nvPr/>
        </p:nvSpPr>
        <p:spPr>
          <a:xfrm>
            <a:off x="5465826" y="139903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87" name="Text 85"/>
          <p:cNvSpPr txBox="1"/>
          <p:nvPr/>
        </p:nvSpPr>
        <p:spPr>
          <a:xfrm>
            <a:off x="5554980" y="145389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Seismic interpretation brief</a:t>
            </a:r>
            <a:endParaRPr lang="en-US" sz="700" b="1" dirty="0"/>
          </a:p>
        </p:txBody>
      </p:sp>
      <p:sp>
        <p:nvSpPr>
          <p:cNvPr id="88" name="Text 86"/>
          <p:cNvSpPr txBox="1"/>
          <p:nvPr/>
        </p:nvSpPr>
        <p:spPr>
          <a:xfrm>
            <a:off x="5554980" y="1714500"/>
            <a:ext cx="452628" cy="137160"/>
          </a:xfrm>
          <a:prstGeom prst="rect">
            <a:avLst/>
          </a:prstGeom>
          <a:noFill/>
          <a:ln/>
        </p:spPr>
        <p:txBody>
          <a:bodyPr wrap="square" lIns="0" tIns="0" rIns="0" bIns="0" rtlCol="0" anchor="ctr"/>
          <a:lstStyle/>
          <a:p>
            <a:r>
              <a:rPr lang="en-US" sz="525" dirty="0">
                <a:solidFill>
                  <a:srgbClr val="4A7DFF"/>
                </a:solidFill>
                <a:latin typeface="Plus Jakarta Sans Medium" pitchFamily="34" charset="0"/>
                <a:ea typeface="Plus Jakarta Sans Medium" pitchFamily="34" charset="-122"/>
                <a:cs typeface="Plus Jakarta Sans Medium" pitchFamily="34" charset="-120"/>
              </a:rPr>
              <a:t>Know</a:t>
            </a:r>
            <a:endParaRPr lang="en-US" sz="525" dirty="0"/>
          </a:p>
        </p:txBody>
      </p:sp>
      <p:sp>
        <p:nvSpPr>
          <p:cNvPr id="89" name="Text 87"/>
          <p:cNvSpPr txBox="1"/>
          <p:nvPr/>
        </p:nvSpPr>
        <p:spPr>
          <a:xfrm>
            <a:off x="6014466" y="171450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E1</a:t>
            </a:r>
            <a:endParaRPr lang="en-US" sz="525" dirty="0">
              <a:solidFill>
                <a:schemeClr val="tx1">
                  <a:lumMod val="75000"/>
                  <a:lumOff val="25000"/>
                </a:schemeClr>
              </a:solidFill>
            </a:endParaRPr>
          </a:p>
        </p:txBody>
      </p:sp>
      <p:sp>
        <p:nvSpPr>
          <p:cNvPr id="90" name="Text 88"/>
          <p:cNvSpPr txBox="1"/>
          <p:nvPr/>
        </p:nvSpPr>
        <p:spPr>
          <a:xfrm>
            <a:off x="6371082" y="171450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91" name="Shape 89"/>
          <p:cNvSpPr/>
          <p:nvPr/>
        </p:nvSpPr>
        <p:spPr>
          <a:xfrm>
            <a:off x="5465826" y="194767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92" name="Text 90"/>
          <p:cNvSpPr txBox="1"/>
          <p:nvPr/>
        </p:nvSpPr>
        <p:spPr>
          <a:xfrm>
            <a:off x="5554980" y="200253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Work order raised from a fault model</a:t>
            </a:r>
            <a:endParaRPr lang="en-US" sz="700" b="1" dirty="0"/>
          </a:p>
        </p:txBody>
      </p:sp>
      <p:sp>
        <p:nvSpPr>
          <p:cNvPr id="93" name="Text 91"/>
          <p:cNvSpPr txBox="1"/>
          <p:nvPr/>
        </p:nvSpPr>
        <p:spPr>
          <a:xfrm>
            <a:off x="5554980" y="226314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94" name="Text 92"/>
          <p:cNvSpPr txBox="1"/>
          <p:nvPr/>
        </p:nvSpPr>
        <p:spPr>
          <a:xfrm>
            <a:off x="6014466" y="226314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E1</a:t>
            </a:r>
            <a:endParaRPr lang="en-US" sz="525" dirty="0">
              <a:solidFill>
                <a:schemeClr val="tx1">
                  <a:lumMod val="75000"/>
                  <a:lumOff val="25000"/>
                </a:schemeClr>
              </a:solidFill>
            </a:endParaRPr>
          </a:p>
        </p:txBody>
      </p:sp>
      <p:sp>
        <p:nvSpPr>
          <p:cNvPr id="95" name="Text 93"/>
          <p:cNvSpPr txBox="1"/>
          <p:nvPr/>
        </p:nvSpPr>
        <p:spPr>
          <a:xfrm>
            <a:off x="6371082" y="226314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96" name="Shape 94"/>
          <p:cNvSpPr/>
          <p:nvPr/>
        </p:nvSpPr>
        <p:spPr>
          <a:xfrm>
            <a:off x="5465826" y="249631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97" name="Text 95"/>
          <p:cNvSpPr txBox="1"/>
          <p:nvPr/>
        </p:nvSpPr>
        <p:spPr>
          <a:xfrm>
            <a:off x="5554980" y="255117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Wildfire ignition alert to dispatch</a:t>
            </a:r>
            <a:endParaRPr lang="en-US" sz="700" b="1" dirty="0"/>
          </a:p>
        </p:txBody>
      </p:sp>
      <p:sp>
        <p:nvSpPr>
          <p:cNvPr id="98" name="Text 96"/>
          <p:cNvSpPr txBox="1"/>
          <p:nvPr/>
        </p:nvSpPr>
        <p:spPr>
          <a:xfrm>
            <a:off x="5554980" y="2811780"/>
            <a:ext cx="452628" cy="137160"/>
          </a:xfrm>
          <a:prstGeom prst="rect">
            <a:avLst/>
          </a:prstGeom>
          <a:noFill/>
          <a:ln/>
        </p:spPr>
        <p:txBody>
          <a:bodyPr wrap="square" lIns="0" tIns="0" rIns="0" bIns="0" rtlCol="0" anchor="ctr"/>
          <a:lstStyle/>
          <a:p>
            <a:r>
              <a:rPr lang="en-US" sz="525" dirty="0">
                <a:solidFill>
                  <a:srgbClr val="BB51DC"/>
                </a:solidFill>
                <a:latin typeface="Plus Jakarta Sans Medium" pitchFamily="34" charset="0"/>
                <a:ea typeface="Plus Jakarta Sans Medium" pitchFamily="34" charset="-122"/>
                <a:cs typeface="Plus Jakarta Sans Medium" pitchFamily="34" charset="-120"/>
              </a:rPr>
              <a:t>Dec</a:t>
            </a:r>
            <a:endParaRPr lang="en-US" sz="525" dirty="0"/>
          </a:p>
        </p:txBody>
      </p:sp>
      <p:sp>
        <p:nvSpPr>
          <p:cNvPr id="99" name="Text 97"/>
          <p:cNvSpPr txBox="1"/>
          <p:nvPr/>
        </p:nvSpPr>
        <p:spPr>
          <a:xfrm>
            <a:off x="6014466" y="281178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E4</a:t>
            </a:r>
            <a:endParaRPr lang="en-US" sz="525" dirty="0">
              <a:solidFill>
                <a:schemeClr val="tx1">
                  <a:lumMod val="75000"/>
                  <a:lumOff val="25000"/>
                </a:schemeClr>
              </a:solidFill>
            </a:endParaRPr>
          </a:p>
        </p:txBody>
      </p:sp>
      <p:sp>
        <p:nvSpPr>
          <p:cNvPr id="100" name="Text 98"/>
          <p:cNvSpPr txBox="1"/>
          <p:nvPr/>
        </p:nvSpPr>
        <p:spPr>
          <a:xfrm>
            <a:off x="6371082" y="281178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On*</a:t>
            </a:r>
            <a:endParaRPr lang="en-US" sz="525" dirty="0">
              <a:solidFill>
                <a:schemeClr val="tx1">
                  <a:lumMod val="75000"/>
                  <a:lumOff val="25000"/>
                </a:schemeClr>
              </a:solidFill>
            </a:endParaRPr>
          </a:p>
        </p:txBody>
      </p:sp>
      <p:sp>
        <p:nvSpPr>
          <p:cNvPr id="101" name="Shape 99"/>
          <p:cNvSpPr/>
          <p:nvPr/>
        </p:nvSpPr>
        <p:spPr>
          <a:xfrm>
            <a:off x="5465826" y="304495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02" name="Text 100"/>
          <p:cNvSpPr txBox="1"/>
          <p:nvPr/>
        </p:nvSpPr>
        <p:spPr>
          <a:xfrm>
            <a:off x="5554980" y="309981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Autonomous haulage movement</a:t>
            </a:r>
            <a:endParaRPr lang="en-US" sz="700" b="1" dirty="0"/>
          </a:p>
        </p:txBody>
      </p:sp>
      <p:sp>
        <p:nvSpPr>
          <p:cNvPr id="103" name="Text 101"/>
          <p:cNvSpPr txBox="1"/>
          <p:nvPr/>
        </p:nvSpPr>
        <p:spPr>
          <a:xfrm>
            <a:off x="5554980" y="336042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104" name="Text 102"/>
          <p:cNvSpPr txBox="1"/>
          <p:nvPr/>
        </p:nvSpPr>
        <p:spPr>
          <a:xfrm>
            <a:off x="6014466" y="336042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E5</a:t>
            </a:r>
            <a:endParaRPr lang="en-US" sz="525" dirty="0">
              <a:solidFill>
                <a:schemeClr val="tx1">
                  <a:lumMod val="75000"/>
                  <a:lumOff val="25000"/>
                </a:schemeClr>
              </a:solidFill>
            </a:endParaRPr>
          </a:p>
        </p:txBody>
      </p:sp>
      <p:sp>
        <p:nvSpPr>
          <p:cNvPr id="105" name="Text 103"/>
          <p:cNvSpPr txBox="1"/>
          <p:nvPr/>
        </p:nvSpPr>
        <p:spPr>
          <a:xfrm>
            <a:off x="6371082" y="336042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106" name="Shape 104"/>
          <p:cNvSpPr/>
          <p:nvPr/>
        </p:nvSpPr>
        <p:spPr>
          <a:xfrm>
            <a:off x="5465826" y="359359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07" name="Text 105"/>
          <p:cNvSpPr txBox="1"/>
          <p:nvPr/>
        </p:nvSpPr>
        <p:spPr>
          <a:xfrm>
            <a:off x="5554980" y="364845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Grid switching or load shed</a:t>
            </a:r>
            <a:endParaRPr lang="en-US" sz="700" b="1" dirty="0"/>
          </a:p>
        </p:txBody>
      </p:sp>
      <p:sp>
        <p:nvSpPr>
          <p:cNvPr id="108" name="Text 106"/>
          <p:cNvSpPr txBox="1"/>
          <p:nvPr/>
        </p:nvSpPr>
        <p:spPr>
          <a:xfrm>
            <a:off x="5554980" y="390906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109" name="Text 107"/>
          <p:cNvSpPr txBox="1"/>
          <p:nvPr/>
        </p:nvSpPr>
        <p:spPr>
          <a:xfrm>
            <a:off x="6014466" y="390906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E5</a:t>
            </a:r>
            <a:endParaRPr lang="en-US" sz="525" dirty="0">
              <a:solidFill>
                <a:schemeClr val="tx1">
                  <a:lumMod val="75000"/>
                  <a:lumOff val="25000"/>
                </a:schemeClr>
              </a:solidFill>
            </a:endParaRPr>
          </a:p>
        </p:txBody>
      </p:sp>
      <p:sp>
        <p:nvSpPr>
          <p:cNvPr id="110" name="Text 108"/>
          <p:cNvSpPr txBox="1"/>
          <p:nvPr/>
        </p:nvSpPr>
        <p:spPr>
          <a:xfrm>
            <a:off x="6371082" y="390906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In</a:t>
            </a:r>
            <a:endParaRPr lang="en-US" sz="525" dirty="0">
              <a:solidFill>
                <a:schemeClr val="tx1">
                  <a:lumMod val="75000"/>
                  <a:lumOff val="25000"/>
                </a:schemeClr>
              </a:solidFill>
            </a:endParaRPr>
          </a:p>
        </p:txBody>
      </p:sp>
      <p:sp>
        <p:nvSpPr>
          <p:cNvPr id="111" name="Text 109"/>
          <p:cNvSpPr txBox="1"/>
          <p:nvPr/>
        </p:nvSpPr>
        <p:spPr>
          <a:xfrm>
            <a:off x="7146036" y="1179576"/>
            <a:ext cx="1577340" cy="219456"/>
          </a:xfrm>
          <a:prstGeom prst="rect">
            <a:avLst/>
          </a:prstGeom>
          <a:noFill/>
          <a:ln/>
        </p:spPr>
        <p:txBody>
          <a:bodyPr wrap="square" lIns="0" tIns="0" rIns="0" bIns="0" rtlCol="0" anchor="t"/>
          <a:lstStyle/>
          <a:p>
            <a:r>
              <a:rPr lang="en-US" sz="700" b="1" kern="0" spc="90" dirty="0">
                <a:solidFill>
                  <a:schemeClr val="accent4"/>
                </a:solidFill>
                <a:latin typeface="Plus Jakarta Sans Medium" pitchFamily="34" charset="0"/>
                <a:ea typeface="Plus Jakarta Sans Medium" pitchFamily="34" charset="-122"/>
                <a:cs typeface="Plus Jakarta Sans Medium" pitchFamily="34" charset="-120"/>
              </a:rPr>
              <a:t>MANUFACTURING</a:t>
            </a:r>
            <a:endParaRPr lang="en-US" sz="700" dirty="0">
              <a:solidFill>
                <a:schemeClr val="accent4"/>
              </a:solidFill>
            </a:endParaRPr>
          </a:p>
        </p:txBody>
      </p:sp>
      <p:sp>
        <p:nvSpPr>
          <p:cNvPr id="112" name="Shape 110"/>
          <p:cNvSpPr/>
          <p:nvPr/>
        </p:nvSpPr>
        <p:spPr>
          <a:xfrm>
            <a:off x="7146036" y="139903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13" name="Text 111"/>
          <p:cNvSpPr txBox="1"/>
          <p:nvPr/>
        </p:nvSpPr>
        <p:spPr>
          <a:xfrm>
            <a:off x="7235190" y="145389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PLC code drafted for review</a:t>
            </a:r>
            <a:endParaRPr lang="en-US" sz="700" b="1" dirty="0"/>
          </a:p>
        </p:txBody>
      </p:sp>
      <p:sp>
        <p:nvSpPr>
          <p:cNvPr id="114" name="Text 112"/>
          <p:cNvSpPr txBox="1"/>
          <p:nvPr/>
        </p:nvSpPr>
        <p:spPr>
          <a:xfrm>
            <a:off x="7235190" y="1714500"/>
            <a:ext cx="452628" cy="137160"/>
          </a:xfrm>
          <a:prstGeom prst="rect">
            <a:avLst/>
          </a:prstGeom>
          <a:noFill/>
          <a:ln/>
        </p:spPr>
        <p:txBody>
          <a:bodyPr wrap="square" lIns="0" tIns="0" rIns="0" bIns="0" rtlCol="0" anchor="ctr"/>
          <a:lstStyle/>
          <a:p>
            <a:r>
              <a:rPr lang="en-US" sz="525" dirty="0">
                <a:solidFill>
                  <a:srgbClr val="4A7DFF"/>
                </a:solidFill>
                <a:latin typeface="Plus Jakarta Sans Medium" pitchFamily="34" charset="0"/>
                <a:ea typeface="Plus Jakarta Sans Medium" pitchFamily="34" charset="-122"/>
                <a:cs typeface="Plus Jakarta Sans Medium" pitchFamily="34" charset="-120"/>
              </a:rPr>
              <a:t>Know</a:t>
            </a:r>
            <a:endParaRPr lang="en-US" sz="525" dirty="0"/>
          </a:p>
        </p:txBody>
      </p:sp>
      <p:sp>
        <p:nvSpPr>
          <p:cNvPr id="115" name="Text 113"/>
          <p:cNvSpPr txBox="1"/>
          <p:nvPr/>
        </p:nvSpPr>
        <p:spPr>
          <a:xfrm>
            <a:off x="7694676" y="171450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E1</a:t>
            </a:r>
            <a:endParaRPr lang="en-US" sz="525" dirty="0">
              <a:solidFill>
                <a:schemeClr val="tx1">
                  <a:lumMod val="75000"/>
                  <a:lumOff val="25000"/>
                </a:schemeClr>
              </a:solidFill>
            </a:endParaRPr>
          </a:p>
        </p:txBody>
      </p:sp>
      <p:sp>
        <p:nvSpPr>
          <p:cNvPr id="116" name="Text 114"/>
          <p:cNvSpPr txBox="1"/>
          <p:nvPr/>
        </p:nvSpPr>
        <p:spPr>
          <a:xfrm>
            <a:off x="8051292" y="171450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In</a:t>
            </a:r>
            <a:endParaRPr lang="en-US" sz="525" dirty="0">
              <a:solidFill>
                <a:schemeClr val="tx1">
                  <a:lumMod val="75000"/>
                  <a:lumOff val="25000"/>
                </a:schemeClr>
              </a:solidFill>
            </a:endParaRPr>
          </a:p>
        </p:txBody>
      </p:sp>
      <p:sp>
        <p:nvSpPr>
          <p:cNvPr id="117" name="Shape 115"/>
          <p:cNvSpPr/>
          <p:nvPr/>
        </p:nvSpPr>
        <p:spPr>
          <a:xfrm>
            <a:off x="7146036" y="194767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18" name="Text 116"/>
          <p:cNvSpPr txBox="1"/>
          <p:nvPr/>
        </p:nvSpPr>
        <p:spPr>
          <a:xfrm>
            <a:off x="7235190" y="200253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Vision defect reject on the line</a:t>
            </a:r>
            <a:endParaRPr lang="en-US" sz="700" b="1" dirty="0"/>
          </a:p>
        </p:txBody>
      </p:sp>
      <p:sp>
        <p:nvSpPr>
          <p:cNvPr id="119" name="Text 117"/>
          <p:cNvSpPr txBox="1"/>
          <p:nvPr/>
        </p:nvSpPr>
        <p:spPr>
          <a:xfrm>
            <a:off x="7235190" y="2263140"/>
            <a:ext cx="452628" cy="137160"/>
          </a:xfrm>
          <a:prstGeom prst="rect">
            <a:avLst/>
          </a:prstGeom>
          <a:noFill/>
          <a:ln/>
        </p:spPr>
        <p:txBody>
          <a:bodyPr wrap="square" lIns="0" tIns="0" rIns="0" bIns="0" rtlCol="0" anchor="ctr"/>
          <a:lstStyle/>
          <a:p>
            <a:r>
              <a:rPr lang="en-US" sz="525" dirty="0">
                <a:solidFill>
                  <a:srgbClr val="BB51DC"/>
                </a:solidFill>
                <a:latin typeface="Plus Jakarta Sans Medium" pitchFamily="34" charset="0"/>
                <a:ea typeface="Plus Jakarta Sans Medium" pitchFamily="34" charset="-122"/>
                <a:cs typeface="Plus Jakarta Sans Medium" pitchFamily="34" charset="-120"/>
              </a:rPr>
              <a:t>Dec</a:t>
            </a:r>
            <a:endParaRPr lang="en-US" sz="525" dirty="0"/>
          </a:p>
        </p:txBody>
      </p:sp>
      <p:sp>
        <p:nvSpPr>
          <p:cNvPr id="120" name="Text 118"/>
          <p:cNvSpPr txBox="1"/>
          <p:nvPr/>
        </p:nvSpPr>
        <p:spPr>
          <a:xfrm>
            <a:off x="7694676" y="226314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E1</a:t>
            </a:r>
            <a:endParaRPr lang="en-US" sz="525" dirty="0">
              <a:solidFill>
                <a:schemeClr val="tx1">
                  <a:lumMod val="75000"/>
                  <a:lumOff val="25000"/>
                </a:schemeClr>
              </a:solidFill>
            </a:endParaRPr>
          </a:p>
        </p:txBody>
      </p:sp>
      <p:sp>
        <p:nvSpPr>
          <p:cNvPr id="121" name="Text 119"/>
          <p:cNvSpPr txBox="1"/>
          <p:nvPr/>
        </p:nvSpPr>
        <p:spPr>
          <a:xfrm>
            <a:off x="8051292" y="226314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Out</a:t>
            </a:r>
            <a:endParaRPr lang="en-US" sz="525" dirty="0">
              <a:solidFill>
                <a:schemeClr val="tx1">
                  <a:lumMod val="75000"/>
                  <a:lumOff val="25000"/>
                </a:schemeClr>
              </a:solidFill>
            </a:endParaRPr>
          </a:p>
        </p:txBody>
      </p:sp>
      <p:sp>
        <p:nvSpPr>
          <p:cNvPr id="122" name="Shape 120"/>
          <p:cNvSpPr/>
          <p:nvPr/>
        </p:nvSpPr>
        <p:spPr>
          <a:xfrm>
            <a:off x="7146036" y="249631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23" name="Text 121"/>
          <p:cNvSpPr txBox="1"/>
          <p:nvPr/>
        </p:nvSpPr>
        <p:spPr>
          <a:xfrm>
            <a:off x="7235190" y="255117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Process-twin setpoint change</a:t>
            </a:r>
            <a:endParaRPr lang="en-US" sz="700" b="1" dirty="0"/>
          </a:p>
        </p:txBody>
      </p:sp>
      <p:sp>
        <p:nvSpPr>
          <p:cNvPr id="124" name="Text 122"/>
          <p:cNvSpPr txBox="1"/>
          <p:nvPr/>
        </p:nvSpPr>
        <p:spPr>
          <a:xfrm>
            <a:off x="7235190" y="281178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125" name="Text 123"/>
          <p:cNvSpPr txBox="1"/>
          <p:nvPr/>
        </p:nvSpPr>
        <p:spPr>
          <a:xfrm>
            <a:off x="7694676" y="281178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E2</a:t>
            </a:r>
            <a:endParaRPr lang="en-US" sz="525" dirty="0">
              <a:solidFill>
                <a:schemeClr val="tx1">
                  <a:lumMod val="75000"/>
                  <a:lumOff val="25000"/>
                </a:schemeClr>
              </a:solidFill>
            </a:endParaRPr>
          </a:p>
        </p:txBody>
      </p:sp>
      <p:sp>
        <p:nvSpPr>
          <p:cNvPr id="126" name="Text 124"/>
          <p:cNvSpPr txBox="1"/>
          <p:nvPr/>
        </p:nvSpPr>
        <p:spPr>
          <a:xfrm>
            <a:off x="8051292" y="281178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On</a:t>
            </a:r>
            <a:endParaRPr lang="en-US" sz="525" dirty="0">
              <a:solidFill>
                <a:schemeClr val="tx1">
                  <a:lumMod val="75000"/>
                  <a:lumOff val="25000"/>
                </a:schemeClr>
              </a:solidFill>
            </a:endParaRPr>
          </a:p>
        </p:txBody>
      </p:sp>
      <p:sp>
        <p:nvSpPr>
          <p:cNvPr id="127" name="Shape 125"/>
          <p:cNvSpPr/>
          <p:nvPr/>
        </p:nvSpPr>
        <p:spPr>
          <a:xfrm>
            <a:off x="7146036" y="304495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28" name="Text 126"/>
          <p:cNvSpPr txBox="1"/>
          <p:nvPr/>
        </p:nvSpPr>
        <p:spPr>
          <a:xfrm>
            <a:off x="7235190" y="309981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Safety-alert escalation</a:t>
            </a:r>
            <a:endParaRPr lang="en-US" sz="700" b="1" dirty="0"/>
          </a:p>
        </p:txBody>
      </p:sp>
      <p:sp>
        <p:nvSpPr>
          <p:cNvPr id="129" name="Text 127"/>
          <p:cNvSpPr txBox="1"/>
          <p:nvPr/>
        </p:nvSpPr>
        <p:spPr>
          <a:xfrm>
            <a:off x="7235190" y="3360420"/>
            <a:ext cx="452628" cy="137160"/>
          </a:xfrm>
          <a:prstGeom prst="rect">
            <a:avLst/>
          </a:prstGeom>
          <a:noFill/>
          <a:ln/>
        </p:spPr>
        <p:txBody>
          <a:bodyPr wrap="square" lIns="0" tIns="0" rIns="0" bIns="0" rtlCol="0" anchor="ctr"/>
          <a:lstStyle/>
          <a:p>
            <a:r>
              <a:rPr lang="en-US" sz="525" dirty="0">
                <a:solidFill>
                  <a:srgbClr val="BB51DC"/>
                </a:solidFill>
                <a:latin typeface="Plus Jakarta Sans Medium" pitchFamily="34" charset="0"/>
                <a:ea typeface="Plus Jakarta Sans Medium" pitchFamily="34" charset="-122"/>
                <a:cs typeface="Plus Jakarta Sans Medium" pitchFamily="34" charset="-120"/>
              </a:rPr>
              <a:t>Dec</a:t>
            </a:r>
            <a:endParaRPr lang="en-US" sz="525" dirty="0"/>
          </a:p>
        </p:txBody>
      </p:sp>
      <p:sp>
        <p:nvSpPr>
          <p:cNvPr id="130" name="Text 128"/>
          <p:cNvSpPr txBox="1"/>
          <p:nvPr/>
        </p:nvSpPr>
        <p:spPr>
          <a:xfrm>
            <a:off x="7694676" y="336042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E5</a:t>
            </a:r>
            <a:endParaRPr lang="en-US" sz="525" dirty="0">
              <a:solidFill>
                <a:schemeClr val="tx1">
                  <a:lumMod val="75000"/>
                  <a:lumOff val="25000"/>
                </a:schemeClr>
              </a:solidFill>
            </a:endParaRPr>
          </a:p>
        </p:txBody>
      </p:sp>
      <p:sp>
        <p:nvSpPr>
          <p:cNvPr id="131" name="Text 129"/>
          <p:cNvSpPr txBox="1"/>
          <p:nvPr/>
        </p:nvSpPr>
        <p:spPr>
          <a:xfrm>
            <a:off x="8051292" y="336042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On</a:t>
            </a:r>
            <a:endParaRPr lang="en-US" sz="525" dirty="0">
              <a:solidFill>
                <a:schemeClr val="tx1">
                  <a:lumMod val="75000"/>
                  <a:lumOff val="25000"/>
                </a:schemeClr>
              </a:solidFill>
            </a:endParaRPr>
          </a:p>
        </p:txBody>
      </p:sp>
      <p:sp>
        <p:nvSpPr>
          <p:cNvPr id="132" name="Shape 130"/>
          <p:cNvSpPr/>
          <p:nvPr/>
        </p:nvSpPr>
        <p:spPr>
          <a:xfrm>
            <a:off x="7146036" y="3593592"/>
            <a:ext cx="1577340" cy="466344"/>
          </a:xfrm>
          <a:prstGeom prst="roundRect">
            <a:avLst>
              <a:gd name="adj" fmla="val 5882"/>
            </a:avLst>
          </a:prstGeom>
          <a:solidFill>
            <a:schemeClr val="bg1"/>
          </a:solidFill>
          <a:ln w="3175">
            <a:solidFill>
              <a:schemeClr val="accent4"/>
            </a:solidFill>
            <a:prstDash val="solid"/>
          </a:ln>
        </p:spPr>
        <p:txBody>
          <a:bodyPr/>
          <a:lstStyle/>
          <a:p>
            <a:endParaRPr lang="en-AE" sz="1350"/>
          </a:p>
        </p:txBody>
      </p:sp>
      <p:sp>
        <p:nvSpPr>
          <p:cNvPr id="133" name="Text 131"/>
          <p:cNvSpPr txBox="1"/>
          <p:nvPr/>
        </p:nvSpPr>
        <p:spPr>
          <a:xfrm>
            <a:off x="7235190" y="3648456"/>
            <a:ext cx="1399032" cy="233172"/>
          </a:xfrm>
          <a:prstGeom prst="rect">
            <a:avLst/>
          </a:prstGeom>
          <a:noFill/>
          <a:ln/>
        </p:spPr>
        <p:txBody>
          <a:bodyPr wrap="square" lIns="0" tIns="0" rIns="0" bIns="0" rtlCol="0" anchor="t"/>
          <a:lstStyle/>
          <a:p>
            <a:pPr>
              <a:lnSpc>
                <a:spcPct val="110000"/>
              </a:lnSpc>
            </a:pPr>
            <a:r>
              <a:rPr lang="en-US" sz="700" b="1" dirty="0">
                <a:latin typeface="Plus Jakarta Sans ExtraLight" pitchFamily="34" charset="0"/>
                <a:ea typeface="Plus Jakarta Sans ExtraLight" pitchFamily="34" charset="-122"/>
                <a:cs typeface="Plus Jakarta Sans ExtraLight" pitchFamily="34" charset="-120"/>
              </a:rPr>
              <a:t>Humanoid intralogistics move</a:t>
            </a:r>
            <a:endParaRPr lang="en-US" sz="700" b="1" dirty="0"/>
          </a:p>
        </p:txBody>
      </p:sp>
      <p:sp>
        <p:nvSpPr>
          <p:cNvPr id="134" name="Text 132"/>
          <p:cNvSpPr txBox="1"/>
          <p:nvPr/>
        </p:nvSpPr>
        <p:spPr>
          <a:xfrm>
            <a:off x="7235190" y="3909060"/>
            <a:ext cx="452628" cy="137160"/>
          </a:xfrm>
          <a:prstGeom prst="rect">
            <a:avLst/>
          </a:prstGeom>
          <a:noFill/>
          <a:ln/>
        </p:spPr>
        <p:txBody>
          <a:bodyPr wrap="square" lIns="0" tIns="0" rIns="0" bIns="0" rtlCol="0" anchor="ctr"/>
          <a:lstStyle/>
          <a:p>
            <a:r>
              <a:rPr lang="en-US" sz="525" dirty="0">
                <a:solidFill>
                  <a:srgbClr val="FC795F"/>
                </a:solidFill>
                <a:latin typeface="Plus Jakarta Sans Medium" pitchFamily="34" charset="0"/>
                <a:ea typeface="Plus Jakarta Sans Medium" pitchFamily="34" charset="-122"/>
                <a:cs typeface="Plus Jakarta Sans Medium" pitchFamily="34" charset="-120"/>
              </a:rPr>
              <a:t>Act</a:t>
            </a:r>
            <a:endParaRPr lang="en-US" sz="525" dirty="0"/>
          </a:p>
        </p:txBody>
      </p:sp>
      <p:sp>
        <p:nvSpPr>
          <p:cNvPr id="135" name="Text 133"/>
          <p:cNvSpPr txBox="1"/>
          <p:nvPr/>
        </p:nvSpPr>
        <p:spPr>
          <a:xfrm>
            <a:off x="7694676" y="3909060"/>
            <a:ext cx="274320" cy="137160"/>
          </a:xfrm>
          <a:prstGeom prst="rect">
            <a:avLst/>
          </a:prstGeom>
          <a:noFill/>
          <a:ln/>
        </p:spPr>
        <p:txBody>
          <a:bodyPr wrap="square" lIns="0" tIns="0" rIns="0" bIns="0" rtlCol="0" anchor="ctr"/>
          <a:lstStyle/>
          <a:p>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E5</a:t>
            </a:r>
            <a:endParaRPr lang="en-US" sz="525" dirty="0">
              <a:solidFill>
                <a:schemeClr val="tx1">
                  <a:lumMod val="75000"/>
                  <a:lumOff val="25000"/>
                </a:schemeClr>
              </a:solidFill>
            </a:endParaRPr>
          </a:p>
        </p:txBody>
      </p:sp>
      <p:sp>
        <p:nvSpPr>
          <p:cNvPr id="136" name="Text 134"/>
          <p:cNvSpPr txBox="1"/>
          <p:nvPr/>
        </p:nvSpPr>
        <p:spPr>
          <a:xfrm>
            <a:off x="8051292" y="3909060"/>
            <a:ext cx="582930" cy="137160"/>
          </a:xfrm>
          <a:prstGeom prst="rect">
            <a:avLst/>
          </a:prstGeom>
          <a:noFill/>
          <a:ln/>
        </p:spPr>
        <p:txBody>
          <a:bodyPr wrap="square" lIns="0" tIns="0" rIns="0" bIns="0" rtlCol="0" anchor="ctr"/>
          <a:lstStyle/>
          <a:p>
            <a:pPr algn="r"/>
            <a:r>
              <a:rPr lang="en-US" sz="525" dirty="0">
                <a:solidFill>
                  <a:schemeClr val="tx1">
                    <a:lumMod val="75000"/>
                    <a:lumOff val="25000"/>
                  </a:schemeClr>
                </a:solidFill>
                <a:latin typeface="Plus Jakarta Sans Medium" pitchFamily="34" charset="0"/>
                <a:ea typeface="Plus Jakarta Sans Medium" pitchFamily="34" charset="-122"/>
                <a:cs typeface="Plus Jakarta Sans Medium" pitchFamily="34" charset="-120"/>
              </a:rPr>
              <a:t>In</a:t>
            </a:r>
            <a:endParaRPr lang="en-US" sz="525" dirty="0">
              <a:solidFill>
                <a:schemeClr val="tx1">
                  <a:lumMod val="75000"/>
                  <a:lumOff val="25000"/>
                </a:schemeClr>
              </a:solidFill>
            </a:endParaRPr>
          </a:p>
        </p:txBody>
      </p:sp>
      <p:sp>
        <p:nvSpPr>
          <p:cNvPr id="137" name="Text 135"/>
          <p:cNvSpPr txBox="1"/>
          <p:nvPr/>
        </p:nvSpPr>
        <p:spPr>
          <a:xfrm>
            <a:off x="425196" y="4265676"/>
            <a:ext cx="8298180" cy="356616"/>
          </a:xfrm>
          <a:prstGeom prst="rect">
            <a:avLst/>
          </a:prstGeom>
          <a:noFill/>
          <a:ln/>
        </p:spPr>
        <p:txBody>
          <a:bodyPr wrap="square" lIns="0" tIns="0" rIns="0" bIns="0" rtlCol="0" anchor="t"/>
          <a:lstStyle/>
          <a:p>
            <a:pPr>
              <a:lnSpc>
                <a:spcPct val="115000"/>
              </a:lnSpc>
            </a:pPr>
            <a:r>
              <a:rPr lang="en-US" sz="700" dirty="0">
                <a:latin typeface="Plus Jakarta Sans ExtraLight" pitchFamily="34" charset="0"/>
                <a:ea typeface="Plus Jakarta Sans ExtraLight" pitchFamily="34" charset="-122"/>
                <a:cs typeface="Plus Jakarta Sans ExtraLight" pitchFamily="34" charset="-120"/>
              </a:rPr>
              <a:t>Know / Dec / Act = what is handed over.  E1–E5 = exposure band.  Out / On / In = authority granted.   * = above the ceiling, so an approved artefact carries the authority: a scoring policy and threshold, a published operational rule set, a fenced corridor with a functional-safety case, or a detection threshold with a dispatch protocol.</a:t>
            </a:r>
            <a:endParaRPr lang="en-US" sz="700" dirty="0"/>
          </a:p>
        </p:txBody>
      </p:sp>
      <p:sp>
        <p:nvSpPr>
          <p:cNvPr id="138" name="Title 137">
            <a:extLst>
              <a:ext uri="{FF2B5EF4-FFF2-40B4-BE49-F238E27FC236}">
                <a16:creationId xmlns:a16="http://schemas.microsoft.com/office/drawing/2014/main" id="{26072D58-6195-E8BE-4A52-A54973763BA8}"/>
              </a:ext>
            </a:extLst>
          </p:cNvPr>
          <p:cNvSpPr>
            <a:spLocks noGrp="1"/>
          </p:cNvSpPr>
          <p:nvPr>
            <p:ph type="title"/>
          </p:nvPr>
        </p:nvSpPr>
        <p:spPr>
          <a:xfrm>
            <a:off x="457200" y="531813"/>
            <a:ext cx="7315200" cy="369332"/>
          </a:xfrm>
        </p:spPr>
        <p:txBody>
          <a:bodyPr/>
          <a:lstStyle/>
          <a:p>
            <a:r>
              <a:rPr lang="en-AE" dirty="0"/>
              <a:t>Examples across industries</a:t>
            </a:r>
          </a:p>
        </p:txBody>
      </p:sp>
      <p:sp>
        <p:nvSpPr>
          <p:cNvPr id="139" name="Text Placeholder 138">
            <a:extLst>
              <a:ext uri="{FF2B5EF4-FFF2-40B4-BE49-F238E27FC236}">
                <a16:creationId xmlns:a16="http://schemas.microsoft.com/office/drawing/2014/main" id="{9AC2B28B-2276-70A1-95C8-DC049649ECB2}"/>
              </a:ext>
            </a:extLst>
          </p:cNvPr>
          <p:cNvSpPr>
            <a:spLocks noGrp="1"/>
          </p:cNvSpPr>
          <p:nvPr>
            <p:ph type="body" sz="quarter" idx="13"/>
          </p:nvPr>
        </p:nvSpPr>
        <p:spPr>
          <a:xfrm>
            <a:off x="457200" y="307975"/>
            <a:ext cx="2378075" cy="184150"/>
          </a:xfrm>
        </p:spPr>
        <p:txBody>
          <a:bodyPr/>
          <a:lstStyle/>
          <a:p>
            <a:r>
              <a:rPr lang="en-AE" dirty="0"/>
              <a:t>APPENDIX B</a:t>
            </a:r>
          </a:p>
        </p:txBody>
      </p:sp>
      <p:sp>
        <p:nvSpPr>
          <p:cNvPr id="140" name="Text Placeholder 139">
            <a:extLst>
              <a:ext uri="{FF2B5EF4-FFF2-40B4-BE49-F238E27FC236}">
                <a16:creationId xmlns:a16="http://schemas.microsoft.com/office/drawing/2014/main" id="{6E6B491F-8AE6-2517-FAF4-DF058BA69C89}"/>
              </a:ext>
            </a:extLst>
          </p:cNvPr>
          <p:cNvSpPr>
            <a:spLocks noGrp="1"/>
          </p:cNvSpPr>
          <p:nvPr>
            <p:ph type="body" sz="quarter" idx="14"/>
          </p:nvPr>
        </p:nvSpPr>
        <p:spPr>
          <a:xfrm>
            <a:off x="457200" y="899478"/>
            <a:ext cx="7315200" cy="157351"/>
          </a:xfrm>
        </p:spPr>
        <p:txBody>
          <a:bodyPr/>
          <a:lstStyle/>
          <a:p>
            <a:r>
              <a:rPr lang="en-US" dirty="0"/>
              <a:t>Note how often the same technology sits at different authorities because the exposure differs.</a:t>
            </a:r>
            <a:endParaRPr lang="en-AE"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425196" y="452628"/>
            <a:ext cx="7955280" cy="384048"/>
          </a:xfrm>
          <a:prstGeom prst="rect">
            <a:avLst/>
          </a:prstGeom>
          <a:noFill/>
          <a:ln/>
        </p:spPr>
        <p:txBody>
          <a:bodyPr wrap="square" lIns="0" tIns="0" rIns="0" bIns="0" rtlCol="0" anchor="ctr"/>
          <a:lstStyle/>
          <a:p>
            <a:r>
              <a:rPr lang="en-US" sz="1725" dirty="0">
                <a:solidFill>
                  <a:srgbClr val="F7F4EE"/>
                </a:solidFill>
                <a:latin typeface="Plus Jakarta Sans ExtraBold" pitchFamily="34" charset="0"/>
                <a:ea typeface="Plus Jakarta Sans ExtraBold" pitchFamily="34" charset="-122"/>
                <a:cs typeface="Plus Jakarta Sans ExtraBold" pitchFamily="34" charset="-120"/>
              </a:rPr>
              <a:t>Practice we adopted — standards and regulators</a:t>
            </a:r>
            <a:endParaRPr lang="en-US" sz="1725" dirty="0"/>
          </a:p>
        </p:txBody>
      </p:sp>
      <p:sp>
        <p:nvSpPr>
          <p:cNvPr id="4" name="Text 2"/>
          <p:cNvSpPr txBox="1"/>
          <p:nvPr/>
        </p:nvSpPr>
        <p:spPr>
          <a:xfrm>
            <a:off x="425196" y="4841748"/>
            <a:ext cx="4114800" cy="164592"/>
          </a:xfrm>
          <a:prstGeom prst="rect">
            <a:avLst/>
          </a:prstGeom>
          <a:noFill/>
          <a:ln/>
        </p:spPr>
        <p:txBody>
          <a:bodyPr wrap="square" lIns="0" tIns="0" rIns="0" bIns="0" rtlCol="0" anchor="ctr"/>
          <a:lstStyle/>
          <a:p>
            <a:r>
              <a:rPr lang="en-US" sz="563" dirty="0">
                <a:solidFill>
                  <a:srgbClr val="8A93A0"/>
                </a:solidFill>
                <a:latin typeface="Plus Jakarta Sans ExtraLight" pitchFamily="34" charset="0"/>
                <a:ea typeface="Plus Jakarta Sans ExtraLight" pitchFamily="34" charset="-122"/>
                <a:cs typeface="Plus Jakarta Sans ExtraLight" pitchFamily="34" charset="-120"/>
              </a:rPr>
              <a:t>Copyright © 2026. All Right Protected &amp; Reserved.</a:t>
            </a:r>
            <a:endParaRPr lang="en-US" sz="563" dirty="0"/>
          </a:p>
        </p:txBody>
      </p:sp>
      <p:sp>
        <p:nvSpPr>
          <p:cNvPr id="5" name="Text 3"/>
          <p:cNvSpPr txBox="1"/>
          <p:nvPr/>
        </p:nvSpPr>
        <p:spPr>
          <a:xfrm>
            <a:off x="8457971" y="4841748"/>
            <a:ext cx="274320" cy="164592"/>
          </a:xfrm>
          <a:prstGeom prst="rect">
            <a:avLst/>
          </a:prstGeom>
          <a:noFill/>
          <a:ln/>
        </p:spPr>
        <p:txBody>
          <a:bodyPr wrap="square" lIns="0" tIns="0" rIns="0" bIns="0" rtlCol="0" anchor="ctr"/>
          <a:lstStyle/>
          <a:p>
            <a:pPr algn="r"/>
            <a:r>
              <a:rPr lang="en-US" sz="563" dirty="0">
                <a:solidFill>
                  <a:srgbClr val="8A93A0"/>
                </a:solidFill>
                <a:latin typeface="Plus Jakarta Sans Medium" pitchFamily="34" charset="0"/>
                <a:ea typeface="Plus Jakarta Sans Medium" pitchFamily="34" charset="-122"/>
                <a:cs typeface="Plus Jakarta Sans Medium" pitchFamily="34" charset="-120"/>
              </a:rPr>
              <a:t>6</a:t>
            </a:r>
            <a:endParaRPr lang="en-US" sz="563" dirty="0"/>
          </a:p>
        </p:txBody>
      </p:sp>
      <p:sp>
        <p:nvSpPr>
          <p:cNvPr id="6" name="Text 4"/>
          <p:cNvSpPr txBox="1"/>
          <p:nvPr/>
        </p:nvSpPr>
        <p:spPr>
          <a:xfrm>
            <a:off x="459486" y="27432"/>
            <a:ext cx="8161020" cy="192024"/>
          </a:xfrm>
          <a:prstGeom prst="rect">
            <a:avLst/>
          </a:prstGeom>
          <a:noFill/>
          <a:ln/>
        </p:spPr>
        <p:txBody>
          <a:bodyPr wrap="square" lIns="0" tIns="0" rIns="0" bIns="0" rtlCol="0" anchor="ctr"/>
          <a:lstStyle/>
          <a:p>
            <a:r>
              <a:rPr lang="en-US" sz="788" dirty="0">
                <a:solidFill>
                  <a:srgbClr val="8A93A0"/>
                </a:solidFill>
                <a:latin typeface="Plus Jakarta Sans ExtraLight" pitchFamily="34" charset="0"/>
                <a:ea typeface="Plus Jakarta Sans ExtraLight" pitchFamily="34" charset="-122"/>
                <a:cs typeface="Plus Jakarta Sans ExtraLight" pitchFamily="34" charset="-120"/>
              </a:rPr>
              <a:t>Assembled from the strongest published practice available, across sectors and jurisdictions. Every element is cited rather than claimed.</a:t>
            </a:r>
            <a:endParaRPr lang="en-US" sz="788" dirty="0"/>
          </a:p>
        </p:txBody>
      </p:sp>
      <p:sp>
        <p:nvSpPr>
          <p:cNvPr id="7" name="Text 5"/>
          <p:cNvSpPr txBox="1"/>
          <p:nvPr/>
        </p:nvSpPr>
        <p:spPr>
          <a:xfrm>
            <a:off x="507492" y="1287641"/>
            <a:ext cx="2606040" cy="137160"/>
          </a:xfrm>
          <a:prstGeom prst="rect">
            <a:avLst/>
          </a:prstGeom>
          <a:noFill/>
          <a:ln/>
        </p:spPr>
        <p:txBody>
          <a:bodyPr wrap="square" lIns="0" tIns="0" rIns="0" bIns="0" rtlCol="0" anchor="ctr"/>
          <a:lstStyle/>
          <a:p>
            <a:r>
              <a:rPr lang="en-US" sz="525" b="1" kern="0" spc="105" dirty="0">
                <a:solidFill>
                  <a:schemeClr val="accent4"/>
                </a:solidFill>
                <a:latin typeface="Plus Jakarta Sans Medium" pitchFamily="34" charset="0"/>
                <a:ea typeface="Plus Jakarta Sans Medium" pitchFamily="34" charset="-122"/>
                <a:cs typeface="Plus Jakarta Sans Medium" pitchFamily="34" charset="-120"/>
              </a:rPr>
              <a:t>PRACTICE ADOPTED</a:t>
            </a:r>
            <a:endParaRPr lang="en-US" sz="525" dirty="0">
              <a:solidFill>
                <a:schemeClr val="accent4"/>
              </a:solidFill>
            </a:endParaRPr>
          </a:p>
        </p:txBody>
      </p:sp>
      <p:sp>
        <p:nvSpPr>
          <p:cNvPr id="8" name="Text 6"/>
          <p:cNvSpPr txBox="1"/>
          <p:nvPr/>
        </p:nvSpPr>
        <p:spPr>
          <a:xfrm>
            <a:off x="2990088" y="1287641"/>
            <a:ext cx="3250692" cy="137160"/>
          </a:xfrm>
          <a:prstGeom prst="rect">
            <a:avLst/>
          </a:prstGeom>
          <a:noFill/>
          <a:ln/>
        </p:spPr>
        <p:txBody>
          <a:bodyPr wrap="square" lIns="0" tIns="0" rIns="0" bIns="0" rtlCol="0" anchor="ctr"/>
          <a:lstStyle/>
          <a:p>
            <a:r>
              <a:rPr lang="en-US" sz="525" b="1" kern="0" spc="105" dirty="0">
                <a:solidFill>
                  <a:schemeClr val="accent4"/>
                </a:solidFill>
                <a:latin typeface="Plus Jakarta Sans Medium" pitchFamily="34" charset="0"/>
                <a:ea typeface="Plus Jakarta Sans Medium" pitchFamily="34" charset="-122"/>
                <a:cs typeface="Plus Jakarta Sans Medium" pitchFamily="34" charset="-120"/>
              </a:rPr>
              <a:t>SOURCE</a:t>
            </a:r>
            <a:endParaRPr lang="en-US" sz="525" dirty="0">
              <a:solidFill>
                <a:schemeClr val="accent4"/>
              </a:solidFill>
            </a:endParaRPr>
          </a:p>
        </p:txBody>
      </p:sp>
      <p:sp>
        <p:nvSpPr>
          <p:cNvPr id="9" name="Text 7"/>
          <p:cNvSpPr txBox="1"/>
          <p:nvPr/>
        </p:nvSpPr>
        <p:spPr>
          <a:xfrm>
            <a:off x="6062472" y="1287641"/>
            <a:ext cx="2880360" cy="137160"/>
          </a:xfrm>
          <a:prstGeom prst="rect">
            <a:avLst/>
          </a:prstGeom>
          <a:noFill/>
          <a:ln/>
        </p:spPr>
        <p:txBody>
          <a:bodyPr wrap="square" lIns="0" tIns="0" rIns="0" bIns="0" rtlCol="0" anchor="ctr"/>
          <a:lstStyle/>
          <a:p>
            <a:r>
              <a:rPr lang="en-US" sz="525" b="1" kern="0" spc="105" dirty="0">
                <a:solidFill>
                  <a:schemeClr val="accent4"/>
                </a:solidFill>
                <a:latin typeface="Plus Jakarta Sans Medium" pitchFamily="34" charset="0"/>
                <a:ea typeface="Plus Jakarta Sans Medium" pitchFamily="34" charset="-122"/>
                <a:cs typeface="Plus Jakarta Sans Medium" pitchFamily="34" charset="-120"/>
              </a:rPr>
              <a:t>WHERE IT APPEARS IN THE MODEL</a:t>
            </a:r>
            <a:endParaRPr lang="en-US" sz="525" dirty="0">
              <a:solidFill>
                <a:schemeClr val="accent4"/>
              </a:solidFill>
            </a:endParaRPr>
          </a:p>
        </p:txBody>
      </p:sp>
      <p:sp>
        <p:nvSpPr>
          <p:cNvPr id="10" name="Shape 8"/>
          <p:cNvSpPr/>
          <p:nvPr/>
        </p:nvSpPr>
        <p:spPr>
          <a:xfrm>
            <a:off x="329184" y="1438517"/>
            <a:ext cx="8366760" cy="534924"/>
          </a:xfrm>
          <a:prstGeom prst="rect">
            <a:avLst/>
          </a:prstGeom>
          <a:solidFill>
            <a:schemeClr val="bg2">
              <a:lumMod val="90000"/>
            </a:schemeClr>
          </a:solidFill>
          <a:ln w="3175">
            <a:noFill/>
            <a:prstDash val="solid"/>
          </a:ln>
        </p:spPr>
        <p:txBody>
          <a:bodyPr/>
          <a:lstStyle/>
          <a:p>
            <a:endParaRPr lang="en-AE" sz="1350"/>
          </a:p>
        </p:txBody>
      </p:sp>
      <p:sp>
        <p:nvSpPr>
          <p:cNvPr id="11" name="Text 9"/>
          <p:cNvSpPr txBox="1"/>
          <p:nvPr/>
        </p:nvSpPr>
        <p:spPr>
          <a:xfrm>
            <a:off x="507492" y="1493381"/>
            <a:ext cx="2331720" cy="493776"/>
          </a:xfrm>
          <a:prstGeom prst="rect">
            <a:avLst/>
          </a:prstGeom>
          <a:noFill/>
          <a:ln/>
        </p:spPr>
        <p:txBody>
          <a:bodyPr wrap="square" lIns="0" tIns="0" rIns="0" bIns="0" rtlCol="0" anchor="t"/>
          <a:lstStyle/>
          <a:p>
            <a:pPr>
              <a:lnSpc>
                <a:spcPct val="112000"/>
              </a:lnSpc>
            </a:pPr>
            <a:r>
              <a:rPr lang="en-US" sz="638" dirty="0">
                <a:latin typeface="Plus Jakarta Sans Medium" pitchFamily="34" charset="0"/>
                <a:ea typeface="Plus Jakarta Sans Medium" pitchFamily="34" charset="-122"/>
                <a:cs typeface="Plus Jakarta Sans Medium" pitchFamily="34" charset="-120"/>
              </a:rPr>
              <a:t>Human in / on / out of the loop as the oversight scale</a:t>
            </a:r>
            <a:endParaRPr lang="en-US" sz="638" dirty="0"/>
          </a:p>
        </p:txBody>
      </p:sp>
      <p:sp>
        <p:nvSpPr>
          <p:cNvPr id="12" name="Text 10"/>
          <p:cNvSpPr txBox="1"/>
          <p:nvPr/>
        </p:nvSpPr>
        <p:spPr>
          <a:xfrm>
            <a:off x="2990088" y="1493381"/>
            <a:ext cx="2976372" cy="493776"/>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Long-established control-systems and defence-autonomy vocabulary; now used across jurisdictions — EU AI Act Art. 14 (human oversight), IMDA Singapore agentic AI framework (Jan 2026), NIST, Central Bank of the UAE (Feb 2026)</a:t>
            </a:r>
            <a:endParaRPr lang="en-US" sz="600" dirty="0">
              <a:solidFill>
                <a:schemeClr val="tx1">
                  <a:lumMod val="75000"/>
                  <a:lumOff val="25000"/>
                </a:schemeClr>
              </a:solidFill>
            </a:endParaRPr>
          </a:p>
        </p:txBody>
      </p:sp>
      <p:sp>
        <p:nvSpPr>
          <p:cNvPr id="13" name="Text 11"/>
          <p:cNvSpPr txBox="1"/>
          <p:nvPr/>
        </p:nvSpPr>
        <p:spPr>
          <a:xfrm>
            <a:off x="6062472" y="1493381"/>
            <a:ext cx="2606040" cy="493776"/>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Question 2, unchanged — so the model needs no translation into any client’s risk language, in any sector</a:t>
            </a:r>
            <a:endParaRPr lang="en-US" sz="600" dirty="0">
              <a:solidFill>
                <a:schemeClr val="tx1">
                  <a:lumMod val="75000"/>
                  <a:lumOff val="25000"/>
                </a:schemeClr>
              </a:solidFill>
            </a:endParaRPr>
          </a:p>
        </p:txBody>
      </p:sp>
      <p:sp>
        <p:nvSpPr>
          <p:cNvPr id="14" name="Text 12"/>
          <p:cNvSpPr txBox="1"/>
          <p:nvPr/>
        </p:nvSpPr>
        <p:spPr>
          <a:xfrm>
            <a:off x="507492" y="2028305"/>
            <a:ext cx="2331720" cy="315468"/>
          </a:xfrm>
          <a:prstGeom prst="rect">
            <a:avLst/>
          </a:prstGeom>
          <a:noFill/>
          <a:ln/>
        </p:spPr>
        <p:txBody>
          <a:bodyPr wrap="square" lIns="0" tIns="0" rIns="0" bIns="0" rtlCol="0" anchor="t"/>
          <a:lstStyle/>
          <a:p>
            <a:pPr>
              <a:lnSpc>
                <a:spcPct val="112000"/>
              </a:lnSpc>
            </a:pPr>
            <a:r>
              <a:rPr lang="en-US" sz="638" dirty="0">
                <a:latin typeface="Plus Jakarta Sans Medium" pitchFamily="34" charset="0"/>
                <a:ea typeface="Plus Jakarta Sans Medium" pitchFamily="34" charset="-122"/>
                <a:cs typeface="Plus Jakarta Sans Medium" pitchFamily="34" charset="-120"/>
              </a:rPr>
              <a:t>Separate what an agent does from how much authority it holds — two axes, never one ladder</a:t>
            </a:r>
            <a:endParaRPr lang="en-US" sz="638" dirty="0"/>
          </a:p>
        </p:txBody>
      </p:sp>
      <p:sp>
        <p:nvSpPr>
          <p:cNvPr id="15" name="Text 13"/>
          <p:cNvSpPr txBox="1"/>
          <p:nvPr/>
        </p:nvSpPr>
        <p:spPr>
          <a:xfrm>
            <a:off x="2990088" y="2028305"/>
            <a:ext cx="2976372"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Parasuraman, Sheridan &amp; Wickens, IEEE Trans. SMC-A 30(3), May 2000</a:t>
            </a:r>
            <a:endParaRPr lang="en-US" sz="600" dirty="0">
              <a:solidFill>
                <a:schemeClr val="tx1">
                  <a:lumMod val="75000"/>
                  <a:lumOff val="25000"/>
                </a:schemeClr>
              </a:solidFill>
            </a:endParaRPr>
          </a:p>
        </p:txBody>
      </p:sp>
      <p:sp>
        <p:nvSpPr>
          <p:cNvPr id="16" name="Text 14"/>
          <p:cNvSpPr txBox="1"/>
          <p:nvPr/>
        </p:nvSpPr>
        <p:spPr>
          <a:xfrm>
            <a:off x="6062472" y="2028305"/>
            <a:ext cx="2606040"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The whole structure. Their four-stage model is the ancestor of Question 1</a:t>
            </a:r>
            <a:endParaRPr lang="en-US" sz="600" dirty="0">
              <a:solidFill>
                <a:schemeClr val="tx1">
                  <a:lumMod val="75000"/>
                  <a:lumOff val="25000"/>
                </a:schemeClr>
              </a:solidFill>
            </a:endParaRPr>
          </a:p>
        </p:txBody>
      </p:sp>
      <p:sp>
        <p:nvSpPr>
          <p:cNvPr id="17" name="Shape 15"/>
          <p:cNvSpPr/>
          <p:nvPr/>
        </p:nvSpPr>
        <p:spPr>
          <a:xfrm>
            <a:off x="329184" y="2330057"/>
            <a:ext cx="8366760" cy="356616"/>
          </a:xfrm>
          <a:prstGeom prst="rect">
            <a:avLst/>
          </a:prstGeom>
          <a:solidFill>
            <a:schemeClr val="bg2">
              <a:lumMod val="90000"/>
            </a:schemeClr>
          </a:solidFill>
          <a:ln w="3175">
            <a:noFill/>
            <a:prstDash val="solid"/>
          </a:ln>
        </p:spPr>
        <p:txBody>
          <a:bodyPr/>
          <a:lstStyle/>
          <a:p>
            <a:endParaRPr lang="en-AE" sz="1350"/>
          </a:p>
        </p:txBody>
      </p:sp>
      <p:sp>
        <p:nvSpPr>
          <p:cNvPr id="18" name="Text 16"/>
          <p:cNvSpPr txBox="1"/>
          <p:nvPr/>
        </p:nvSpPr>
        <p:spPr>
          <a:xfrm>
            <a:off x="507492" y="2384921"/>
            <a:ext cx="2331720" cy="315468"/>
          </a:xfrm>
          <a:prstGeom prst="rect">
            <a:avLst/>
          </a:prstGeom>
          <a:noFill/>
          <a:ln/>
        </p:spPr>
        <p:txBody>
          <a:bodyPr wrap="square" lIns="0" tIns="0" rIns="0" bIns="0" rtlCol="0" anchor="t"/>
          <a:lstStyle/>
          <a:p>
            <a:pPr>
              <a:lnSpc>
                <a:spcPct val="112000"/>
              </a:lnSpc>
            </a:pPr>
            <a:r>
              <a:rPr lang="en-US" sz="638" dirty="0">
                <a:latin typeface="Plus Jakarta Sans Medium" pitchFamily="34" charset="0"/>
                <a:ea typeface="Plus Jakarta Sans Medium" pitchFamily="34" charset="-122"/>
                <a:cs typeface="Plus Jakarta Sans Medium" pitchFamily="34" charset="-120"/>
              </a:rPr>
              <a:t>Irreversible actions as an approval trigger; ease of reversal as a named risk factor</a:t>
            </a:r>
            <a:endParaRPr lang="en-US" sz="638" dirty="0"/>
          </a:p>
        </p:txBody>
      </p:sp>
      <p:sp>
        <p:nvSpPr>
          <p:cNvPr id="19" name="Text 17"/>
          <p:cNvSpPr txBox="1"/>
          <p:nvPr/>
        </p:nvSpPr>
        <p:spPr>
          <a:xfrm>
            <a:off x="2990088" y="2384921"/>
            <a:ext cx="2976372"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IMDA Singapore, Model AI Governance Framework for Agentic AI v1.0, 22 Jan 2026</a:t>
            </a:r>
            <a:endParaRPr lang="en-US" sz="600" dirty="0">
              <a:solidFill>
                <a:schemeClr val="tx1">
                  <a:lumMod val="75000"/>
                  <a:lumOff val="25000"/>
                </a:schemeClr>
              </a:solidFill>
            </a:endParaRPr>
          </a:p>
        </p:txBody>
      </p:sp>
      <p:sp>
        <p:nvSpPr>
          <p:cNvPr id="20" name="Text 18"/>
          <p:cNvSpPr txBox="1"/>
          <p:nvPr/>
        </p:nvSpPr>
        <p:spPr>
          <a:xfrm>
            <a:off x="6062472" y="2384921"/>
            <a:ext cx="2606040"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Question 2 — the reversibility scale R1–R4</a:t>
            </a:r>
            <a:endParaRPr lang="en-US" sz="600" dirty="0">
              <a:solidFill>
                <a:schemeClr val="tx1">
                  <a:lumMod val="75000"/>
                  <a:lumOff val="25000"/>
                </a:schemeClr>
              </a:solidFill>
            </a:endParaRPr>
          </a:p>
        </p:txBody>
      </p:sp>
      <p:sp>
        <p:nvSpPr>
          <p:cNvPr id="21" name="Text 19"/>
          <p:cNvSpPr txBox="1"/>
          <p:nvPr/>
        </p:nvSpPr>
        <p:spPr>
          <a:xfrm>
            <a:off x="507492" y="2741537"/>
            <a:ext cx="2331720" cy="315468"/>
          </a:xfrm>
          <a:prstGeom prst="rect">
            <a:avLst/>
          </a:prstGeom>
          <a:noFill/>
          <a:ln/>
        </p:spPr>
        <p:txBody>
          <a:bodyPr wrap="square" lIns="0" tIns="0" rIns="0" bIns="0" rtlCol="0" anchor="t"/>
          <a:lstStyle/>
          <a:p>
            <a:pPr>
              <a:lnSpc>
                <a:spcPct val="112000"/>
              </a:lnSpc>
            </a:pPr>
            <a:r>
              <a:rPr lang="en-US" sz="638" dirty="0">
                <a:latin typeface="Plus Jakarta Sans Medium" pitchFamily="34" charset="0"/>
                <a:ea typeface="Plus Jakarta Sans Medium" pitchFamily="34" charset="-122"/>
                <a:cs typeface="Plus Jakarta Sans Medium" pitchFamily="34" charset="-120"/>
              </a:rPr>
              <a:t>Tools rated by read/write access, reversibility, permissions and financial impact</a:t>
            </a:r>
            <a:endParaRPr lang="en-US" sz="638" dirty="0"/>
          </a:p>
        </p:txBody>
      </p:sp>
      <p:sp>
        <p:nvSpPr>
          <p:cNvPr id="22" name="Text 20"/>
          <p:cNvSpPr txBox="1"/>
          <p:nvPr/>
        </p:nvSpPr>
        <p:spPr>
          <a:xfrm>
            <a:off x="2990088" y="2741537"/>
            <a:ext cx="2976372"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OpenAI, A Practical Guide to Building Agents, 2025</a:t>
            </a:r>
            <a:endParaRPr lang="en-US" sz="600" dirty="0">
              <a:solidFill>
                <a:schemeClr val="tx1">
                  <a:lumMod val="75000"/>
                  <a:lumOff val="25000"/>
                </a:schemeClr>
              </a:solidFill>
            </a:endParaRPr>
          </a:p>
        </p:txBody>
      </p:sp>
      <p:sp>
        <p:nvSpPr>
          <p:cNvPr id="23" name="Text 21"/>
          <p:cNvSpPr txBox="1"/>
          <p:nvPr/>
        </p:nvSpPr>
        <p:spPr>
          <a:xfrm>
            <a:off x="6062472" y="2741537"/>
            <a:ext cx="2606040"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Control A8 — authority attaches to the tool, not the agent</a:t>
            </a:r>
            <a:endParaRPr lang="en-US" sz="600" dirty="0">
              <a:solidFill>
                <a:schemeClr val="tx1">
                  <a:lumMod val="75000"/>
                  <a:lumOff val="25000"/>
                </a:schemeClr>
              </a:solidFill>
            </a:endParaRPr>
          </a:p>
        </p:txBody>
      </p:sp>
      <p:sp>
        <p:nvSpPr>
          <p:cNvPr id="24" name="Shape 22"/>
          <p:cNvSpPr/>
          <p:nvPr/>
        </p:nvSpPr>
        <p:spPr>
          <a:xfrm>
            <a:off x="329184" y="3043289"/>
            <a:ext cx="8366760" cy="356616"/>
          </a:xfrm>
          <a:prstGeom prst="rect">
            <a:avLst/>
          </a:prstGeom>
          <a:solidFill>
            <a:schemeClr val="bg2">
              <a:lumMod val="90000"/>
            </a:schemeClr>
          </a:solidFill>
          <a:ln w="3175">
            <a:noFill/>
            <a:prstDash val="solid"/>
          </a:ln>
        </p:spPr>
        <p:txBody>
          <a:bodyPr/>
          <a:lstStyle/>
          <a:p>
            <a:endParaRPr lang="en-AE" sz="1350"/>
          </a:p>
        </p:txBody>
      </p:sp>
      <p:sp>
        <p:nvSpPr>
          <p:cNvPr id="25" name="Text 23"/>
          <p:cNvSpPr txBox="1"/>
          <p:nvPr/>
        </p:nvSpPr>
        <p:spPr>
          <a:xfrm>
            <a:off x="507492" y="3098153"/>
            <a:ext cx="2331720" cy="315468"/>
          </a:xfrm>
          <a:prstGeom prst="rect">
            <a:avLst/>
          </a:prstGeom>
          <a:noFill/>
          <a:ln/>
        </p:spPr>
        <p:txBody>
          <a:bodyPr wrap="square" lIns="0" tIns="0" rIns="0" bIns="0" rtlCol="0" anchor="t"/>
          <a:lstStyle/>
          <a:p>
            <a:pPr>
              <a:lnSpc>
                <a:spcPct val="112000"/>
              </a:lnSpc>
            </a:pPr>
            <a:r>
              <a:rPr lang="en-US" sz="638" dirty="0">
                <a:latin typeface="Plus Jakarta Sans Medium" pitchFamily="34" charset="0"/>
                <a:ea typeface="Plus Jakarta Sans Medium" pitchFamily="34" charset="-122"/>
                <a:cs typeface="Plus Jakarta Sans Medium" pitchFamily="34" charset="-120"/>
              </a:rPr>
              <a:t>Reversibility and “ability to affect multiple persons” as risk-classification criteria</a:t>
            </a:r>
            <a:endParaRPr lang="en-US" sz="638" dirty="0"/>
          </a:p>
        </p:txBody>
      </p:sp>
      <p:sp>
        <p:nvSpPr>
          <p:cNvPr id="26" name="Text 24"/>
          <p:cNvSpPr txBox="1"/>
          <p:nvPr/>
        </p:nvSpPr>
        <p:spPr>
          <a:xfrm>
            <a:off x="2990088" y="3098153"/>
            <a:ext cx="2976372"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EU AI Act, Article 7(2), subparagraphs (i) and (f)</a:t>
            </a:r>
            <a:endParaRPr lang="en-US" sz="600" dirty="0">
              <a:solidFill>
                <a:schemeClr val="tx1">
                  <a:lumMod val="75000"/>
                  <a:lumOff val="25000"/>
                </a:schemeClr>
              </a:solidFill>
            </a:endParaRPr>
          </a:p>
        </p:txBody>
      </p:sp>
      <p:sp>
        <p:nvSpPr>
          <p:cNvPr id="27" name="Text 25"/>
          <p:cNvSpPr txBox="1"/>
          <p:nvPr/>
        </p:nvSpPr>
        <p:spPr>
          <a:xfrm>
            <a:off x="6062472" y="3098153"/>
            <a:ext cx="2606040"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Questions 2 and 3 — the two halves of exposure</a:t>
            </a:r>
            <a:endParaRPr lang="en-US" sz="600" dirty="0">
              <a:solidFill>
                <a:schemeClr val="tx1">
                  <a:lumMod val="75000"/>
                  <a:lumOff val="25000"/>
                </a:schemeClr>
              </a:solidFill>
            </a:endParaRPr>
          </a:p>
        </p:txBody>
      </p:sp>
      <p:sp>
        <p:nvSpPr>
          <p:cNvPr id="28" name="Text 26"/>
          <p:cNvSpPr txBox="1"/>
          <p:nvPr/>
        </p:nvSpPr>
        <p:spPr>
          <a:xfrm>
            <a:off x="507492" y="3454769"/>
            <a:ext cx="2331720" cy="315468"/>
          </a:xfrm>
          <a:prstGeom prst="rect">
            <a:avLst/>
          </a:prstGeom>
          <a:noFill/>
          <a:ln/>
        </p:spPr>
        <p:txBody>
          <a:bodyPr wrap="square" lIns="0" tIns="0" rIns="0" bIns="0" rtlCol="0" anchor="t"/>
          <a:lstStyle/>
          <a:p>
            <a:pPr>
              <a:lnSpc>
                <a:spcPct val="112000"/>
              </a:lnSpc>
            </a:pPr>
            <a:r>
              <a:rPr lang="en-US" sz="638" dirty="0">
                <a:latin typeface="Plus Jakarta Sans Medium" pitchFamily="34" charset="0"/>
                <a:ea typeface="Plus Jakarta Sans Medium" pitchFamily="34" charset="-122"/>
                <a:cs typeface="Plus Jakarta Sans Medium" pitchFamily="34" charset="-120"/>
              </a:rPr>
              <a:t>Human oversight must be materially possible, not merely declared</a:t>
            </a:r>
            <a:endParaRPr lang="en-US" sz="638" dirty="0"/>
          </a:p>
        </p:txBody>
      </p:sp>
      <p:sp>
        <p:nvSpPr>
          <p:cNvPr id="29" name="Text 27"/>
          <p:cNvSpPr txBox="1"/>
          <p:nvPr/>
        </p:nvSpPr>
        <p:spPr>
          <a:xfrm>
            <a:off x="2990088" y="3454769"/>
            <a:ext cx="2976372"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EU AI Act, Article 14</a:t>
            </a:r>
            <a:endParaRPr lang="en-US" sz="600" dirty="0">
              <a:solidFill>
                <a:schemeClr val="tx1">
                  <a:lumMod val="75000"/>
                  <a:lumOff val="25000"/>
                </a:schemeClr>
              </a:solidFill>
            </a:endParaRPr>
          </a:p>
        </p:txBody>
      </p:sp>
      <p:sp>
        <p:nvSpPr>
          <p:cNvPr id="30" name="Text 28"/>
          <p:cNvSpPr txBox="1"/>
          <p:nvPr/>
        </p:nvSpPr>
        <p:spPr>
          <a:xfrm>
            <a:off x="6062472" y="3454769"/>
            <a:ext cx="2606040"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Controls L1.5 and L2.2 — approval capacity and intervention window are measured, not assumed</a:t>
            </a:r>
            <a:endParaRPr lang="en-US" sz="600" dirty="0">
              <a:solidFill>
                <a:schemeClr val="tx1">
                  <a:lumMod val="75000"/>
                  <a:lumOff val="25000"/>
                </a:schemeClr>
              </a:solidFill>
            </a:endParaRPr>
          </a:p>
        </p:txBody>
      </p:sp>
      <p:sp>
        <p:nvSpPr>
          <p:cNvPr id="31" name="Shape 29"/>
          <p:cNvSpPr/>
          <p:nvPr/>
        </p:nvSpPr>
        <p:spPr>
          <a:xfrm>
            <a:off x="329184" y="3756521"/>
            <a:ext cx="8366760" cy="356616"/>
          </a:xfrm>
          <a:prstGeom prst="rect">
            <a:avLst/>
          </a:prstGeom>
          <a:solidFill>
            <a:schemeClr val="bg2">
              <a:lumMod val="90000"/>
            </a:schemeClr>
          </a:solidFill>
          <a:ln w="3175">
            <a:noFill/>
            <a:prstDash val="solid"/>
          </a:ln>
        </p:spPr>
        <p:txBody>
          <a:bodyPr/>
          <a:lstStyle/>
          <a:p>
            <a:endParaRPr lang="en-AE" sz="1350"/>
          </a:p>
        </p:txBody>
      </p:sp>
      <p:sp>
        <p:nvSpPr>
          <p:cNvPr id="32" name="Text 30"/>
          <p:cNvSpPr txBox="1"/>
          <p:nvPr/>
        </p:nvSpPr>
        <p:spPr>
          <a:xfrm>
            <a:off x="507492" y="3811385"/>
            <a:ext cx="2331720" cy="315468"/>
          </a:xfrm>
          <a:prstGeom prst="rect">
            <a:avLst/>
          </a:prstGeom>
          <a:noFill/>
          <a:ln/>
        </p:spPr>
        <p:txBody>
          <a:bodyPr wrap="square" lIns="0" tIns="0" rIns="0" bIns="0" rtlCol="0" anchor="t"/>
          <a:lstStyle/>
          <a:p>
            <a:pPr>
              <a:lnSpc>
                <a:spcPct val="112000"/>
              </a:lnSpc>
            </a:pPr>
            <a:r>
              <a:rPr lang="en-US" sz="638" dirty="0">
                <a:latin typeface="Plus Jakarta Sans Medium" pitchFamily="34" charset="0"/>
                <a:ea typeface="Plus Jakarta Sans Medium" pitchFamily="34" charset="-122"/>
                <a:cs typeface="Plus Jakarta Sans Medium" pitchFamily="34" charset="-120"/>
              </a:rPr>
              <a:t>Full autonomy reserved for low-risk, non-material processes</a:t>
            </a:r>
            <a:endParaRPr lang="en-US" sz="638" dirty="0"/>
          </a:p>
        </p:txBody>
      </p:sp>
      <p:sp>
        <p:nvSpPr>
          <p:cNvPr id="33" name="Text 31"/>
          <p:cNvSpPr txBox="1"/>
          <p:nvPr/>
        </p:nvSpPr>
        <p:spPr>
          <a:xfrm>
            <a:off x="2990088" y="3811385"/>
            <a:ext cx="2976372"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Central Bank of the UAE, Feb 2026 — cited as one regulator among several taking this position</a:t>
            </a:r>
            <a:endParaRPr lang="en-US" sz="600" dirty="0">
              <a:solidFill>
                <a:schemeClr val="tx1">
                  <a:lumMod val="75000"/>
                  <a:lumOff val="25000"/>
                </a:schemeClr>
              </a:solidFill>
            </a:endParaRPr>
          </a:p>
        </p:txBody>
      </p:sp>
      <p:sp>
        <p:nvSpPr>
          <p:cNvPr id="34" name="Text 32"/>
          <p:cNvSpPr txBox="1"/>
          <p:nvPr/>
        </p:nvSpPr>
        <p:spPr>
          <a:xfrm>
            <a:off x="6062472" y="3811385"/>
            <a:ext cx="2606040" cy="315468"/>
          </a:xfrm>
          <a:prstGeom prst="rect">
            <a:avLst/>
          </a:prstGeom>
          <a:noFill/>
          <a:ln/>
        </p:spPr>
        <p:txBody>
          <a:bodyPr wrap="square" lIns="0" tIns="0" rIns="0" bIns="0" rtlCol="0" anchor="t"/>
          <a:lstStyle/>
          <a:p>
            <a:pPr>
              <a:lnSpc>
                <a:spcPct val="112000"/>
              </a:lnSpc>
            </a:pPr>
            <a:r>
              <a:rPr lang="en-US" sz="600" dirty="0">
                <a:solidFill>
                  <a:schemeClr val="tx1">
                    <a:lumMod val="75000"/>
                    <a:lumOff val="25000"/>
                  </a:schemeClr>
                </a:solidFill>
                <a:latin typeface="Plus Jakarta Sans ExtraLight" pitchFamily="34" charset="0"/>
                <a:ea typeface="Plus Jakarta Sans ExtraLight" pitchFamily="34" charset="-122"/>
                <a:cs typeface="Plus Jakarta Sans ExtraLight" pitchFamily="34" charset="-120"/>
              </a:rPr>
              <a:t>The ceiling rule — autonomy is a concession justified by consequence, not a maturity summit</a:t>
            </a:r>
            <a:endParaRPr lang="en-US" sz="600" dirty="0">
              <a:solidFill>
                <a:schemeClr val="tx1">
                  <a:lumMod val="75000"/>
                  <a:lumOff val="25000"/>
                </a:schemeClr>
              </a:solidFill>
            </a:endParaRPr>
          </a:p>
        </p:txBody>
      </p:sp>
      <p:sp>
        <p:nvSpPr>
          <p:cNvPr id="35" name="Text 33"/>
          <p:cNvSpPr txBox="1"/>
          <p:nvPr/>
        </p:nvSpPr>
        <p:spPr>
          <a:xfrm>
            <a:off x="425196" y="4430268"/>
            <a:ext cx="8298180" cy="274320"/>
          </a:xfrm>
          <a:prstGeom prst="rect">
            <a:avLst/>
          </a:prstGeom>
          <a:noFill/>
          <a:ln/>
        </p:spPr>
        <p:txBody>
          <a:bodyPr wrap="square" lIns="0" tIns="0" rIns="0" bIns="0" rtlCol="0" anchor="ctr"/>
          <a:lstStyle/>
          <a:p>
            <a:pPr algn="ctr"/>
            <a:r>
              <a:rPr lang="en-US" sz="900" dirty="0">
                <a:solidFill>
                  <a:schemeClr val="accent4"/>
                </a:solidFill>
                <a:latin typeface="Plus Jakarta Sans ExtraBold" pitchFamily="34" charset="0"/>
                <a:ea typeface="Plus Jakarta Sans ExtraBold" pitchFamily="34" charset="-122"/>
                <a:cs typeface="Plus Jakarta Sans ExtraBold" pitchFamily="34" charset="-120"/>
              </a:rPr>
              <a:t>The oversight scale is nobody’s proprietary asset.  </a:t>
            </a:r>
            <a:r>
              <a:rPr lang="en-US" sz="900" dirty="0">
                <a:solidFill>
                  <a:srgbClr val="8A93A0"/>
                </a:solidFill>
                <a:latin typeface="Plus Jakarta Sans ExtraLight" pitchFamily="34" charset="0"/>
                <a:ea typeface="Plus Jakarta Sans ExtraLight" pitchFamily="34" charset="-122"/>
                <a:cs typeface="Plus Jakarta Sans ExtraLight" pitchFamily="34" charset="-120"/>
              </a:rPr>
              <a:t>It is the vocabulary regulators already use — which is exactly why we did not invent our own.</a:t>
            </a:r>
            <a:endParaRPr lang="en-US" sz="900" dirty="0"/>
          </a:p>
        </p:txBody>
      </p:sp>
      <p:sp>
        <p:nvSpPr>
          <p:cNvPr id="36" name="Title 35">
            <a:extLst>
              <a:ext uri="{FF2B5EF4-FFF2-40B4-BE49-F238E27FC236}">
                <a16:creationId xmlns:a16="http://schemas.microsoft.com/office/drawing/2014/main" id="{ADB8B0C7-68F7-8848-5AF3-3E59F7513BAE}"/>
              </a:ext>
            </a:extLst>
          </p:cNvPr>
          <p:cNvSpPr>
            <a:spLocks noGrp="1"/>
          </p:cNvSpPr>
          <p:nvPr>
            <p:ph type="title"/>
          </p:nvPr>
        </p:nvSpPr>
        <p:spPr>
          <a:xfrm>
            <a:off x="457200" y="531813"/>
            <a:ext cx="7315200" cy="333425"/>
          </a:xfrm>
        </p:spPr>
        <p:txBody>
          <a:bodyPr/>
          <a:lstStyle/>
          <a:p>
            <a:r>
              <a:rPr lang="en-AE" dirty="0"/>
              <a:t>Sources</a:t>
            </a:r>
          </a:p>
        </p:txBody>
      </p:sp>
      <p:sp>
        <p:nvSpPr>
          <p:cNvPr id="37" name="Text Placeholder 36">
            <a:extLst>
              <a:ext uri="{FF2B5EF4-FFF2-40B4-BE49-F238E27FC236}">
                <a16:creationId xmlns:a16="http://schemas.microsoft.com/office/drawing/2014/main" id="{00452152-FAB6-D3BD-F249-22A24DBBC412}"/>
              </a:ext>
            </a:extLst>
          </p:cNvPr>
          <p:cNvSpPr>
            <a:spLocks noGrp="1"/>
          </p:cNvSpPr>
          <p:nvPr>
            <p:ph type="body" sz="quarter" idx="13"/>
          </p:nvPr>
        </p:nvSpPr>
        <p:spPr>
          <a:xfrm>
            <a:off x="457200" y="307975"/>
            <a:ext cx="2378075" cy="184150"/>
          </a:xfrm>
        </p:spPr>
        <p:txBody>
          <a:bodyPr/>
          <a:lstStyle/>
          <a:p>
            <a:r>
              <a:rPr lang="en-AE" dirty="0"/>
              <a:t>APPENDIX C</a:t>
            </a:r>
          </a:p>
        </p:txBody>
      </p:sp>
      <p:sp>
        <p:nvSpPr>
          <p:cNvPr id="38" name="Text Placeholder 37">
            <a:extLst>
              <a:ext uri="{FF2B5EF4-FFF2-40B4-BE49-F238E27FC236}">
                <a16:creationId xmlns:a16="http://schemas.microsoft.com/office/drawing/2014/main" id="{2315F505-8555-F91A-A28B-7A355AFCF467}"/>
              </a:ext>
            </a:extLst>
          </p:cNvPr>
          <p:cNvSpPr>
            <a:spLocks noGrp="1"/>
          </p:cNvSpPr>
          <p:nvPr>
            <p:ph type="body" sz="quarter" idx="14"/>
          </p:nvPr>
        </p:nvSpPr>
        <p:spPr>
          <a:xfrm>
            <a:off x="457200" y="900113"/>
            <a:ext cx="7315200" cy="307777"/>
          </a:xfrm>
        </p:spPr>
        <p:txBody>
          <a:bodyPr/>
          <a:lstStyle/>
          <a:p>
            <a:r>
              <a:rPr lang="en-US" dirty="0"/>
              <a:t>Assembled from published practice, across sectors and jurisdictions. Every element is cited rather than claimed.</a:t>
            </a:r>
          </a:p>
        </p:txBody>
      </p:sp>
    </p:spTree>
  </p:cSld>
  <p:clrMapOvr>
    <a:masterClrMapping/>
  </p:clrMapOvr>
</p:sld>
</file>

<file path=ppt/theme/theme1.xml><?xml version="1.0" encoding="utf-8"?>
<a:theme xmlns:a="http://schemas.openxmlformats.org/drawingml/2006/main" name="Office Theme">
  <a:themeElements>
    <a:clrScheme name="Cognirise Pulse">
      <a:dk1>
        <a:srgbClr val="000000"/>
      </a:dk1>
      <a:lt1>
        <a:srgbClr val="FFFFFF"/>
      </a:lt1>
      <a:dk2>
        <a:srgbClr val="1F497D"/>
      </a:dk2>
      <a:lt2>
        <a:srgbClr val="F6F4F1"/>
      </a:lt2>
      <a:accent1>
        <a:srgbClr val="4A75F5"/>
      </a:accent1>
      <a:accent2>
        <a:srgbClr val="7458DF"/>
      </a:accent2>
      <a:accent3>
        <a:srgbClr val="A858BD"/>
      </a:accent3>
      <a:accent4>
        <a:srgbClr val="DA4F9D"/>
      </a:accent4>
      <a:accent5>
        <a:srgbClr val="E2607F"/>
      </a:accent5>
      <a:accent6>
        <a:srgbClr val="FB785E"/>
      </a:accent6>
      <a:hlink>
        <a:srgbClr val="CAD3E1"/>
      </a:hlink>
      <a:folHlink>
        <a:srgbClr val="10285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a:solidFill>
            <a:schemeClr val="accent4"/>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1686</TotalTime>
  <Words>2277</Words>
  <Application>Microsoft Macintosh PowerPoint</Application>
  <PresentationFormat>On-screen Show (16:9)</PresentationFormat>
  <Paragraphs>346</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Comfortaa Medium</vt:lpstr>
      <vt:lpstr>Inter</vt:lpstr>
      <vt:lpstr>Plus Jakarta Sans ExtraBold</vt:lpstr>
      <vt:lpstr>Plus Jakarta Sans ExtraLight</vt:lpstr>
      <vt:lpstr>Plus Jakarta Sans Medium</vt:lpstr>
      <vt:lpstr>Office Theme</vt:lpstr>
      <vt:lpstr>PowerPoint Presentation</vt:lpstr>
      <vt:lpstr>A delegation of authority for machines. </vt:lpstr>
      <vt:lpstr>Answered by the process owner</vt:lpstr>
      <vt:lpstr>Widely reported agent failures: the same error</vt:lpstr>
      <vt:lpstr>An industry example</vt:lpstr>
      <vt:lpstr>Examples across industries</vt:lpstr>
      <vt:lpstr>Sources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Mounir Ariss</cp:lastModifiedBy>
  <cp:revision>9</cp:revision>
  <dcterms:created xsi:type="dcterms:W3CDTF">2013-01-27T09:14:16Z</dcterms:created>
  <dcterms:modified xsi:type="dcterms:W3CDTF">2026-09-08T20:25:19Z</dcterms:modified>
  <cp:category/>
</cp:coreProperties>
</file>