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 snapToObjects="1">
      <p:cViewPr varScale="1">
        <p:scale>
          <a:sx n="153" d="100"/>
          <a:sy n="153" d="100"/>
        </p:scale>
        <p:origin x="8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82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Mounir Ariss is Co-founder and CEO of Cognirise, an AI-native advisory and engineering firm. He has 36 years of experience in data, AI and digital transformation across the Middle East, Africa and Turkey.</a:t>
            </a:r>
          </a:p>
          <a:p>
            <a:endParaRPr/>
          </a:p>
          <a:p>
            <a:r>
              <a:t>He founded the Middle East office of Peppers &amp; Rogers Group and later led its EEMEA region. He was a Partner at Monitor Deloitte, built Accenture's Data &amp; AI practice in the Middle East, and led Strategy &amp; Consulting across MENA at Publicis Sapient.</a:t>
            </a:r>
          </a:p>
          <a:p>
            <a:endParaRPr/>
          </a:p>
          <a:p>
            <a:r>
              <a:t>He has worked with government entities, banks, telecoms, healthcare and retail groups across the UAE, Saudi Arabia and Turkey, including ADCB, Etisalat, Al Rajhi Bank, SNB, PIF, STC and Sabanci Holding.</a:t>
            </a:r>
          </a:p>
          <a:p>
            <a:endParaRPr/>
          </a:p>
          <a:p>
            <a:r>
              <a:t>His current focus is the agentic enterprise: moving organisations from AI pilots to AI agents that run inside core operations, with governance that holds up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ortrait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0"/>
            <a:ext cx="2971800" cy="5143500"/>
          </a:xfrm>
          <a:prstGeom prst="rect">
            <a:avLst/>
          </a:prstGeom>
        </p:spPr>
      </p:pic>
      <p:pic>
        <p:nvPicPr>
          <p:cNvPr id="4" name="Picture 3" descr="logo-on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946"/>
            <a:ext cx="914400" cy="609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478231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80" b="1" spc="120">
                <a:solidFill>
                  <a:srgbClr val="102957"/>
                </a:solidFill>
                <a:latin typeface="Inter"/>
              </a:rPr>
              <a:t>SPEAKER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39496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84"/>
              </a:lnSpc>
            </a:pPr>
            <a:r>
              <a:rPr sz="3460" b="0">
                <a:solidFill>
                  <a:srgbClr val="102957"/>
                </a:solidFill>
                <a:latin typeface="Comfortaa Medium"/>
              </a:rPr>
              <a:t>Mounir </a:t>
            </a:r>
            <a:r>
              <a:rPr sz="3460" b="0">
                <a:solidFill>
                  <a:srgbClr val="DB509E"/>
                </a:solidFill>
                <a:latin typeface="Comfortaa Medium"/>
              </a:rPr>
              <a:t>Ariss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394960" cy="1906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 b="1" dirty="0">
                <a:solidFill>
                  <a:srgbClr val="60708D"/>
                </a:solidFill>
                <a:latin typeface="Inter"/>
              </a:rPr>
              <a:t>CEO &amp; </a:t>
            </a:r>
            <a:r>
              <a:rPr sz="1200" b="1" dirty="0">
                <a:solidFill>
                  <a:srgbClr val="60708D"/>
                </a:solidFill>
                <a:latin typeface="Inter"/>
              </a:rPr>
              <a:t>Co-founder, Cognirise  ·  Dubai</a:t>
            </a:r>
          </a:p>
        </p:txBody>
      </p:sp>
      <p:pic>
        <p:nvPicPr>
          <p:cNvPr id="8" name="Picture 7" descr="gradient-ru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73936"/>
            <a:ext cx="1463040" cy="27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95681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102957"/>
                </a:solidFill>
                <a:latin typeface="Inter"/>
              </a:rPr>
              <a:t>Mounir Ariss is Co-founder and CEO of Cognirise, an AI-native advisory and engineering firm. He has 36 years of experience in data, AI and digital transformation across the Middle East, Africa and Turkey.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0545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102957"/>
                </a:solidFill>
                <a:latin typeface="Inter"/>
              </a:rPr>
              <a:t>He founded the Middle East office of Peppers &amp; Rogers Group and later led its EEMEA region. He was a Partner at Monitor Deloitte, built Accenture's Data &amp; AI practice in the Middle East, and led Strategy &amp; Consulting across MENA at Publicis Sapient.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5394960" cy="450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 dirty="0">
                <a:solidFill>
                  <a:srgbClr val="102957"/>
                </a:solidFill>
                <a:latin typeface="Inter"/>
              </a:rPr>
              <a:t>He has worked with government entities, banks, telecoms, healthcare and retail groups across the UAE, Saudi Arabia and Turkey, including ADCB, Etisalat, Al Rajhi Bank, </a:t>
            </a:r>
            <a:r>
              <a:rPr lang="en-US" sz="900" b="0" dirty="0">
                <a:solidFill>
                  <a:srgbClr val="102957"/>
                </a:solidFill>
                <a:latin typeface="Inter"/>
              </a:rPr>
              <a:t>UAE Prime Minister’s Office, </a:t>
            </a:r>
            <a:r>
              <a:rPr sz="900" b="0" dirty="0">
                <a:solidFill>
                  <a:srgbClr val="102957"/>
                </a:solidFill>
                <a:latin typeface="Inter"/>
              </a:rPr>
              <a:t>S</a:t>
            </a:r>
            <a:r>
              <a:rPr lang="en-US" sz="900" b="0" dirty="0">
                <a:solidFill>
                  <a:srgbClr val="102957"/>
                </a:solidFill>
                <a:latin typeface="Inter"/>
              </a:rPr>
              <a:t>audi National Bank</a:t>
            </a:r>
            <a:r>
              <a:rPr sz="900" b="0" dirty="0">
                <a:solidFill>
                  <a:srgbClr val="102957"/>
                </a:solidFill>
                <a:latin typeface="Inter"/>
              </a:rPr>
              <a:t>, PIF, STC</a:t>
            </a:r>
            <a:r>
              <a:rPr lang="en-US" sz="900" dirty="0">
                <a:solidFill>
                  <a:srgbClr val="102957"/>
                </a:solidFill>
                <a:latin typeface="Inter"/>
              </a:rPr>
              <a:t>, Dogus Group, Yapi </a:t>
            </a:r>
            <a:r>
              <a:rPr lang="en-US" sz="900" dirty="0" err="1">
                <a:solidFill>
                  <a:srgbClr val="102957"/>
                </a:solidFill>
                <a:latin typeface="Inter"/>
              </a:rPr>
              <a:t>Kredi</a:t>
            </a:r>
            <a:r>
              <a:rPr lang="en-US" sz="900" dirty="0">
                <a:solidFill>
                  <a:srgbClr val="102957"/>
                </a:solidFill>
                <a:latin typeface="Inter"/>
              </a:rPr>
              <a:t> Bank,</a:t>
            </a:r>
            <a:r>
              <a:rPr sz="900" b="0" dirty="0">
                <a:solidFill>
                  <a:srgbClr val="102957"/>
                </a:solidFill>
                <a:latin typeface="Inter"/>
              </a:rPr>
              <a:t> and </a:t>
            </a:r>
            <a:r>
              <a:rPr sz="900" b="0" dirty="0" err="1">
                <a:solidFill>
                  <a:srgbClr val="102957"/>
                </a:solidFill>
                <a:latin typeface="Inter"/>
              </a:rPr>
              <a:t>Sabanci</a:t>
            </a:r>
            <a:r>
              <a:rPr sz="900" b="0" dirty="0">
                <a:solidFill>
                  <a:srgbClr val="102957"/>
                </a:solidFill>
                <a:latin typeface="Inter"/>
              </a:rPr>
              <a:t> Holding.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0273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102957"/>
                </a:solidFill>
                <a:latin typeface="Inter"/>
              </a:rPr>
              <a:t>His current focus is the agentic enterprise: moving organisations from AI pilots to AI agents that run inside core operations, with governance that holds up in production.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725168" cy="713232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725168" cy="201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206240"/>
            <a:ext cx="15422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700" b="0">
                <a:solidFill>
                  <a:srgbClr val="DB509E"/>
                </a:solidFill>
                <a:latin typeface="Comfortaa Medium"/>
              </a:rP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98848"/>
            <a:ext cx="15422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720" b="0">
                <a:solidFill>
                  <a:srgbClr val="60708D"/>
                </a:solidFill>
                <a:latin typeface="Inter"/>
              </a:rPr>
              <a:t>years in data, AI 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26864"/>
            <a:ext cx="15422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720" b="0">
                <a:solidFill>
                  <a:srgbClr val="60708D"/>
                </a:solidFill>
                <a:latin typeface="Inter"/>
              </a:rPr>
              <a:t>digital transformation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2096" y="4114800"/>
            <a:ext cx="1725168" cy="713232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92096" y="4114800"/>
            <a:ext cx="1725168" cy="201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01824" y="4206240"/>
            <a:ext cx="15422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700" dirty="0">
                <a:solidFill>
                  <a:srgbClr val="DB509E"/>
                </a:solidFill>
                <a:latin typeface="Comfortaa Medium"/>
              </a:rPr>
              <a:t>5</a:t>
            </a:r>
            <a:endParaRPr sz="1700" b="0" dirty="0">
              <a:solidFill>
                <a:srgbClr val="DB509E"/>
              </a:solidFill>
              <a:latin typeface="Comfortaa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01824" y="4498848"/>
            <a:ext cx="15422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720" b="0">
                <a:solidFill>
                  <a:srgbClr val="60708D"/>
                </a:solidFill>
                <a:latin typeface="Inter"/>
              </a:rPr>
              <a:t>consulting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1824" y="4626864"/>
            <a:ext cx="154228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720" b="0">
                <a:solidFill>
                  <a:srgbClr val="60708D"/>
                </a:solidFill>
                <a:latin typeface="Inter"/>
              </a:rPr>
              <a:t>built or 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26992" y="4114800"/>
            <a:ext cx="1725168" cy="713232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26992" y="4114800"/>
            <a:ext cx="1725168" cy="20116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6720" y="4206240"/>
            <a:ext cx="154228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700" dirty="0">
                <a:solidFill>
                  <a:srgbClr val="DB509E"/>
                </a:solidFill>
                <a:latin typeface="Comfortaa Medium"/>
              </a:rPr>
              <a:t>$100m+</a:t>
            </a:r>
            <a:endParaRPr sz="1700" b="0" dirty="0">
              <a:solidFill>
                <a:srgbClr val="DB509E"/>
              </a:solidFill>
              <a:latin typeface="Comfortaa Medium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36720" y="4498848"/>
            <a:ext cx="1542288" cy="118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lang="en-US" sz="720" b="0" dirty="0">
                <a:solidFill>
                  <a:srgbClr val="60708D"/>
                </a:solidFill>
                <a:latin typeface="Inter"/>
              </a:rPr>
              <a:t>Annual revenue</a:t>
            </a:r>
            <a:endParaRPr sz="720" b="0" dirty="0">
              <a:solidFill>
                <a:srgbClr val="60708D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36720" y="4626864"/>
            <a:ext cx="1542288" cy="118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lang="en-US" sz="720" dirty="0">
                <a:solidFill>
                  <a:srgbClr val="60708D"/>
                </a:solidFill>
                <a:latin typeface="Inter"/>
              </a:rPr>
              <a:t>managed</a:t>
            </a:r>
            <a:endParaRPr sz="720" b="0" dirty="0">
              <a:solidFill>
                <a:srgbClr val="60708D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946"/>
            <a:ext cx="914400" cy="609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478231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080" b="1" spc="120">
                <a:solidFill>
                  <a:srgbClr val="102957"/>
                </a:solidFill>
                <a:latin typeface="Inter"/>
              </a:rPr>
              <a:t>SPEAKER PROFILE /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2500" b="0">
                <a:solidFill>
                  <a:srgbClr val="102957"/>
                </a:solidFill>
                <a:latin typeface="Comfortaa Medium"/>
              </a:rPr>
              <a:t>A career in data,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4358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2500" b="0">
                <a:solidFill>
                  <a:srgbClr val="DB509E"/>
                </a:solidFill>
                <a:latin typeface="Comfortaa Medium"/>
              </a:rPr>
              <a:t>and transformation.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633472" cy="1389888"/>
          </a:xfrm>
          <a:prstGeom prst="rect">
            <a:avLst/>
          </a:prstGeom>
          <a:noFill/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6334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865376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50" b="1">
                <a:solidFill>
                  <a:srgbClr val="DB509E"/>
                </a:solidFill>
                <a:latin typeface="Inter"/>
              </a:rPr>
              <a:t>2026 –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39112"/>
            <a:ext cx="23042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Cognirise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04288"/>
            <a:ext cx="230428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00" b="1">
                <a:solidFill>
                  <a:srgbClr val="102957"/>
                </a:solidFill>
                <a:latin typeface="Inter"/>
              </a:rPr>
              <a:t>Co-founder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23744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60" b="0">
                <a:solidFill>
                  <a:srgbClr val="60708D"/>
                </a:solidFill>
                <a:latin typeface="Inter"/>
              </a:rPr>
              <a:t>AI-native advisory and engineering: agentic transformation, data &amp; AI foundations, legacy modernisation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5264" y="1737360"/>
            <a:ext cx="2633472" cy="1389888"/>
          </a:xfrm>
          <a:prstGeom prst="rect">
            <a:avLst/>
          </a:prstGeom>
          <a:noFill/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55264" y="1737360"/>
            <a:ext cx="26334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1865376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50" b="1">
                <a:solidFill>
                  <a:srgbClr val="DB509E"/>
                </a:solidFill>
                <a:latin typeface="Inter"/>
              </a:rPr>
              <a:t>2022 –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039112"/>
            <a:ext cx="23042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Publicis Sapient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304288"/>
            <a:ext cx="2304288" cy="14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850" b="1">
                <a:solidFill>
                  <a:srgbClr val="102957"/>
                </a:solidFill>
                <a:latin typeface="Inter"/>
              </a:rPr>
              <a:t>Senior MD, Strategy &amp; Consulting, MENA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523744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60" b="0">
                <a:solidFill>
                  <a:srgbClr val="60708D"/>
                </a:solidFill>
                <a:latin typeface="Inter"/>
              </a:rPr>
              <a:t>Built a business, data and technology strategy practice; led AI transformation in banking, telecoms and government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1737360"/>
            <a:ext cx="2633472" cy="1389888"/>
          </a:xfrm>
          <a:prstGeom prst="rect">
            <a:avLst/>
          </a:prstGeom>
          <a:noFill/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53328" y="1737360"/>
            <a:ext cx="26334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865376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50" b="1">
                <a:solidFill>
                  <a:srgbClr val="DB509E"/>
                </a:solidFill>
                <a:latin typeface="Inter"/>
              </a:rPr>
              <a:t>2018 –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039112"/>
            <a:ext cx="23042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Accenture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04288"/>
            <a:ext cx="230428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00" b="1">
                <a:solidFill>
                  <a:srgbClr val="102957"/>
                </a:solidFill>
                <a:latin typeface="Inter"/>
              </a:rPr>
              <a:t>MD, Applied Intelligence, Middle East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23744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60" b="0">
                <a:solidFill>
                  <a:srgbClr val="60708D"/>
                </a:solidFill>
                <a:latin typeface="Inter"/>
              </a:rPr>
              <a:t>Built the Data &amp; AI practice from inception to $100M+ annual revenue and a team of 60+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73552"/>
            <a:ext cx="2633472" cy="1389888"/>
          </a:xfrm>
          <a:prstGeom prst="rect">
            <a:avLst/>
          </a:prstGeom>
          <a:noFill/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273552"/>
            <a:ext cx="26334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3401568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50" b="1">
                <a:solidFill>
                  <a:srgbClr val="DB509E"/>
                </a:solidFill>
                <a:latin typeface="Inter"/>
              </a:rPr>
              <a:t>2016 –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575304"/>
            <a:ext cx="23042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Monitor Deloitte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840480"/>
            <a:ext cx="230428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00" b="1">
                <a:solidFill>
                  <a:srgbClr val="102957"/>
                </a:solidFill>
                <a:latin typeface="Inter"/>
              </a:rPr>
              <a:t>Partner, Middle East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059936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60" b="0">
                <a:solidFill>
                  <a:srgbClr val="60708D"/>
                </a:solidFill>
                <a:latin typeface="Inter"/>
              </a:rPr>
              <a:t>Led Customer and Digital Strategy for government entities and ministries across the GCC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5264" y="3273552"/>
            <a:ext cx="2633472" cy="1389888"/>
          </a:xfrm>
          <a:prstGeom prst="rect">
            <a:avLst/>
          </a:prstGeom>
          <a:noFill/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55264" y="3273552"/>
            <a:ext cx="26334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19856" y="3401568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50" b="1">
                <a:solidFill>
                  <a:srgbClr val="DB509E"/>
                </a:solidFill>
                <a:latin typeface="Inter"/>
              </a:rPr>
              <a:t>2003 – 2016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9856" y="3575304"/>
            <a:ext cx="2304288" cy="220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5"/>
              </a:lnSpc>
            </a:pPr>
            <a:r>
              <a:rPr sz="1350" b="0">
                <a:solidFill>
                  <a:srgbClr val="102957"/>
                </a:solidFill>
                <a:latin typeface="Comfortaa Medium"/>
              </a:rPr>
              <a:t>Peppers &amp; Rogers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9856" y="3840480"/>
            <a:ext cx="230428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00" b="1">
                <a:solidFill>
                  <a:srgbClr val="102957"/>
                </a:solidFill>
                <a:latin typeface="Inter"/>
              </a:rPr>
              <a:t>Founder &amp; MD, Middle East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9856" y="4059936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60" b="0">
                <a:solidFill>
                  <a:srgbClr val="60708D"/>
                </a:solidFill>
                <a:latin typeface="Inter"/>
              </a:rPr>
              <a:t>Founded the Middle East office, then led EEMEA across the UAE, KSA, Turkey, Lebanon and South Africa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53328" y="3273552"/>
            <a:ext cx="2633472" cy="1389888"/>
          </a:xfrm>
          <a:prstGeom prst="rect">
            <a:avLst/>
          </a:prstGeom>
          <a:noFill/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53328" y="3273552"/>
            <a:ext cx="2633472" cy="20116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3401568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50" b="1">
                <a:solidFill>
                  <a:srgbClr val="DB509E"/>
                </a:solidFill>
                <a:latin typeface="Inter"/>
              </a:rPr>
              <a:t>1990 – 1998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575304"/>
            <a:ext cx="23042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>
                <a:solidFill>
                  <a:srgbClr val="102957"/>
                </a:solidFill>
                <a:latin typeface="Comfortaa Medium"/>
              </a:rPr>
              <a:t>Dow Jones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840480"/>
            <a:ext cx="230428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sz="900" b="1">
                <a:solidFill>
                  <a:srgbClr val="102957"/>
                </a:solidFill>
                <a:latin typeface="Inter"/>
              </a:rPr>
              <a:t>Product &amp; commercial roles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059936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60" b="0">
                <a:solidFill>
                  <a:srgbClr val="60708D"/>
                </a:solidFill>
                <a:latin typeface="Inter"/>
              </a:rPr>
              <a:t>New product development and market adoption across Lebanon, the UAE, Turkey, Italy and the UK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882896"/>
            <a:ext cx="8229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850" b="1">
                <a:solidFill>
                  <a:srgbClr val="102957"/>
                </a:solidFill>
                <a:latin typeface="Inter"/>
              </a:rPr>
              <a:t>Education  </a:t>
            </a:r>
            <a:r>
              <a:rPr sz="850" b="0">
                <a:solidFill>
                  <a:srgbClr val="60708D"/>
                </a:solidFill>
                <a:latin typeface="Inter"/>
              </a:rPr>
              <a:t>B.Eng., American University of Beirut  ·  Executive education in AI, MIT Sloan and Kellogg  ·  Arabic, English, French, Turkish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572</Words>
  <Application>Microsoft Macintosh PowerPoint</Application>
  <PresentationFormat>On-screen Show (16:9)</PresentationFormat>
  <Paragraphs>51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Comfortaa Medium</vt:lpstr>
      <vt:lpstr>Inter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Mounir Ariss</cp:lastModifiedBy>
  <cp:revision>2</cp:revision>
  <dcterms:created xsi:type="dcterms:W3CDTF">2013-01-27T09:14:16Z</dcterms:created>
  <dcterms:modified xsi:type="dcterms:W3CDTF">2026-09-29T16:48:20Z</dcterms:modified>
  <cp:category/>
</cp:coreProperties>
</file>