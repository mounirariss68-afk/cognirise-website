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63" r:id="rId2"/>
    <p:sldId id="264" r:id="rId3"/>
    <p:sldId id="265" r:id="rId4"/>
    <p:sldId id="266" r:id="rId5"/>
    <p:sldId id="267" r:id="rId6"/>
    <p:sldId id="280" r:id="rId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1936"/>
    <a:srgbClr val="FF775C"/>
    <a:srgbClr val="4A76F5"/>
    <a:srgbClr val="DB4F9E"/>
    <a:srgbClr val="A858BD"/>
    <a:srgbClr val="946EF5"/>
    <a:srgbClr val="5F708D"/>
    <a:srgbClr val="F9F7F4"/>
    <a:srgbClr val="E36080"/>
    <a:srgbClr val="6B7B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48"/>
    <p:restoredTop sz="94589"/>
  </p:normalViewPr>
  <p:slideViewPr>
    <p:cSldViewPr snapToGrid="0" snapToObjects="1">
      <p:cViewPr varScale="1">
        <p:scale>
          <a:sx n="154" d="100"/>
          <a:sy n="154" d="100"/>
        </p:scale>
        <p:origin x="80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2265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2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4C12F907-4A07-BD7A-4B72-34C2950B985E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936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0437B906-5525-33E3-4FD9-3A8AEDB8FB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3839542" y="0"/>
            <a:ext cx="5305425" cy="51435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938711"/>
            <a:ext cx="2133600" cy="112713"/>
          </a:xfrm>
          <a:prstGeom prst="rect">
            <a:avLst/>
          </a:prstGeom>
        </p:spPr>
        <p:txBody>
          <a:bodyPr lIns="0" tIns="0" rIns="0" bIns="0" anchor="ctr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AC3C89-1285-C4B8-B2E2-A857DE716188}"/>
              </a:ext>
            </a:extLst>
          </p:cNvPr>
          <p:cNvSpPr/>
          <p:nvPr userDrawn="1"/>
        </p:nvSpPr>
        <p:spPr>
          <a:xfrm>
            <a:off x="0" y="0"/>
            <a:ext cx="9150263" cy="5142567"/>
          </a:xfrm>
          <a:prstGeom prst="rect">
            <a:avLst/>
          </a:prstGeom>
          <a:gradFill flip="none" rotWithShape="1">
            <a:gsLst>
              <a:gs pos="0">
                <a:srgbClr val="061936"/>
              </a:gs>
              <a:gs pos="63011">
                <a:srgbClr val="FFFFFF">
                  <a:alpha val="0"/>
                </a:srgbClr>
              </a:gs>
              <a:gs pos="50000">
                <a:srgbClr val="061936">
                  <a:alpha val="49927"/>
                </a:srgbClr>
              </a:gs>
              <a:gs pos="42000">
                <a:srgbClr val="061936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DFAD5371-41DC-0D8B-AB8F-7E7BC5B34E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7646" y="256654"/>
            <a:ext cx="1004887" cy="671513"/>
          </a:xfrm>
          <a:prstGeom prst="rect">
            <a:avLst/>
          </a:prstGeom>
        </p:spPr>
      </p:pic>
      <p:pic>
        <p:nvPicPr>
          <p:cNvPr id="15" name="Image 3" descr="preencoded.png">
            <a:extLst>
              <a:ext uri="{FF2B5EF4-FFF2-40B4-BE49-F238E27FC236}">
                <a16:creationId xmlns:a16="http://schemas.microsoft.com/office/drawing/2014/main" id="{0ABB278E-A6F9-7193-55BA-A1E6E5014CF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7200" y="4861582"/>
            <a:ext cx="2743200" cy="238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199" y="1658293"/>
            <a:ext cx="5158259" cy="584775"/>
          </a:xfrm>
          <a:noFill/>
          <a:ln/>
        </p:spPr>
        <p:txBody>
          <a:bodyPr wrap="none" lIns="0" tIns="0" rIns="0" bIns="0" rtlCol="0" anchor="ctr"/>
          <a:lstStyle>
            <a:lvl1pPr>
              <a:defRPr lang="en-US" sz="3800" kern="0" spc="-374">
                <a:solidFill>
                  <a:srgbClr val="FFFFFF"/>
                </a:solidFill>
                <a:latin typeface="Comfortaa Medium" pitchFamily="2" charset="0"/>
                <a:ea typeface="Comfortaa Medium" pitchFamily="2" charset="0"/>
                <a:cs typeface="Comfortaa Medium" pitchFamily="2" charset="0"/>
              </a:defRPr>
            </a:lvl1pPr>
          </a:lstStyle>
          <a:p>
            <a:pPr marL="0" lvl="0" indent="0">
              <a:spcBef>
                <a:spcPts val="1620"/>
              </a:spcBef>
            </a:pPr>
            <a:r>
              <a:rPr lang="en-US" dirty="0"/>
              <a:t>Click to edit title line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4938711"/>
            <a:ext cx="2898003" cy="151471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dirty="0"/>
              <a:t>© Cognirise 2026. All Rights Reserved.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56CD224-EA2A-3B4E-4707-216D055749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6233" y="1219437"/>
            <a:ext cx="5159226" cy="344487"/>
          </a:xfrm>
          <a:noFill/>
          <a:ln/>
        </p:spPr>
        <p:txBody>
          <a:bodyPr wrap="none" lIns="0" tIns="0" rIns="0" bIns="0" rtlCol="0" anchor="ctr">
            <a:normAutofit/>
          </a:bodyPr>
          <a:lstStyle>
            <a:lvl1pPr marL="4763" indent="-4763">
              <a:buNone/>
              <a:tabLst/>
              <a:defRPr lang="en-US" sz="900" b="1" kern="0" spc="151" smtClean="0">
                <a:solidFill>
                  <a:srgbClr val="FFFFFF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z="1800" smtClean="0"/>
            </a:lvl4pPr>
            <a:lvl5pPr>
              <a:defRPr lang="en-AE" sz="1800"/>
            </a:lvl5pPr>
          </a:lstStyle>
          <a:p>
            <a:pPr marL="342900" lvl="0" indent="-342900"/>
            <a:r>
              <a:rPr lang="en-US" dirty="0"/>
              <a:t>Click to edit Section Header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898EBDA-DEB3-D3AF-CEE0-8B98669C38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5265" y="3328640"/>
            <a:ext cx="3647010" cy="754062"/>
          </a:xfrm>
          <a:noFill/>
          <a:ln/>
        </p:spPr>
        <p:txBody>
          <a:bodyPr wrap="square" lIns="0" tIns="0" rIns="0" bIns="0" rtlCol="0" anchor="t">
            <a:normAutofit/>
          </a:bodyPr>
          <a:lstStyle>
            <a:lvl1pPr marL="4763" indent="-4763">
              <a:buNone/>
              <a:tabLst/>
              <a:defRPr lang="en-US" sz="1400" dirty="0" smtClean="0">
                <a:solidFill>
                  <a:srgbClr val="DBE3F0"/>
                </a:solidFill>
                <a:latin typeface="Comfortaa Medium" pitchFamily="2" charset="0"/>
                <a:ea typeface="Inter" panose="02000503000000020004" pitchFamily="2" charset="0"/>
                <a:cs typeface="Comfortaa Medium" pitchFamily="2" charset="0"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sz="1800" dirty="0" smtClean="0"/>
            </a:lvl4pPr>
            <a:lvl5pPr>
              <a:defRPr lang="en-AE" sz="1800" dirty="0"/>
            </a:lvl5pPr>
          </a:lstStyle>
          <a:p>
            <a:pPr marL="342900" lvl="0" indent="-342900">
              <a:lnSpc>
                <a:spcPts val="2088"/>
              </a:lnSpc>
            </a:pPr>
            <a:r>
              <a:rPr lang="en-US" dirty="0"/>
              <a:t>Click to edit Section Description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6" dur="60000" fill="hold"/>
                                        <p:tgtEl>
                                          <p:spTgt spid="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4C12F907-4A07-BD7A-4B72-34C2950B985E}"/>
              </a:ext>
            </a:extLst>
          </p:cNvPr>
          <p:cNvSpPr/>
          <p:nvPr userDrawn="1"/>
        </p:nvSpPr>
        <p:spPr>
          <a:xfrm>
            <a:off x="0" y="-933"/>
            <a:ext cx="9144000" cy="5143500"/>
          </a:xfrm>
          <a:prstGeom prst="rect">
            <a:avLst/>
          </a:prstGeom>
          <a:solidFill>
            <a:srgbClr val="071936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AD7A7DD3-6985-339A-BF16-5C86E9AD1A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4114800" y="0"/>
            <a:ext cx="5029200" cy="51435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938711"/>
            <a:ext cx="2133600" cy="112713"/>
          </a:xfrm>
          <a:prstGeom prst="rect">
            <a:avLst/>
          </a:prstGeom>
        </p:spPr>
        <p:txBody>
          <a:bodyPr lIns="0" tIns="0" rIns="0" bIns="0" anchor="ctr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FD2E92-5E2A-CFFD-341F-87828B292C8C}"/>
              </a:ext>
            </a:extLst>
          </p:cNvPr>
          <p:cNvSpPr/>
          <p:nvPr userDrawn="1"/>
        </p:nvSpPr>
        <p:spPr>
          <a:xfrm>
            <a:off x="0" y="0"/>
            <a:ext cx="9150263" cy="5142567"/>
          </a:xfrm>
          <a:prstGeom prst="rect">
            <a:avLst/>
          </a:prstGeom>
          <a:gradFill flip="none" rotWithShape="1">
            <a:gsLst>
              <a:gs pos="0">
                <a:srgbClr val="061936"/>
              </a:gs>
              <a:gs pos="60000">
                <a:schemeClr val="bg1">
                  <a:alpha val="0"/>
                </a:schemeClr>
              </a:gs>
              <a:gs pos="47000">
                <a:srgbClr val="061936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DFAD5371-41DC-0D8B-AB8F-7E7BC5B34E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7646" y="256654"/>
            <a:ext cx="1004887" cy="671513"/>
          </a:xfrm>
          <a:prstGeom prst="rect">
            <a:avLst/>
          </a:prstGeom>
        </p:spPr>
      </p:pic>
      <p:pic>
        <p:nvPicPr>
          <p:cNvPr id="15" name="Image 3" descr="preencoded.png">
            <a:extLst>
              <a:ext uri="{FF2B5EF4-FFF2-40B4-BE49-F238E27FC236}">
                <a16:creationId xmlns:a16="http://schemas.microsoft.com/office/drawing/2014/main" id="{0ABB278E-A6F9-7193-55BA-A1E6E5014CF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7200" y="4861582"/>
            <a:ext cx="2743200" cy="238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199" y="1658293"/>
            <a:ext cx="5158260" cy="584775"/>
          </a:xfrm>
          <a:noFill/>
          <a:ln/>
        </p:spPr>
        <p:txBody>
          <a:bodyPr wrap="none" lIns="0" tIns="0" rIns="0" bIns="0" rtlCol="0" anchor="ctr"/>
          <a:lstStyle>
            <a:lvl1pPr>
              <a:defRPr lang="en-US" sz="3800" kern="0" spc="-374">
                <a:solidFill>
                  <a:srgbClr val="FFFFFF"/>
                </a:solidFill>
                <a:latin typeface="Comfortaa Medium" pitchFamily="2" charset="0"/>
                <a:ea typeface="Comfortaa Medium" pitchFamily="2" charset="0"/>
                <a:cs typeface="Comfortaa Medium" pitchFamily="2" charset="0"/>
              </a:defRPr>
            </a:lvl1pPr>
          </a:lstStyle>
          <a:p>
            <a:pPr marL="0" lvl="0" indent="0">
              <a:spcBef>
                <a:spcPts val="1620"/>
              </a:spcBef>
            </a:pPr>
            <a:r>
              <a:rPr lang="en-US" dirty="0"/>
              <a:t>Click to edit title text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4938711"/>
            <a:ext cx="2898003" cy="151471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dirty="0"/>
              <a:t>© Cognirise 2026. All Rights Reserved.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56CD224-EA2A-3B4E-4707-216D055749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6233" y="1219437"/>
            <a:ext cx="5159226" cy="344487"/>
          </a:xfrm>
          <a:noFill/>
          <a:ln/>
        </p:spPr>
        <p:txBody>
          <a:bodyPr wrap="none" lIns="0" tIns="0" rIns="0" bIns="0" rtlCol="0" anchor="ctr">
            <a:normAutofit/>
          </a:bodyPr>
          <a:lstStyle>
            <a:lvl1pPr marL="4763" indent="-4763">
              <a:buNone/>
              <a:tabLst/>
              <a:defRPr lang="en-US" sz="900" b="1" kern="0" spc="151" smtClean="0">
                <a:solidFill>
                  <a:srgbClr val="FFFFFF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z="1800" smtClean="0"/>
            </a:lvl4pPr>
            <a:lvl5pPr>
              <a:defRPr lang="en-AE" sz="1800"/>
            </a:lvl5pPr>
          </a:lstStyle>
          <a:p>
            <a:pPr marL="342900" lvl="0" indent="-342900"/>
            <a:r>
              <a:rPr lang="en-US" dirty="0"/>
              <a:t>Click to edit Section Header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898EBDA-DEB3-D3AF-CEE0-8B98669C38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5265" y="3328640"/>
            <a:ext cx="3903794" cy="754062"/>
          </a:xfrm>
          <a:noFill/>
          <a:ln/>
        </p:spPr>
        <p:txBody>
          <a:bodyPr wrap="square" lIns="0" tIns="0" rIns="0" bIns="0" rtlCol="0" anchor="t">
            <a:normAutofit/>
          </a:bodyPr>
          <a:lstStyle>
            <a:lvl1pPr marL="4763" indent="-4763">
              <a:buNone/>
              <a:tabLst/>
              <a:defRPr lang="en-US" sz="1400" dirty="0" smtClean="0">
                <a:solidFill>
                  <a:srgbClr val="DBE3F0"/>
                </a:solidFill>
                <a:latin typeface="Comfortaa Medium" pitchFamily="2" charset="0"/>
                <a:ea typeface="Inter" panose="02000503000000020004" pitchFamily="2" charset="0"/>
                <a:cs typeface="Comfortaa Medium" pitchFamily="2" charset="0"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sz="1800" dirty="0" smtClean="0"/>
            </a:lvl4pPr>
            <a:lvl5pPr>
              <a:defRPr lang="en-AE" sz="1800" dirty="0"/>
            </a:lvl5pPr>
          </a:lstStyle>
          <a:p>
            <a:pPr marL="342900" lvl="0" indent="-342900">
              <a:lnSpc>
                <a:spcPts val="2088"/>
              </a:lnSpc>
            </a:pPr>
            <a:r>
              <a:rPr lang="en-US" dirty="0"/>
              <a:t>Click to edit Section Description</a:t>
            </a:r>
          </a:p>
        </p:txBody>
      </p:sp>
    </p:spTree>
    <p:extLst>
      <p:ext uri="{BB962C8B-B14F-4D97-AF65-F5344CB8AC3E}">
        <p14:creationId xmlns:p14="http://schemas.microsoft.com/office/powerpoint/2010/main" val="3980201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6" dur="60000" fill="hold"/>
                                        <p:tgtEl>
                                          <p:spTgt spid="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4C12F907-4A07-BD7A-4B72-34C2950B985E}"/>
              </a:ext>
            </a:extLst>
          </p:cNvPr>
          <p:cNvSpPr/>
          <p:nvPr userDrawn="1"/>
        </p:nvSpPr>
        <p:spPr>
          <a:xfrm>
            <a:off x="0" y="-933"/>
            <a:ext cx="9144000" cy="5143500"/>
          </a:xfrm>
          <a:prstGeom prst="rect">
            <a:avLst/>
          </a:prstGeom>
          <a:solidFill>
            <a:srgbClr val="071936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AF7F2800-A5CE-CA58-F5E8-FC4E749627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4023866" y="0"/>
            <a:ext cx="5119688" cy="51435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938711"/>
            <a:ext cx="2133600" cy="112713"/>
          </a:xfrm>
          <a:prstGeom prst="rect">
            <a:avLst/>
          </a:prstGeom>
        </p:spPr>
        <p:txBody>
          <a:bodyPr lIns="0" tIns="0" rIns="0" bIns="0" anchor="ctr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A1E2D0-318D-793C-52DD-8134F64C8641}"/>
              </a:ext>
            </a:extLst>
          </p:cNvPr>
          <p:cNvSpPr/>
          <p:nvPr userDrawn="1"/>
        </p:nvSpPr>
        <p:spPr>
          <a:xfrm>
            <a:off x="0" y="0"/>
            <a:ext cx="9150263" cy="5142567"/>
          </a:xfrm>
          <a:prstGeom prst="rect">
            <a:avLst/>
          </a:prstGeom>
          <a:gradFill flip="none" rotWithShape="1">
            <a:gsLst>
              <a:gs pos="0">
                <a:srgbClr val="061936"/>
              </a:gs>
              <a:gs pos="60000">
                <a:schemeClr val="bg1">
                  <a:alpha val="0"/>
                </a:schemeClr>
              </a:gs>
              <a:gs pos="47000">
                <a:srgbClr val="061936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DFAD5371-41DC-0D8B-AB8F-7E7BC5B34E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7646" y="256654"/>
            <a:ext cx="1004887" cy="671513"/>
          </a:xfrm>
          <a:prstGeom prst="rect">
            <a:avLst/>
          </a:prstGeom>
        </p:spPr>
      </p:pic>
      <p:pic>
        <p:nvPicPr>
          <p:cNvPr id="15" name="Image 3" descr="preencoded.png">
            <a:extLst>
              <a:ext uri="{FF2B5EF4-FFF2-40B4-BE49-F238E27FC236}">
                <a16:creationId xmlns:a16="http://schemas.microsoft.com/office/drawing/2014/main" id="{0ABB278E-A6F9-7193-55BA-A1E6E5014CF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7200" y="4861582"/>
            <a:ext cx="2743200" cy="238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199" y="1658293"/>
            <a:ext cx="5158259" cy="584775"/>
          </a:xfrm>
          <a:noFill/>
          <a:ln/>
        </p:spPr>
        <p:txBody>
          <a:bodyPr wrap="none" lIns="0" tIns="0" rIns="0" bIns="0" rtlCol="0" anchor="ctr"/>
          <a:lstStyle>
            <a:lvl1pPr>
              <a:defRPr lang="en-US" sz="3800" kern="0" spc="-374">
                <a:solidFill>
                  <a:srgbClr val="FFFFFF"/>
                </a:solidFill>
                <a:latin typeface="Comfortaa Medium" pitchFamily="2" charset="0"/>
                <a:ea typeface="Comfortaa Medium" pitchFamily="2" charset="0"/>
                <a:cs typeface="Comfortaa Medium" pitchFamily="2" charset="0"/>
              </a:defRPr>
            </a:lvl1pPr>
          </a:lstStyle>
          <a:p>
            <a:pPr marL="0" lvl="0" indent="0">
              <a:spcBef>
                <a:spcPts val="1620"/>
              </a:spcBef>
            </a:pPr>
            <a:r>
              <a:rPr lang="en-US" dirty="0"/>
              <a:t>Click to edit title line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4938711"/>
            <a:ext cx="2898003" cy="151471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dirty="0"/>
              <a:t>© Cognirise 2026. All Rights Reserved.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56CD224-EA2A-3B4E-4707-216D055749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6233" y="1219437"/>
            <a:ext cx="5159226" cy="344487"/>
          </a:xfrm>
          <a:noFill/>
          <a:ln/>
        </p:spPr>
        <p:txBody>
          <a:bodyPr wrap="none" lIns="0" tIns="0" rIns="0" bIns="0" rtlCol="0" anchor="ctr">
            <a:normAutofit/>
          </a:bodyPr>
          <a:lstStyle>
            <a:lvl1pPr marL="4763" indent="-4763">
              <a:buNone/>
              <a:tabLst/>
              <a:defRPr lang="en-US" sz="900" b="1" kern="0" spc="151" smtClean="0">
                <a:solidFill>
                  <a:srgbClr val="FFFFFF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z="1800" smtClean="0"/>
            </a:lvl4pPr>
            <a:lvl5pPr>
              <a:defRPr lang="en-AE" sz="1800"/>
            </a:lvl5pPr>
          </a:lstStyle>
          <a:p>
            <a:pPr marL="342900" lvl="0" indent="-342900"/>
            <a:r>
              <a:rPr lang="en-US" dirty="0"/>
              <a:t>Click to edit Section Header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898EBDA-DEB3-D3AF-CEE0-8B98669C38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5265" y="3328640"/>
            <a:ext cx="4116736" cy="754062"/>
          </a:xfrm>
          <a:noFill/>
          <a:ln/>
        </p:spPr>
        <p:txBody>
          <a:bodyPr wrap="square" lIns="0" tIns="0" rIns="0" bIns="0" rtlCol="0" anchor="t">
            <a:normAutofit/>
          </a:bodyPr>
          <a:lstStyle>
            <a:lvl1pPr marL="4763" indent="-4763">
              <a:buNone/>
              <a:tabLst/>
              <a:defRPr lang="en-US" sz="1400" dirty="0" smtClean="0">
                <a:solidFill>
                  <a:srgbClr val="DBE3F0"/>
                </a:solidFill>
                <a:latin typeface="Comfortaa Medium" pitchFamily="2" charset="0"/>
                <a:ea typeface="Inter" panose="02000503000000020004" pitchFamily="2" charset="0"/>
                <a:cs typeface="Comfortaa Medium" pitchFamily="2" charset="0"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sz="1800" dirty="0" smtClean="0"/>
            </a:lvl4pPr>
            <a:lvl5pPr>
              <a:defRPr lang="en-AE" sz="1800" dirty="0"/>
            </a:lvl5pPr>
          </a:lstStyle>
          <a:p>
            <a:pPr marL="342900" lvl="0" indent="-342900">
              <a:lnSpc>
                <a:spcPts val="2088"/>
              </a:lnSpc>
            </a:pPr>
            <a:r>
              <a:rPr lang="en-US" dirty="0"/>
              <a:t>Click to edit Section Description</a:t>
            </a:r>
          </a:p>
        </p:txBody>
      </p:sp>
    </p:spTree>
    <p:extLst>
      <p:ext uri="{BB962C8B-B14F-4D97-AF65-F5344CB8AC3E}">
        <p14:creationId xmlns:p14="http://schemas.microsoft.com/office/powerpoint/2010/main" val="2954852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6" dur="60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4C12F907-4A07-BD7A-4B72-34C2950B985E}"/>
              </a:ext>
            </a:extLst>
          </p:cNvPr>
          <p:cNvSpPr/>
          <p:nvPr userDrawn="1"/>
        </p:nvSpPr>
        <p:spPr>
          <a:xfrm>
            <a:off x="0" y="-933"/>
            <a:ext cx="9144000" cy="5143500"/>
          </a:xfrm>
          <a:prstGeom prst="rect">
            <a:avLst/>
          </a:prstGeom>
          <a:solidFill>
            <a:srgbClr val="071936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0695E5-E5F5-D667-49EF-A7D3AA8DC4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3717"/>
          <a:stretch>
            <a:fillRect/>
          </a:stretch>
        </p:blipFill>
        <p:spPr>
          <a:xfrm>
            <a:off x="4191694" y="0"/>
            <a:ext cx="4952306" cy="51435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938711"/>
            <a:ext cx="2133600" cy="112713"/>
          </a:xfrm>
          <a:prstGeom prst="rect">
            <a:avLst/>
          </a:prstGeom>
        </p:spPr>
        <p:txBody>
          <a:bodyPr lIns="0" tIns="0" rIns="0" bIns="0" anchor="ctr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Image 3" descr="preencoded.png">
            <a:extLst>
              <a:ext uri="{FF2B5EF4-FFF2-40B4-BE49-F238E27FC236}">
                <a16:creationId xmlns:a16="http://schemas.microsoft.com/office/drawing/2014/main" id="{0ABB278E-A6F9-7193-55BA-A1E6E5014CF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7200" y="4861582"/>
            <a:ext cx="2743200" cy="2381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4938711"/>
            <a:ext cx="2898003" cy="151471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dirty="0"/>
              <a:t>© Cognirise 2026. All Rights Reserved.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F7B9CA-571D-21A8-6A17-647D8DF56D97}"/>
              </a:ext>
            </a:extLst>
          </p:cNvPr>
          <p:cNvSpPr/>
          <p:nvPr userDrawn="1"/>
        </p:nvSpPr>
        <p:spPr>
          <a:xfrm>
            <a:off x="0" y="0"/>
            <a:ext cx="9150263" cy="5142567"/>
          </a:xfrm>
          <a:prstGeom prst="rect">
            <a:avLst/>
          </a:prstGeom>
          <a:gradFill flip="none" rotWithShape="1">
            <a:gsLst>
              <a:gs pos="0">
                <a:srgbClr val="061936"/>
              </a:gs>
              <a:gs pos="60000">
                <a:schemeClr val="bg1">
                  <a:alpha val="0"/>
                </a:schemeClr>
              </a:gs>
              <a:gs pos="47000">
                <a:srgbClr val="061936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DFAD5371-41DC-0D8B-AB8F-7E7BC5B34EC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7646" y="256654"/>
            <a:ext cx="1004887" cy="67151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199" y="1658293"/>
            <a:ext cx="5158259" cy="584775"/>
          </a:xfrm>
          <a:noFill/>
          <a:ln/>
        </p:spPr>
        <p:txBody>
          <a:bodyPr wrap="none" lIns="0" tIns="0" rIns="0" bIns="0" rtlCol="0" anchor="ctr"/>
          <a:lstStyle>
            <a:lvl1pPr>
              <a:defRPr lang="en-US" sz="3800" kern="0" spc="-374">
                <a:solidFill>
                  <a:srgbClr val="FFFFFF"/>
                </a:solidFill>
                <a:latin typeface="Comfortaa Medium" pitchFamily="2" charset="0"/>
                <a:ea typeface="Comfortaa Medium" pitchFamily="2" charset="0"/>
                <a:cs typeface="Comfortaa Medium" pitchFamily="2" charset="0"/>
              </a:defRPr>
            </a:lvl1pPr>
          </a:lstStyle>
          <a:p>
            <a:pPr marL="0" lvl="0" indent="0">
              <a:spcBef>
                <a:spcPts val="1620"/>
              </a:spcBef>
            </a:pPr>
            <a:r>
              <a:rPr lang="en-US" dirty="0"/>
              <a:t>Click to edit title line 1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56CD224-EA2A-3B4E-4707-216D055749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6233" y="1219437"/>
            <a:ext cx="5159226" cy="344487"/>
          </a:xfrm>
          <a:noFill/>
          <a:ln/>
        </p:spPr>
        <p:txBody>
          <a:bodyPr wrap="none" lIns="0" tIns="0" rIns="0" bIns="0" rtlCol="0" anchor="ctr">
            <a:normAutofit/>
          </a:bodyPr>
          <a:lstStyle>
            <a:lvl1pPr marL="4763" indent="-4763">
              <a:buFont typeface="Arial" panose="020B0604020202020204" pitchFamily="34" charset="0"/>
              <a:buNone/>
              <a:tabLst/>
              <a:defRPr lang="en-US" sz="900" b="1" kern="0" spc="151" smtClean="0">
                <a:solidFill>
                  <a:srgbClr val="FFFFFF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z="1800" smtClean="0"/>
            </a:lvl4pPr>
            <a:lvl5pPr>
              <a:defRPr lang="en-AE" sz="1800"/>
            </a:lvl5pPr>
          </a:lstStyle>
          <a:p>
            <a:pPr marL="342900" lvl="0" indent="-342900"/>
            <a:r>
              <a:rPr lang="en-US" dirty="0"/>
              <a:t>Click to edit Section Header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898EBDA-DEB3-D3AF-CEE0-8B98669C38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5264" y="3328640"/>
            <a:ext cx="3997739" cy="754062"/>
          </a:xfrm>
          <a:noFill/>
          <a:ln/>
        </p:spPr>
        <p:txBody>
          <a:bodyPr wrap="square" lIns="0" tIns="0" rIns="0" bIns="0" rtlCol="0" anchor="t">
            <a:normAutofit/>
          </a:bodyPr>
          <a:lstStyle>
            <a:lvl1pPr marL="4763" indent="-4763">
              <a:buNone/>
              <a:tabLst/>
              <a:defRPr lang="en-US" sz="1400" dirty="0" smtClean="0">
                <a:solidFill>
                  <a:srgbClr val="DBE3F0"/>
                </a:solidFill>
                <a:latin typeface="Comfortaa Medium" pitchFamily="2" charset="0"/>
                <a:ea typeface="Inter" panose="02000503000000020004" pitchFamily="2" charset="0"/>
                <a:cs typeface="Comfortaa Medium" pitchFamily="2" charset="0"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sz="1800" dirty="0" smtClean="0"/>
            </a:lvl4pPr>
            <a:lvl5pPr>
              <a:defRPr lang="en-AE" sz="1800" dirty="0"/>
            </a:lvl5pPr>
          </a:lstStyle>
          <a:p>
            <a:pPr marL="342900" lvl="0" indent="-342900">
              <a:lnSpc>
                <a:spcPts val="2088"/>
              </a:lnSpc>
            </a:pPr>
            <a:r>
              <a:rPr lang="en-US" dirty="0"/>
              <a:t>Click to edit Section Description</a:t>
            </a:r>
          </a:p>
        </p:txBody>
      </p:sp>
    </p:spTree>
    <p:extLst>
      <p:ext uri="{BB962C8B-B14F-4D97-AF65-F5344CB8AC3E}">
        <p14:creationId xmlns:p14="http://schemas.microsoft.com/office/powerpoint/2010/main" val="2680130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6" dur="60000" fill="hold"/>
                                        <p:tgtEl>
                                          <p:spTgt spid="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4C12F907-4A07-BD7A-4B72-34C2950B985E}"/>
              </a:ext>
            </a:extLst>
          </p:cNvPr>
          <p:cNvSpPr/>
          <p:nvPr userDrawn="1"/>
        </p:nvSpPr>
        <p:spPr>
          <a:xfrm>
            <a:off x="0" y="-933"/>
            <a:ext cx="9144000" cy="5143500"/>
          </a:xfrm>
          <a:prstGeom prst="rect">
            <a:avLst/>
          </a:prstGeom>
          <a:solidFill>
            <a:srgbClr val="071936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127294-31AA-D697-CA9F-949C62B864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00500" y="0"/>
            <a:ext cx="5143500" cy="51435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2C70792-C815-4492-C5DD-7B11ED78A698}"/>
              </a:ext>
            </a:extLst>
          </p:cNvPr>
          <p:cNvSpPr/>
          <p:nvPr userDrawn="1"/>
        </p:nvSpPr>
        <p:spPr>
          <a:xfrm>
            <a:off x="0" y="0"/>
            <a:ext cx="9150263" cy="5142567"/>
          </a:xfrm>
          <a:prstGeom prst="rect">
            <a:avLst/>
          </a:prstGeom>
          <a:gradFill flip="none" rotWithShape="1">
            <a:gsLst>
              <a:gs pos="0">
                <a:srgbClr val="061936"/>
              </a:gs>
              <a:gs pos="60000">
                <a:schemeClr val="bg1">
                  <a:alpha val="0"/>
                </a:schemeClr>
              </a:gs>
              <a:gs pos="47000">
                <a:srgbClr val="061936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938711"/>
            <a:ext cx="2133600" cy="112713"/>
          </a:xfrm>
          <a:prstGeom prst="rect">
            <a:avLst/>
          </a:prstGeom>
        </p:spPr>
        <p:txBody>
          <a:bodyPr lIns="0" tIns="0" rIns="0" bIns="0" anchor="ctr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Image 3" descr="preencoded.png">
            <a:extLst>
              <a:ext uri="{FF2B5EF4-FFF2-40B4-BE49-F238E27FC236}">
                <a16:creationId xmlns:a16="http://schemas.microsoft.com/office/drawing/2014/main" id="{0ABB278E-A6F9-7193-55BA-A1E6E5014CF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7200" y="4861582"/>
            <a:ext cx="2743200" cy="2381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4938711"/>
            <a:ext cx="2898003" cy="151471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dirty="0"/>
              <a:t>© Cognirise 2026. All Rights Reserved.</a:t>
            </a:r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DFAD5371-41DC-0D8B-AB8F-7E7BC5B34EC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7646" y="256654"/>
            <a:ext cx="1004887" cy="67151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199" y="1658293"/>
            <a:ext cx="5158259" cy="584775"/>
          </a:xfrm>
          <a:noFill/>
          <a:ln/>
        </p:spPr>
        <p:txBody>
          <a:bodyPr wrap="none" lIns="0" tIns="0" rIns="0" bIns="0" rtlCol="0" anchor="ctr"/>
          <a:lstStyle>
            <a:lvl1pPr>
              <a:defRPr lang="en-US" sz="3800" kern="0" spc="-374">
                <a:solidFill>
                  <a:srgbClr val="FFFFFF"/>
                </a:solidFill>
                <a:latin typeface="Comfortaa Medium" pitchFamily="2" charset="0"/>
                <a:ea typeface="Comfortaa Medium" pitchFamily="2" charset="0"/>
                <a:cs typeface="Comfortaa Medium" pitchFamily="2" charset="0"/>
              </a:defRPr>
            </a:lvl1pPr>
          </a:lstStyle>
          <a:p>
            <a:pPr marL="0" lvl="0" indent="0">
              <a:spcBef>
                <a:spcPts val="1620"/>
              </a:spcBef>
            </a:pPr>
            <a:r>
              <a:rPr lang="en-US" dirty="0"/>
              <a:t>Click to edit title line 1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56CD224-EA2A-3B4E-4707-216D055749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6233" y="1219437"/>
            <a:ext cx="5159226" cy="344487"/>
          </a:xfrm>
          <a:noFill/>
          <a:ln/>
        </p:spPr>
        <p:txBody>
          <a:bodyPr wrap="none" lIns="0" tIns="0" rIns="0" bIns="0" rtlCol="0" anchor="ctr">
            <a:normAutofit/>
          </a:bodyPr>
          <a:lstStyle>
            <a:lvl1pPr marL="4763" indent="-4763">
              <a:buFont typeface="Arial" panose="020B0604020202020204" pitchFamily="34" charset="0"/>
              <a:buNone/>
              <a:tabLst/>
              <a:defRPr lang="en-US" sz="900" b="1" kern="0" spc="151" smtClean="0">
                <a:solidFill>
                  <a:srgbClr val="FFFFFF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z="1800" smtClean="0"/>
            </a:lvl4pPr>
            <a:lvl5pPr>
              <a:defRPr lang="en-AE" sz="1800"/>
            </a:lvl5pPr>
          </a:lstStyle>
          <a:p>
            <a:pPr marL="342900" lvl="0" indent="-342900"/>
            <a:r>
              <a:rPr lang="en-US" dirty="0"/>
              <a:t>Click to edit Section Header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898EBDA-DEB3-D3AF-CEE0-8B98669C38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5264" y="3328640"/>
            <a:ext cx="4060369" cy="754062"/>
          </a:xfrm>
          <a:noFill/>
          <a:ln/>
        </p:spPr>
        <p:txBody>
          <a:bodyPr wrap="square" lIns="0" tIns="0" rIns="0" bIns="0" rtlCol="0" anchor="t">
            <a:normAutofit/>
          </a:bodyPr>
          <a:lstStyle>
            <a:lvl1pPr marL="4763" indent="-4763">
              <a:buNone/>
              <a:tabLst/>
              <a:defRPr lang="en-US" sz="1400" dirty="0" smtClean="0">
                <a:solidFill>
                  <a:srgbClr val="DBE3F0"/>
                </a:solidFill>
                <a:latin typeface="Comfortaa Medium" pitchFamily="2" charset="0"/>
                <a:ea typeface="Inter" panose="02000503000000020004" pitchFamily="2" charset="0"/>
                <a:cs typeface="Comfortaa Medium" pitchFamily="2" charset="0"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sz="1800" dirty="0" smtClean="0"/>
            </a:lvl4pPr>
            <a:lvl5pPr>
              <a:defRPr lang="en-AE" sz="1800" dirty="0"/>
            </a:lvl5pPr>
          </a:lstStyle>
          <a:p>
            <a:pPr marL="342900" lvl="0" indent="-342900">
              <a:lnSpc>
                <a:spcPts val="2088"/>
              </a:lnSpc>
            </a:pPr>
            <a:r>
              <a:rPr lang="en-US" dirty="0"/>
              <a:t>Click to edit Section Description</a:t>
            </a:r>
          </a:p>
        </p:txBody>
      </p:sp>
    </p:spTree>
    <p:extLst>
      <p:ext uri="{BB962C8B-B14F-4D97-AF65-F5344CB8AC3E}">
        <p14:creationId xmlns:p14="http://schemas.microsoft.com/office/powerpoint/2010/main" val="1688297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60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9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7200" y="4917674"/>
            <a:ext cx="2217420" cy="127975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500">
                <a:solidFill>
                  <a:srgbClr val="5F708D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en-US" dirty="0"/>
              <a:t>© Cognirise 2026.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19872" y="4917674"/>
            <a:ext cx="466928" cy="127975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500">
                <a:solidFill>
                  <a:srgbClr val="5F708D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3ACB4A-3A6B-AA94-E5A0-2F4241ED99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307975"/>
            <a:ext cx="2378075" cy="184150"/>
          </a:xfrm>
          <a:noFill/>
          <a:ln/>
        </p:spPr>
        <p:txBody>
          <a:bodyPr wrap="none" lIns="0" tIns="0" rIns="0" bIns="0" rtlCol="0" anchor="ctr"/>
          <a:lstStyle>
            <a:lvl1pPr>
              <a:buNone/>
              <a:defRPr lang="en-AE" sz="600" kern="0" spc="140" dirty="0">
                <a:solidFill>
                  <a:srgbClr val="60708D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/>
            <a:endParaRPr lang="en-AE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888926A-055B-6A18-84F8-9674AFB4C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899478"/>
            <a:ext cx="7315200" cy="157351"/>
          </a:xfrm>
          <a:noFill/>
        </p:spPr>
        <p:txBody>
          <a:bodyPr wrap="square" lIns="0" tIns="0" rIns="0" bIns="0" anchor="t">
            <a:spAutoFit/>
          </a:bodyPr>
          <a:lstStyle>
            <a:lvl1pPr marL="0" indent="4763">
              <a:buNone/>
              <a:tabLst/>
              <a:defRPr lang="en-AE" sz="1000" b="0" dirty="0">
                <a:solidFill>
                  <a:srgbClr val="60708D"/>
                </a:solidFill>
                <a:latin typeface="Comfortaa Medium" pitchFamily="2" charset="0"/>
              </a:defRPr>
            </a:lvl1pPr>
          </a:lstStyle>
          <a:p>
            <a:pPr marL="0" lvl="0">
              <a:lnSpc>
                <a:spcPts val="1296"/>
              </a:lnSpc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686299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686299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 Cognirise 2026. All Rights Protected &amp;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686299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1813"/>
            <a:ext cx="7315200" cy="3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lvl="0">
              <a:lnSpc>
                <a:spcPts val="2592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2954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B3630B9-1D51-3C28-DE24-AB0619928DA8}"/>
              </a:ext>
            </a:extLst>
          </p:cNvPr>
          <p:cNvCxnSpPr>
            <a:cxnSpLocks/>
          </p:cNvCxnSpPr>
          <p:nvPr userDrawn="1"/>
        </p:nvCxnSpPr>
        <p:spPr>
          <a:xfrm>
            <a:off x="0" y="-230013"/>
            <a:ext cx="493477" cy="0"/>
          </a:xfrm>
          <a:prstGeom prst="line">
            <a:avLst/>
          </a:prstGeom>
          <a:ln w="76200">
            <a:solidFill>
              <a:srgbClr val="E26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34A3319-B222-26EE-654F-88F9CC896C05}"/>
              </a:ext>
            </a:extLst>
          </p:cNvPr>
          <p:cNvCxnSpPr>
            <a:cxnSpLocks/>
          </p:cNvCxnSpPr>
          <p:nvPr userDrawn="1"/>
        </p:nvCxnSpPr>
        <p:spPr>
          <a:xfrm>
            <a:off x="0" y="-323247"/>
            <a:ext cx="493477" cy="0"/>
          </a:xfrm>
          <a:prstGeom prst="line">
            <a:avLst/>
          </a:prstGeom>
          <a:ln w="76200">
            <a:solidFill>
              <a:srgbClr val="A858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962D943-651A-DE87-E2B6-43C18548AA66}"/>
              </a:ext>
            </a:extLst>
          </p:cNvPr>
          <p:cNvCxnSpPr>
            <a:cxnSpLocks/>
          </p:cNvCxnSpPr>
          <p:nvPr userDrawn="1"/>
        </p:nvCxnSpPr>
        <p:spPr>
          <a:xfrm>
            <a:off x="0" y="-432338"/>
            <a:ext cx="493477" cy="0"/>
          </a:xfrm>
          <a:prstGeom prst="line">
            <a:avLst/>
          </a:prstGeom>
          <a:ln w="76200">
            <a:solidFill>
              <a:srgbClr val="7559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CDC49DC-9469-044F-4339-CB7B06B23FEC}"/>
              </a:ext>
            </a:extLst>
          </p:cNvPr>
          <p:cNvCxnSpPr>
            <a:cxnSpLocks/>
          </p:cNvCxnSpPr>
          <p:nvPr userDrawn="1"/>
        </p:nvCxnSpPr>
        <p:spPr>
          <a:xfrm>
            <a:off x="0" y="-545184"/>
            <a:ext cx="493477" cy="0"/>
          </a:xfrm>
          <a:prstGeom prst="line">
            <a:avLst/>
          </a:prstGeom>
          <a:ln w="76200">
            <a:solidFill>
              <a:srgbClr val="4A76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911AED70-B1D7-2383-8EFC-B91CAB6DB8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4827734"/>
            <a:ext cx="2217420" cy="127975"/>
          </a:xfrm>
          <a:prstGeom prst="rect">
            <a:avLst/>
          </a:prstGeom>
        </p:spPr>
        <p:txBody>
          <a:bodyPr/>
          <a:lstStyle>
            <a:lvl1pPr algn="l">
              <a:defRPr sz="500">
                <a:solidFill>
                  <a:srgbClr val="5F708D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en-US" dirty="0"/>
              <a:t>© Cognirise 2026. All Rights Reserved.</a:t>
            </a:r>
          </a:p>
        </p:txBody>
      </p:sp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B4B44718-2715-FC1B-404E-7FCE9C59BD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19872" y="4827734"/>
            <a:ext cx="466928" cy="127975"/>
          </a:xfrm>
          <a:prstGeom prst="rect">
            <a:avLst/>
          </a:prstGeom>
        </p:spPr>
        <p:txBody>
          <a:bodyPr/>
          <a:lstStyle>
            <a:lvl1pPr algn="r">
              <a:defRPr sz="500">
                <a:solidFill>
                  <a:srgbClr val="5F708D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algn="r"/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3954B5E3-9C22-489D-0205-D31892CDFE7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39977" y="0"/>
            <a:ext cx="1146823" cy="76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2" r:id="rId3"/>
    <p:sldLayoutId id="2147483663" r:id="rId4"/>
    <p:sldLayoutId id="2147483664" r:id="rId5"/>
    <p:sldLayoutId id="2147483654" r:id="rId6"/>
    <p:sldLayoutId id="2147483655" r:id="rId7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lang="en-US" sz="2400" kern="1200" dirty="0">
          <a:solidFill>
            <a:srgbClr val="102957"/>
          </a:solidFill>
          <a:latin typeface="Comfortaa Medium"/>
          <a:ea typeface="+mn-ea"/>
          <a:cs typeface="+mn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57200" y="1429766"/>
            <a:ext cx="3520440" cy="3163824"/>
          </a:xfrm>
          <a:prstGeom prst="rect">
            <a:avLst/>
          </a:prstGeom>
          <a:solidFill>
            <a:srgbClr val="102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667510"/>
            <a:ext cx="3008376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sz="3100" b="0" dirty="0">
                <a:solidFill>
                  <a:srgbClr val="DB509E"/>
                </a:solidFill>
                <a:latin typeface="Comfortaa Medium"/>
              </a:rPr>
              <a:t>60–80%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124710"/>
            <a:ext cx="3008376" cy="5611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1050" b="0" dirty="0">
                <a:solidFill>
                  <a:srgbClr val="DCE4F0"/>
                </a:solidFill>
                <a:latin typeface="Inter"/>
              </a:rPr>
              <a:t>of total project time in applied machine learning is consumed by data preparation — validation, cleaning, encoding, imputation and scaling.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121406"/>
            <a:ext cx="300837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36"/>
              </a:lnSpc>
            </a:pPr>
            <a:r>
              <a:rPr sz="2700" b="0">
                <a:solidFill>
                  <a:srgbClr val="DB509E"/>
                </a:solidFill>
                <a:latin typeface="Comfortaa Medium"/>
              </a:rPr>
              <a:t>≈100–150k / year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551174"/>
            <a:ext cx="3008376" cy="370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1050" b="0">
                <a:solidFill>
                  <a:srgbClr val="DCE4F0"/>
                </a:solidFill>
                <a:latin typeface="Inter"/>
              </a:rPr>
              <a:t>per data scientist is invested in data preparation instead of model development.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026662"/>
            <a:ext cx="3008376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8"/>
              </a:lnSpc>
            </a:pPr>
            <a:r>
              <a:rPr sz="1050" b="0">
                <a:solidFill>
                  <a:srgbClr val="DCE4F0"/>
                </a:solidFill>
                <a:latin typeface="Inter"/>
              </a:rPr>
              <a:t>Repetitive. Expensive. Hard to scale across teams and countries.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429766"/>
            <a:ext cx="2125979" cy="1490472"/>
          </a:xfrm>
          <a:prstGeom prst="rect">
            <a:avLst/>
          </a:prstGeom>
          <a:solidFill>
            <a:schemeClr val="bg1"/>
          </a:solidFill>
          <a:ln w="9525">
            <a:solidFill>
              <a:srgbClr val="CBD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471416" y="1630934"/>
            <a:ext cx="438912" cy="438912"/>
          </a:xfrm>
          <a:prstGeom prst="ellipse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clock-6976e8fe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657" y="1735175"/>
            <a:ext cx="230428" cy="2304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38344" y="1658874"/>
            <a:ext cx="1138427" cy="349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368"/>
              </a:lnSpc>
            </a:pPr>
            <a:r>
              <a:rPr sz="1100" dirty="0">
                <a:solidFill>
                  <a:srgbClr val="102957"/>
                </a:solidFill>
                <a:latin typeface="Comfortaa Medium"/>
              </a:rPr>
              <a:t>Slower AI</a:t>
            </a:r>
            <a:r>
              <a:rPr lang="en-US" sz="1100" dirty="0">
                <a:solidFill>
                  <a:srgbClr val="102957"/>
                </a:solidFill>
                <a:latin typeface="Comfortaa Medium"/>
              </a:rPr>
              <a:t> </a:t>
            </a:r>
            <a:r>
              <a:rPr sz="1100" dirty="0">
                <a:solidFill>
                  <a:srgbClr val="102957"/>
                </a:solidFill>
                <a:latin typeface="Comfortaa Medium"/>
              </a:rPr>
              <a:t>delivery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2252726"/>
            <a:ext cx="1723643" cy="489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32"/>
              </a:lnSpc>
            </a:pPr>
            <a:r>
              <a:rPr sz="800" b="0" dirty="0">
                <a:solidFill>
                  <a:srgbClr val="60708D"/>
                </a:solidFill>
                <a:latin typeface="Inter"/>
              </a:rPr>
              <a:t>Weeks are spent cleaning and repairing data before modeling can even begin.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60820" y="1429766"/>
            <a:ext cx="2125979" cy="1490472"/>
          </a:xfrm>
          <a:prstGeom prst="rect">
            <a:avLst/>
          </a:prstGeom>
          <a:solidFill>
            <a:schemeClr val="bg1"/>
          </a:solidFill>
          <a:ln w="9525">
            <a:solidFill>
              <a:srgbClr val="CBD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780276" y="1630934"/>
            <a:ext cx="438912" cy="438912"/>
          </a:xfrm>
          <a:prstGeom prst="ellipse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branch-911ea3ed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4517" y="1735175"/>
            <a:ext cx="230428" cy="23042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47204" y="1658874"/>
            <a:ext cx="1138427" cy="349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368"/>
              </a:lnSpc>
            </a:pPr>
            <a:r>
              <a:rPr sz="1100" dirty="0">
                <a:solidFill>
                  <a:srgbClr val="102957"/>
                </a:solidFill>
                <a:latin typeface="Comfortaa Medium"/>
              </a:rPr>
              <a:t>Inconsistent standards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1988" y="2252726"/>
            <a:ext cx="1723643" cy="486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32"/>
              </a:lnSpc>
            </a:pPr>
            <a:r>
              <a:rPr sz="800" b="0">
                <a:solidFill>
                  <a:srgbClr val="60708D"/>
                </a:solidFill>
                <a:latin typeface="Inter"/>
              </a:rPr>
              <a:t>Different teams prepare similar data in different ways — conflicting models and results.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3103118"/>
            <a:ext cx="2125979" cy="1490472"/>
          </a:xfrm>
          <a:prstGeom prst="rect">
            <a:avLst/>
          </a:prstGeom>
          <a:solidFill>
            <a:schemeClr val="bg1"/>
          </a:solidFill>
          <a:ln w="9525">
            <a:solidFill>
              <a:srgbClr val="CBD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471416" y="3304285"/>
            <a:ext cx="438912" cy="438912"/>
          </a:xfrm>
          <a:prstGeom prst="ellipse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trending-down-bb2e9e557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5657" y="3408527"/>
            <a:ext cx="230428" cy="23042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038344" y="3332226"/>
            <a:ext cx="1138427" cy="3481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8"/>
              </a:lnSpc>
            </a:pPr>
            <a:r>
              <a:rPr sz="1100" b="0" dirty="0">
                <a:solidFill>
                  <a:srgbClr val="102957"/>
                </a:solidFill>
                <a:latin typeface="Comfortaa Medium"/>
              </a:rPr>
              <a:t>Reduced model accuracy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53128" y="3926078"/>
            <a:ext cx="1723643" cy="486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32"/>
              </a:lnSpc>
            </a:pPr>
            <a:r>
              <a:rPr sz="800" b="0">
                <a:solidFill>
                  <a:srgbClr val="60708D"/>
                </a:solidFill>
                <a:latin typeface="Inter"/>
              </a:rPr>
              <a:t>Missing values, poor encoding and unscaled features directly degrade performance.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60820" y="3103118"/>
            <a:ext cx="2125979" cy="1490472"/>
          </a:xfrm>
          <a:prstGeom prst="rect">
            <a:avLst/>
          </a:prstGeom>
          <a:solidFill>
            <a:schemeClr val="bg1"/>
          </a:solidFill>
          <a:ln w="9525">
            <a:solidFill>
              <a:srgbClr val="CBD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780276" y="3304285"/>
            <a:ext cx="438912" cy="438912"/>
          </a:xfrm>
          <a:prstGeom prst="ellipse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repeat-6e8d0f708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4517" y="3408527"/>
            <a:ext cx="230428" cy="23042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347204" y="3332226"/>
            <a:ext cx="1138427" cy="349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25"/>
              </a:lnSpc>
            </a:pPr>
            <a:r>
              <a:rPr sz="1100" b="0" dirty="0">
                <a:solidFill>
                  <a:srgbClr val="102957"/>
                </a:solidFill>
                <a:latin typeface="Comfortaa Medium"/>
              </a:rPr>
              <a:t>Irreproducible pipelines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1988" y="3926078"/>
            <a:ext cx="1723643" cy="486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32"/>
              </a:lnSpc>
            </a:pPr>
            <a:r>
              <a:rPr sz="800" b="0">
                <a:solidFill>
                  <a:srgbClr val="60708D"/>
                </a:solidFill>
                <a:latin typeface="Inter"/>
              </a:rPr>
              <a:t>One-off scripts and tribal knowledge mean last quarter's pipeline can't be re-run.</a:t>
            </a:r>
          </a:p>
        </p:txBody>
      </p:sp>
      <p:sp>
        <p:nvSpPr>
          <p:cNvPr id="37" name="Title 36">
            <a:extLst>
              <a:ext uri="{FF2B5EF4-FFF2-40B4-BE49-F238E27FC236}">
                <a16:creationId xmlns:a16="http://schemas.microsoft.com/office/drawing/2014/main" id="{5E377535-A6D7-B85A-9C5B-B502EC048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1813"/>
            <a:ext cx="7315200" cy="666849"/>
          </a:xfrm>
        </p:spPr>
        <p:txBody>
          <a:bodyPr/>
          <a:lstStyle/>
          <a:p>
            <a:pPr>
              <a:lnSpc>
                <a:spcPts val="2592"/>
              </a:lnSpc>
            </a:pPr>
            <a:r>
              <a:rPr lang="en-US" dirty="0"/>
              <a:t>AI investment is spent preparing data, not creating </a:t>
            </a:r>
            <a:r>
              <a:rPr lang="en-US" dirty="0">
                <a:solidFill>
                  <a:srgbClr val="DB509E"/>
                </a:solidFill>
              </a:rPr>
              <a:t>business value.</a:t>
            </a:r>
            <a:endParaRPr lang="en-US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61AF03EE-B67D-BAF0-4696-B107E72F7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© Cognirise 2026. All Rights Reserved.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D184BA9F-6661-C054-8D63-FB534A79A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AEFAA5EC-D21E-D740-67E6-ECF7B0DF6A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  <a:p>
            <a:endParaRPr lang="en-A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57200" y="1509903"/>
            <a:ext cx="1874519" cy="402336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509903"/>
            <a:ext cx="32004" cy="402336"/>
          </a:xfrm>
          <a:prstGeom prst="rect">
            <a:avLst/>
          </a:prstGeom>
          <a:solidFill>
            <a:srgbClr val="DB5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3504" y="1564767"/>
            <a:ext cx="164592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8"/>
              </a:lnSpc>
            </a:pPr>
            <a:r>
              <a:rPr sz="1100" b="1">
                <a:solidFill>
                  <a:srgbClr val="102957"/>
                </a:solidFill>
                <a:latin typeface="Inter"/>
              </a:rPr>
              <a:t>WTG_01.ActPwr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747647"/>
            <a:ext cx="1645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2"/>
              </a:lnSpc>
            </a:pPr>
            <a:r>
              <a:rPr sz="900" b="0">
                <a:solidFill>
                  <a:srgbClr val="60708D"/>
                </a:solidFill>
                <a:latin typeface="Inter"/>
              </a:rPr>
              <a:t>Wind OEM 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94535"/>
            <a:ext cx="1874519" cy="402336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994535"/>
            <a:ext cx="32004" cy="402336"/>
          </a:xfrm>
          <a:prstGeom prst="rect">
            <a:avLst/>
          </a:prstGeom>
          <a:solidFill>
            <a:srgbClr val="DB5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3504" y="2049399"/>
            <a:ext cx="164592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8"/>
              </a:lnSpc>
            </a:pPr>
            <a:r>
              <a:rPr sz="1100" b="1">
                <a:solidFill>
                  <a:srgbClr val="102957"/>
                </a:solidFill>
                <a:latin typeface="Inter"/>
              </a:rPr>
              <a:t>INV_A3.P_AC_kW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2232279"/>
            <a:ext cx="1645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2"/>
              </a:lnSpc>
            </a:pPr>
            <a:r>
              <a:rPr sz="900" b="0">
                <a:solidFill>
                  <a:srgbClr val="60708D"/>
                </a:solidFill>
                <a:latin typeface="Inter"/>
              </a:rPr>
              <a:t>PV inverter OEM 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479166"/>
            <a:ext cx="1874519" cy="402336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2479166"/>
            <a:ext cx="32004" cy="402336"/>
          </a:xfrm>
          <a:prstGeom prst="rect">
            <a:avLst/>
          </a:prstGeom>
          <a:solidFill>
            <a:srgbClr val="DB5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3504" y="2534031"/>
            <a:ext cx="164592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8"/>
              </a:lnSpc>
            </a:pPr>
            <a:r>
              <a:rPr sz="1100" b="1">
                <a:solidFill>
                  <a:srgbClr val="102957"/>
                </a:solidFill>
                <a:latin typeface="Inter"/>
              </a:rPr>
              <a:t>BESS.RackPower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" y="2716910"/>
            <a:ext cx="1645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2"/>
              </a:lnSpc>
            </a:pPr>
            <a:r>
              <a:rPr sz="900" b="0">
                <a:solidFill>
                  <a:srgbClr val="60708D"/>
                </a:solidFill>
                <a:latin typeface="Inter"/>
              </a:rPr>
              <a:t>Storage OEM 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963799"/>
            <a:ext cx="1874519" cy="402336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2963799"/>
            <a:ext cx="32004" cy="402336"/>
          </a:xfrm>
          <a:prstGeom prst="rect">
            <a:avLst/>
          </a:prstGeom>
          <a:solidFill>
            <a:srgbClr val="DB5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3504" y="3018663"/>
            <a:ext cx="164592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8"/>
              </a:lnSpc>
            </a:pPr>
            <a:r>
              <a:rPr sz="1100" b="1">
                <a:solidFill>
                  <a:srgbClr val="102957"/>
                </a:solidFill>
                <a:latin typeface="Inter"/>
              </a:rPr>
              <a:t>PLT_NET_MW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" y="3201543"/>
            <a:ext cx="1645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2"/>
              </a:lnSpc>
            </a:pPr>
            <a:r>
              <a:rPr sz="900" b="0">
                <a:solidFill>
                  <a:srgbClr val="60708D"/>
                </a:solidFill>
                <a:latin typeface="Inter"/>
              </a:rPr>
              <a:t>Site SCADA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448431"/>
            <a:ext cx="1874519" cy="402336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3448431"/>
            <a:ext cx="32004" cy="402336"/>
          </a:xfrm>
          <a:prstGeom prst="rect">
            <a:avLst/>
          </a:prstGeom>
          <a:solidFill>
            <a:srgbClr val="DB5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3504" y="3503295"/>
            <a:ext cx="164592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8"/>
              </a:lnSpc>
            </a:pPr>
            <a:r>
              <a:rPr sz="1100" b="1">
                <a:solidFill>
                  <a:srgbClr val="102957"/>
                </a:solidFill>
                <a:latin typeface="Inter"/>
              </a:rPr>
              <a:t>"Net output"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" y="3686175"/>
            <a:ext cx="1645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2"/>
              </a:lnSpc>
            </a:pPr>
            <a:r>
              <a:rPr sz="900" b="0">
                <a:solidFill>
                  <a:srgbClr val="60708D"/>
                </a:solidFill>
                <a:latin typeface="Inter"/>
              </a:rPr>
              <a:t>Monthly report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52928" y="2285481"/>
            <a:ext cx="1783080" cy="789709"/>
          </a:xfrm>
          <a:prstGeom prst="rect">
            <a:avLst/>
          </a:prstGeom>
          <a:solidFill>
            <a:srgbClr val="102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999232" y="2410587"/>
            <a:ext cx="1508760" cy="1865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200" b="0">
                <a:solidFill>
                  <a:srgbClr val="FFFFFF"/>
                </a:solidFill>
                <a:latin typeface="Comfortaa Medium"/>
              </a:rPr>
              <a:t>One measurement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99232" y="2748914"/>
            <a:ext cx="150876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24"/>
              </a:lnSpc>
            </a:pPr>
            <a:r>
              <a:rPr sz="950" b="0">
                <a:solidFill>
                  <a:srgbClr val="DCE4F0"/>
                </a:solidFill>
                <a:latin typeface="Inter"/>
              </a:rPr>
              <a:t>a model can learn from, across the whole fleet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92040" y="1332738"/>
            <a:ext cx="3794760" cy="813816"/>
          </a:xfrm>
          <a:prstGeom prst="rect">
            <a:avLst/>
          </a:prstGeom>
          <a:solidFill>
            <a:schemeClr val="bg1"/>
          </a:solidFill>
          <a:ln w="9525">
            <a:solidFill>
              <a:srgbClr val="CBD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892040" y="1332738"/>
            <a:ext cx="32004" cy="813816"/>
          </a:xfrm>
          <a:prstGeom prst="rect">
            <a:avLst/>
          </a:prstGeom>
          <a:solidFill>
            <a:srgbClr val="DB5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111496" y="1405890"/>
            <a:ext cx="365760" cy="365760"/>
          </a:xfrm>
          <a:prstGeom prst="ellipse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clock-6976e8fe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8364" y="1492758"/>
            <a:ext cx="192024" cy="19202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568696" y="1488186"/>
            <a:ext cx="2916935" cy="1847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54"/>
              </a:lnSpc>
            </a:pPr>
            <a:r>
              <a:rPr sz="1200" b="0">
                <a:solidFill>
                  <a:srgbClr val="102957"/>
                </a:solidFill>
                <a:latin typeface="Comfortaa Medium"/>
              </a:rPr>
              <a:t>Time and quality conventions differ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93207" y="1753362"/>
            <a:ext cx="339242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2"/>
              </a:lnSpc>
            </a:pPr>
            <a:r>
              <a:rPr sz="900" b="0">
                <a:solidFill>
                  <a:srgbClr val="60708D"/>
                </a:solidFill>
                <a:latin typeface="Inter"/>
              </a:rPr>
              <a:t>Gaps, quality codes, timezones and resampling rules vary by vendor — and silently change what a model learns.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92040" y="2264283"/>
            <a:ext cx="3794760" cy="813816"/>
          </a:xfrm>
          <a:prstGeom prst="rect">
            <a:avLst/>
          </a:prstGeom>
          <a:solidFill>
            <a:schemeClr val="bg1"/>
          </a:solidFill>
          <a:ln w="9525">
            <a:solidFill>
              <a:srgbClr val="CBD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892040" y="2264283"/>
            <a:ext cx="32004" cy="813816"/>
          </a:xfrm>
          <a:prstGeom prst="rect">
            <a:avLst/>
          </a:prstGeom>
          <a:solidFill>
            <a:srgbClr val="DB5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5111496" y="2337435"/>
            <a:ext cx="365760" cy="365760"/>
          </a:xfrm>
          <a:prstGeom prst="ellipse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tag-b4a8e37d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8364" y="2424303"/>
            <a:ext cx="192024" cy="19202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5568696" y="2419731"/>
            <a:ext cx="2916935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1250" b="0">
                <a:solidFill>
                  <a:srgbClr val="102957"/>
                </a:solidFill>
                <a:latin typeface="Comfortaa Medium"/>
              </a:rPr>
              <a:t>Types are not what they look like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93207" y="2684907"/>
            <a:ext cx="339242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2"/>
              </a:lnSpc>
            </a:pPr>
            <a:r>
              <a:rPr sz="900" b="0">
                <a:solidFill>
                  <a:srgbClr val="60708D"/>
                </a:solidFill>
                <a:latin typeface="Inter"/>
              </a:rPr>
              <a:t>Asset IDs, tag strings and codes stored as text are treated as numbers unless something decides otherwise.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92040" y="3201543"/>
            <a:ext cx="3794760" cy="813816"/>
          </a:xfrm>
          <a:prstGeom prst="rect">
            <a:avLst/>
          </a:prstGeom>
          <a:solidFill>
            <a:schemeClr val="bg1"/>
          </a:solidFill>
          <a:ln w="9525">
            <a:solidFill>
              <a:srgbClr val="CBD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892040" y="3201543"/>
            <a:ext cx="32004" cy="813816"/>
          </a:xfrm>
          <a:prstGeom prst="rect">
            <a:avLst/>
          </a:prstGeom>
          <a:solidFill>
            <a:srgbClr val="DB5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5111496" y="3274695"/>
            <a:ext cx="365760" cy="365760"/>
          </a:xfrm>
          <a:prstGeom prst="ellipse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0" name="Picture 49" descr="file-text-324a94ff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364" y="3361562"/>
            <a:ext cx="192024" cy="192024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568696" y="3356990"/>
            <a:ext cx="2916935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1250" b="0">
                <a:solidFill>
                  <a:srgbClr val="102957"/>
                </a:solidFill>
                <a:latin typeface="Comfortaa Medium"/>
              </a:rPr>
              <a:t>Much of it starts in documents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93207" y="3622166"/>
            <a:ext cx="339242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2"/>
              </a:lnSpc>
            </a:pPr>
            <a:r>
              <a:rPr sz="900" b="0">
                <a:solidFill>
                  <a:srgbClr val="60708D"/>
                </a:solidFill>
                <a:latin typeface="Inter"/>
              </a:rPr>
              <a:t>A meaningful share of plant information lives in files and spreadsheets before it is ever in a system.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3997071"/>
            <a:ext cx="4297680" cy="1472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00" b="0">
                <a:solidFill>
                  <a:srgbClr val="60708D"/>
                </a:solidFill>
                <a:latin typeface="Inter"/>
              </a:rPr>
              <a:t>Before any model can be trained, someone has to decide these are the same thing — and encode that decision consistently, every time the data refreshes.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4371975"/>
            <a:ext cx="8229600" cy="420624"/>
          </a:xfrm>
          <a:prstGeom prst="rect">
            <a:avLst/>
          </a:prstGeom>
          <a:solidFill>
            <a:srgbClr val="102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58368" y="4463415"/>
            <a:ext cx="7827264" cy="157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8"/>
              </a:lnSpc>
            </a:pPr>
            <a:r>
              <a:rPr sz="950" b="0">
                <a:solidFill>
                  <a:srgbClr val="FFFFFF"/>
                </a:solidFill>
                <a:latin typeface="Inter"/>
              </a:rPr>
              <a:t>Every one of these is a decision. Made by hand, they are slow, inconsistent between people, and hard to reproduce six months later.</a:t>
            </a:r>
          </a:p>
        </p:txBody>
      </p: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D38ABA80-2256-FCBD-DCB9-4313C39F79FB}"/>
              </a:ext>
            </a:extLst>
          </p:cNvPr>
          <p:cNvCxnSpPr>
            <a:cxnSpLocks/>
            <a:stCxn id="7" idx="3"/>
            <a:endCxn id="32" idx="1"/>
          </p:cNvCxnSpPr>
          <p:nvPr/>
        </p:nvCxnSpPr>
        <p:spPr>
          <a:xfrm>
            <a:off x="2331719" y="1711071"/>
            <a:ext cx="521209" cy="969265"/>
          </a:xfrm>
          <a:prstGeom prst="bentConnector3">
            <a:avLst>
              <a:gd name="adj1" fmla="val 50000"/>
            </a:avLst>
          </a:prstGeom>
          <a:solidFill>
            <a:srgbClr val="DB509E"/>
          </a:solidFill>
          <a:ln>
            <a:solidFill>
              <a:srgbClr val="DB4F9E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9E232E9D-81FA-63FD-28E7-4A52ECB12570}"/>
              </a:ext>
            </a:extLst>
          </p:cNvPr>
          <p:cNvCxnSpPr>
            <a:cxnSpLocks/>
            <a:stCxn id="12" idx="3"/>
            <a:endCxn id="32" idx="1"/>
          </p:cNvCxnSpPr>
          <p:nvPr/>
        </p:nvCxnSpPr>
        <p:spPr>
          <a:xfrm>
            <a:off x="2331719" y="2195703"/>
            <a:ext cx="521209" cy="484633"/>
          </a:xfrm>
          <a:prstGeom prst="bentConnector3">
            <a:avLst>
              <a:gd name="adj1" fmla="val 50000"/>
            </a:avLst>
          </a:prstGeom>
          <a:solidFill>
            <a:srgbClr val="DB509E"/>
          </a:solidFill>
          <a:ln>
            <a:solidFill>
              <a:srgbClr val="DB4F9E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4C05BF6D-7055-1253-3B64-93CF3974F510}"/>
              </a:ext>
            </a:extLst>
          </p:cNvPr>
          <p:cNvCxnSpPr>
            <a:cxnSpLocks/>
            <a:stCxn id="17" idx="3"/>
            <a:endCxn id="32" idx="1"/>
          </p:cNvCxnSpPr>
          <p:nvPr/>
        </p:nvCxnSpPr>
        <p:spPr>
          <a:xfrm>
            <a:off x="2331719" y="2680334"/>
            <a:ext cx="521209" cy="2"/>
          </a:xfrm>
          <a:prstGeom prst="bentConnector3">
            <a:avLst>
              <a:gd name="adj1" fmla="val 50000"/>
            </a:avLst>
          </a:prstGeom>
          <a:solidFill>
            <a:srgbClr val="DB509E"/>
          </a:solidFill>
          <a:ln>
            <a:solidFill>
              <a:srgbClr val="DB4F9E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68" name="Elbow Connector 67">
            <a:extLst>
              <a:ext uri="{FF2B5EF4-FFF2-40B4-BE49-F238E27FC236}">
                <a16:creationId xmlns:a16="http://schemas.microsoft.com/office/drawing/2014/main" id="{44499147-C9C1-89A0-8F0A-EBAD13BB728F}"/>
              </a:ext>
            </a:extLst>
          </p:cNvPr>
          <p:cNvCxnSpPr>
            <a:cxnSpLocks/>
            <a:stCxn id="22" idx="3"/>
            <a:endCxn id="32" idx="1"/>
          </p:cNvCxnSpPr>
          <p:nvPr/>
        </p:nvCxnSpPr>
        <p:spPr>
          <a:xfrm flipV="1">
            <a:off x="2331719" y="2680336"/>
            <a:ext cx="521209" cy="484631"/>
          </a:xfrm>
          <a:prstGeom prst="bentConnector3">
            <a:avLst>
              <a:gd name="adj1" fmla="val 50000"/>
            </a:avLst>
          </a:prstGeom>
          <a:solidFill>
            <a:srgbClr val="DB509E"/>
          </a:solidFill>
          <a:ln>
            <a:solidFill>
              <a:srgbClr val="DB4F9E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71" name="Elbow Connector 70">
            <a:extLst>
              <a:ext uri="{FF2B5EF4-FFF2-40B4-BE49-F238E27FC236}">
                <a16:creationId xmlns:a16="http://schemas.microsoft.com/office/drawing/2014/main" id="{E0CA7623-C0B5-A8FB-4083-A66A31CE19EB}"/>
              </a:ext>
            </a:extLst>
          </p:cNvPr>
          <p:cNvCxnSpPr>
            <a:cxnSpLocks/>
            <a:stCxn id="27" idx="3"/>
            <a:endCxn id="32" idx="1"/>
          </p:cNvCxnSpPr>
          <p:nvPr/>
        </p:nvCxnSpPr>
        <p:spPr>
          <a:xfrm flipV="1">
            <a:off x="2331719" y="2680336"/>
            <a:ext cx="521209" cy="969263"/>
          </a:xfrm>
          <a:prstGeom prst="bentConnector3">
            <a:avLst>
              <a:gd name="adj1" fmla="val 50000"/>
            </a:avLst>
          </a:prstGeom>
          <a:solidFill>
            <a:srgbClr val="DB509E"/>
          </a:solidFill>
          <a:ln>
            <a:solidFill>
              <a:srgbClr val="DB4F9E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sp>
        <p:nvSpPr>
          <p:cNvPr id="76" name="Title 75">
            <a:extLst>
              <a:ext uri="{FF2B5EF4-FFF2-40B4-BE49-F238E27FC236}">
                <a16:creationId xmlns:a16="http://schemas.microsoft.com/office/drawing/2014/main" id="{EFF32E70-BCA0-1406-697F-B3CFC7360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1813"/>
            <a:ext cx="7315200" cy="666849"/>
          </a:xfrm>
        </p:spPr>
        <p:txBody>
          <a:bodyPr/>
          <a:lstStyle/>
          <a:p>
            <a:pPr>
              <a:lnSpc>
                <a:spcPts val="2592"/>
              </a:lnSpc>
            </a:pPr>
            <a:r>
              <a:rPr lang="en-US" dirty="0"/>
              <a:t>The same measurement, under </a:t>
            </a:r>
            <a:r>
              <a:rPr lang="en-US" dirty="0">
                <a:solidFill>
                  <a:srgbClr val="DB509E"/>
                </a:solidFill>
              </a:rPr>
              <a:t>five different names.</a:t>
            </a:r>
            <a:endParaRPr lang="en-AE" dirty="0"/>
          </a:p>
        </p:txBody>
      </p:sp>
      <p:sp>
        <p:nvSpPr>
          <p:cNvPr id="74" name="Footer Placeholder 73">
            <a:extLst>
              <a:ext uri="{FF2B5EF4-FFF2-40B4-BE49-F238E27FC236}">
                <a16:creationId xmlns:a16="http://schemas.microsoft.com/office/drawing/2014/main" id="{C9DF85D7-3D26-5B16-23A6-D75AA1249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© Cognirise 2026. All Rights Reserved.</a:t>
            </a:r>
          </a:p>
        </p:txBody>
      </p:sp>
      <p:sp>
        <p:nvSpPr>
          <p:cNvPr id="75" name="Slide Number Placeholder 74">
            <a:extLst>
              <a:ext uri="{FF2B5EF4-FFF2-40B4-BE49-F238E27FC236}">
                <a16:creationId xmlns:a16="http://schemas.microsoft.com/office/drawing/2014/main" id="{C8184A1C-080B-8DC5-1252-FE58D0611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sp>
        <p:nvSpPr>
          <p:cNvPr id="77" name="Text Placeholder 76">
            <a:extLst>
              <a:ext uri="{FF2B5EF4-FFF2-40B4-BE49-F238E27FC236}">
                <a16:creationId xmlns:a16="http://schemas.microsoft.com/office/drawing/2014/main" id="{12AABAAC-88E6-E311-515E-ADB8A3591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WHY ASSET &amp; FLEET DATA IS HARD TO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57200" y="1746504"/>
            <a:ext cx="1455724" cy="1417320"/>
          </a:xfrm>
          <a:prstGeom prst="rect">
            <a:avLst/>
          </a:prstGeom>
          <a:solidFill>
            <a:schemeClr val="bg1"/>
          </a:solidFill>
          <a:ln w="9525">
            <a:solidFill>
              <a:srgbClr val="CBD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4" y="1965960"/>
            <a:ext cx="116311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28"/>
              </a:lnSpc>
            </a:pPr>
            <a:r>
              <a:rPr sz="1400" b="0">
                <a:solidFill>
                  <a:srgbClr val="102957"/>
                </a:solidFill>
                <a:latin typeface="Comfortaa Medium"/>
              </a:rPr>
              <a:t>Raw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2459736"/>
            <a:ext cx="116311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24"/>
              </a:lnSpc>
            </a:pPr>
            <a:r>
              <a:rPr sz="950" b="0">
                <a:solidFill>
                  <a:srgbClr val="60708D"/>
                </a:solidFill>
                <a:latin typeface="Inter"/>
              </a:rPr>
              <a:t>Files, warehouses, streams, telemetry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58644" y="2439619"/>
            <a:ext cx="146304" cy="32004"/>
          </a:xfrm>
          <a:prstGeom prst="rect">
            <a:avLst/>
          </a:prstGeom>
          <a:solidFill>
            <a:srgbClr val="DB5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150668" y="1746504"/>
            <a:ext cx="1455724" cy="1417320"/>
          </a:xfrm>
          <a:prstGeom prst="rect">
            <a:avLst/>
          </a:prstGeom>
          <a:solidFill>
            <a:srgbClr val="102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96972" y="1965960"/>
            <a:ext cx="116311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28"/>
              </a:lnSpc>
            </a:pPr>
            <a:r>
              <a:rPr sz="1400" b="0">
                <a:solidFill>
                  <a:srgbClr val="FFFFFF"/>
                </a:solidFill>
                <a:latin typeface="Comfortaa Medium"/>
              </a:rPr>
              <a:t>AutoData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96972" y="2459736"/>
            <a:ext cx="116311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24"/>
              </a:lnSpc>
            </a:pPr>
            <a:r>
              <a:rPr sz="950" b="0">
                <a:solidFill>
                  <a:srgbClr val="DCE4F0"/>
                </a:solidFill>
                <a:latin typeface="Inter"/>
              </a:rPr>
              <a:t>Automated data preparation &amp; synthesis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2113" y="2439619"/>
            <a:ext cx="146304" cy="32004"/>
          </a:xfrm>
          <a:prstGeom prst="rect">
            <a:avLst/>
          </a:prstGeom>
          <a:solidFill>
            <a:srgbClr val="DB5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844137" y="1746504"/>
            <a:ext cx="1455724" cy="1417320"/>
          </a:xfrm>
          <a:prstGeom prst="rect">
            <a:avLst/>
          </a:prstGeom>
          <a:solidFill>
            <a:schemeClr val="bg1"/>
          </a:solidFill>
          <a:ln w="9525">
            <a:solidFill>
              <a:srgbClr val="CBD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990441" y="1965960"/>
            <a:ext cx="116311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28"/>
              </a:lnSpc>
            </a:pPr>
            <a:r>
              <a:rPr sz="1400" b="0">
                <a:solidFill>
                  <a:srgbClr val="102957"/>
                </a:solidFill>
                <a:latin typeface="Comfortaa Medium"/>
              </a:rPr>
              <a:t>Your ML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0441" y="2459736"/>
            <a:ext cx="116311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24"/>
              </a:lnSpc>
            </a:pPr>
            <a:r>
              <a:rPr sz="950" b="0">
                <a:solidFill>
                  <a:srgbClr val="60708D"/>
                </a:solidFill>
                <a:latin typeface="Inter"/>
              </a:rPr>
              <a:t>Existing training &amp; AutoML infrastructure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5582" y="2439619"/>
            <a:ext cx="146304" cy="32004"/>
          </a:xfrm>
          <a:prstGeom prst="rect">
            <a:avLst/>
          </a:prstGeom>
          <a:solidFill>
            <a:srgbClr val="DB5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537606" y="1746504"/>
            <a:ext cx="1455724" cy="1417320"/>
          </a:xfrm>
          <a:prstGeom prst="rect">
            <a:avLst/>
          </a:prstGeom>
          <a:solidFill>
            <a:schemeClr val="bg1"/>
          </a:solidFill>
          <a:ln w="9525">
            <a:solidFill>
              <a:srgbClr val="CBD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83910" y="1965960"/>
            <a:ext cx="116311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28"/>
              </a:lnSpc>
            </a:pPr>
            <a:r>
              <a:rPr sz="1400" b="0">
                <a:solidFill>
                  <a:srgbClr val="102957"/>
                </a:solidFill>
                <a:latin typeface="Comfortaa Medium"/>
              </a:rPr>
              <a:t>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3910" y="2459736"/>
            <a:ext cx="116311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24"/>
              </a:lnSpc>
            </a:pPr>
            <a:r>
              <a:rPr sz="950" b="0">
                <a:solidFill>
                  <a:srgbClr val="60708D"/>
                </a:solidFill>
                <a:latin typeface="Inter"/>
              </a:rPr>
              <a:t>Higher accuracy from better inputs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39051" y="2439619"/>
            <a:ext cx="146304" cy="32004"/>
          </a:xfrm>
          <a:prstGeom prst="rect">
            <a:avLst/>
          </a:prstGeom>
          <a:solidFill>
            <a:srgbClr val="DB5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231075" y="1746504"/>
            <a:ext cx="1455724" cy="1417320"/>
          </a:xfrm>
          <a:prstGeom prst="rect">
            <a:avLst/>
          </a:prstGeom>
          <a:solidFill>
            <a:schemeClr val="bg1"/>
          </a:solidFill>
          <a:ln w="9525">
            <a:solidFill>
              <a:srgbClr val="CBD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77379" y="1965960"/>
            <a:ext cx="116311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28"/>
              </a:lnSpc>
            </a:pPr>
            <a:r>
              <a:rPr sz="1400" b="0">
                <a:solidFill>
                  <a:srgbClr val="102957"/>
                </a:solidFill>
                <a:latin typeface="Comfortaa Medium"/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77379" y="2459736"/>
            <a:ext cx="116311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24"/>
              </a:lnSpc>
            </a:pPr>
            <a:r>
              <a:rPr sz="950" b="0">
                <a:solidFill>
                  <a:srgbClr val="60708D"/>
                </a:solidFill>
                <a:latin typeface="Inter"/>
              </a:rPr>
              <a:t>Same transformations replayed at inference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419856"/>
            <a:ext cx="2645664" cy="1143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3566160"/>
            <a:ext cx="2279904" cy="1847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54"/>
              </a:lnSpc>
            </a:pPr>
            <a:r>
              <a:rPr sz="1200" b="0">
                <a:solidFill>
                  <a:srgbClr val="102957"/>
                </a:solidFill>
                <a:latin typeface="Comfortaa Medium"/>
              </a:rPr>
              <a:t>Runs inside your boundary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840480"/>
            <a:ext cx="2279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96"/>
              </a:lnSpc>
            </a:pPr>
            <a:r>
              <a:rPr sz="1000" b="0">
                <a:solidFill>
                  <a:srgbClr val="60708D"/>
                </a:solidFill>
                <a:latin typeface="Inter"/>
              </a:rPr>
              <a:t>VPC, on-premise or cloud-hosted — sensitive data remains under the client's control.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9168" y="3419856"/>
            <a:ext cx="2645664" cy="1143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32048" y="3566160"/>
            <a:ext cx="2279904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1250" b="0">
                <a:solidFill>
                  <a:srgbClr val="102957"/>
                </a:solidFill>
                <a:latin typeface="Comfortaa Medium"/>
              </a:rPr>
              <a:t>Deterministic by design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32048" y="3840480"/>
            <a:ext cx="2279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96"/>
              </a:lnSpc>
            </a:pPr>
            <a:r>
              <a:rPr sz="1000" b="0">
                <a:solidFill>
                  <a:srgbClr val="60708D"/>
                </a:solidFill>
                <a:latin typeface="Inter"/>
              </a:rPr>
              <a:t>Every stage persists a metadata artifact, replayed verbatim at inference. Zero train-serve skew.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41136" y="3419856"/>
            <a:ext cx="2645664" cy="1143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24016" y="3566160"/>
            <a:ext cx="2279904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1250" b="0">
                <a:solidFill>
                  <a:srgbClr val="102957"/>
                </a:solidFill>
                <a:latin typeface="Comfortaa Medium"/>
              </a:rPr>
              <a:t>Plugs into what you have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24016" y="3840480"/>
            <a:ext cx="2279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96"/>
              </a:lnSpc>
            </a:pPr>
            <a:r>
              <a:rPr sz="1000" b="0">
                <a:solidFill>
                  <a:srgbClr val="60708D"/>
                </a:solidFill>
                <a:latin typeface="Inter"/>
              </a:rPr>
              <a:t>Native connectors to Snowflake, BigQuery, S3, Kafka, Databricks and more — plus REST API and Python client.</a:t>
            </a:r>
          </a:p>
        </p:txBody>
      </p:sp>
      <p:sp>
        <p:nvSpPr>
          <p:cNvPr id="39" name="Title 38">
            <a:extLst>
              <a:ext uri="{FF2B5EF4-FFF2-40B4-BE49-F238E27FC236}">
                <a16:creationId xmlns:a16="http://schemas.microsoft.com/office/drawing/2014/main" id="{DAC5D038-34B4-125B-1370-97FFFF2A7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1813"/>
            <a:ext cx="7315200" cy="369332"/>
          </a:xfrm>
        </p:spPr>
        <p:txBody>
          <a:bodyPr/>
          <a:lstStyle/>
          <a:p>
            <a:r>
              <a:rPr lang="en-US" dirty="0"/>
              <a:t>Where </a:t>
            </a:r>
            <a:r>
              <a:rPr lang="en-US" dirty="0" err="1"/>
              <a:t>AutoData</a:t>
            </a:r>
            <a:r>
              <a:rPr lang="en-US" dirty="0"/>
              <a:t> fits in your </a:t>
            </a:r>
            <a:r>
              <a:rPr lang="en-US" dirty="0">
                <a:solidFill>
                  <a:srgbClr val="DB509E"/>
                </a:solidFill>
              </a:rPr>
              <a:t>AI stack.</a:t>
            </a:r>
            <a:endParaRPr lang="en-AE" dirty="0"/>
          </a:p>
        </p:txBody>
      </p:sp>
      <p:sp>
        <p:nvSpPr>
          <p:cNvPr id="37" name="Footer Placeholder 36">
            <a:extLst>
              <a:ext uri="{FF2B5EF4-FFF2-40B4-BE49-F238E27FC236}">
                <a16:creationId xmlns:a16="http://schemas.microsoft.com/office/drawing/2014/main" id="{E65D09F0-838A-4F3F-46F1-C948D30FC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© Cognirise 2026. All Rights Reserved.</a:t>
            </a:r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E980D206-4A51-C74D-7467-3A8A04FC4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C6406CF6-B3AC-F9B2-1DBA-7A33164469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AUTODATA OVERVIEW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70B31F12-775E-AC69-CAC7-2F5E5A5830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899478"/>
            <a:ext cx="7315200" cy="153888"/>
          </a:xfrm>
        </p:spPr>
        <p:txBody>
          <a:bodyPr/>
          <a:lstStyle/>
          <a:p>
            <a:r>
              <a:rPr lang="en-US" dirty="0" err="1">
                <a:solidFill>
                  <a:srgbClr val="102957"/>
                </a:solidFill>
              </a:rPr>
              <a:t>AutoData</a:t>
            </a:r>
            <a:r>
              <a:rPr lang="en-US" dirty="0">
                <a:solidFill>
                  <a:srgbClr val="102957"/>
                </a:solidFill>
              </a:rPr>
              <a:t> is the model-readiness layer. It complements your existing platforms — it does not replace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57200" y="1379728"/>
            <a:ext cx="1947672" cy="1321307"/>
          </a:xfrm>
          <a:prstGeom prst="rect">
            <a:avLst/>
          </a:prstGeom>
          <a:solidFill>
            <a:schemeClr val="bg1"/>
          </a:solidFill>
          <a:ln w="9525">
            <a:solidFill>
              <a:srgbClr val="CBD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51176" y="1379728"/>
            <a:ext cx="1947672" cy="1321307"/>
          </a:xfrm>
          <a:prstGeom prst="rect">
            <a:avLst/>
          </a:prstGeom>
          <a:solidFill>
            <a:schemeClr val="bg1"/>
          </a:solidFill>
          <a:ln w="9525">
            <a:solidFill>
              <a:srgbClr val="CBD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645152" y="1379728"/>
            <a:ext cx="1947672" cy="1321307"/>
          </a:xfrm>
          <a:prstGeom prst="rect">
            <a:avLst/>
          </a:prstGeom>
          <a:solidFill>
            <a:schemeClr val="bg1"/>
          </a:solidFill>
          <a:ln w="9525">
            <a:solidFill>
              <a:srgbClr val="CBD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739128" y="1379728"/>
            <a:ext cx="1947672" cy="1321307"/>
          </a:xfrm>
          <a:prstGeom prst="rect">
            <a:avLst/>
          </a:prstGeom>
          <a:solidFill>
            <a:schemeClr val="bg1"/>
          </a:solidFill>
          <a:ln w="9525">
            <a:solidFill>
              <a:srgbClr val="CBD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57200" y="2847339"/>
            <a:ext cx="1947672" cy="1321307"/>
          </a:xfrm>
          <a:prstGeom prst="rect">
            <a:avLst/>
          </a:prstGeom>
          <a:solidFill>
            <a:schemeClr val="bg1"/>
          </a:solidFill>
          <a:ln w="9525">
            <a:solidFill>
              <a:srgbClr val="CBD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2551176" y="2847339"/>
            <a:ext cx="1947672" cy="1321307"/>
          </a:xfrm>
          <a:prstGeom prst="rect">
            <a:avLst/>
          </a:prstGeom>
          <a:solidFill>
            <a:schemeClr val="bg1"/>
          </a:solidFill>
          <a:ln w="9525">
            <a:solidFill>
              <a:srgbClr val="CBD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645152" y="2847339"/>
            <a:ext cx="1947672" cy="1321307"/>
          </a:xfrm>
          <a:prstGeom prst="rect">
            <a:avLst/>
          </a:prstGeom>
          <a:solidFill>
            <a:schemeClr val="bg1"/>
          </a:solidFill>
          <a:ln w="9525">
            <a:solidFill>
              <a:srgbClr val="CBD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6739128" y="2847339"/>
            <a:ext cx="1947672" cy="1321307"/>
          </a:xfrm>
          <a:prstGeom prst="rect">
            <a:avLst/>
          </a:prstGeom>
          <a:solidFill>
            <a:schemeClr val="bg1"/>
          </a:solidFill>
          <a:ln w="9525">
            <a:solidFill>
              <a:srgbClr val="CBD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94FC5169-2CBF-E0B3-D8F5-5DF841968FD9}"/>
              </a:ext>
            </a:extLst>
          </p:cNvPr>
          <p:cNvSpPr/>
          <p:nvPr/>
        </p:nvSpPr>
        <p:spPr>
          <a:xfrm>
            <a:off x="3015093" y="1547477"/>
            <a:ext cx="545651" cy="204309"/>
          </a:xfrm>
          <a:prstGeom prst="roundRect">
            <a:avLst>
              <a:gd name="adj" fmla="val 50000"/>
            </a:avLst>
          </a:prstGeom>
          <a:solidFill>
            <a:srgbClr val="102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3791866C-D805-BD50-A64A-71C8D0DA03E9}"/>
              </a:ext>
            </a:extLst>
          </p:cNvPr>
          <p:cNvSpPr/>
          <p:nvPr/>
        </p:nvSpPr>
        <p:spPr>
          <a:xfrm>
            <a:off x="5114783" y="1547477"/>
            <a:ext cx="545651" cy="204309"/>
          </a:xfrm>
          <a:prstGeom prst="roundRect">
            <a:avLst>
              <a:gd name="adj" fmla="val 50000"/>
            </a:avLst>
          </a:prstGeom>
          <a:solidFill>
            <a:srgbClr val="102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38305B14-DE49-F717-7C94-FECE233D6ECF}"/>
              </a:ext>
            </a:extLst>
          </p:cNvPr>
          <p:cNvSpPr/>
          <p:nvPr/>
        </p:nvSpPr>
        <p:spPr>
          <a:xfrm>
            <a:off x="7208758" y="1547477"/>
            <a:ext cx="545651" cy="204309"/>
          </a:xfrm>
          <a:prstGeom prst="roundRect">
            <a:avLst>
              <a:gd name="adj" fmla="val 50000"/>
            </a:avLst>
          </a:prstGeom>
          <a:solidFill>
            <a:srgbClr val="102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6E6033BF-94F6-EC6E-68EF-555E5E829231}"/>
              </a:ext>
            </a:extLst>
          </p:cNvPr>
          <p:cNvSpPr/>
          <p:nvPr/>
        </p:nvSpPr>
        <p:spPr>
          <a:xfrm>
            <a:off x="915403" y="3017790"/>
            <a:ext cx="545651" cy="204309"/>
          </a:xfrm>
          <a:prstGeom prst="roundRect">
            <a:avLst>
              <a:gd name="adj" fmla="val 50000"/>
            </a:avLst>
          </a:prstGeom>
          <a:solidFill>
            <a:srgbClr val="102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E91A3A6A-DACF-E686-F0BF-A089FC97A05A}"/>
              </a:ext>
            </a:extLst>
          </p:cNvPr>
          <p:cNvSpPr/>
          <p:nvPr/>
        </p:nvSpPr>
        <p:spPr>
          <a:xfrm>
            <a:off x="3015093" y="3017790"/>
            <a:ext cx="545651" cy="204309"/>
          </a:xfrm>
          <a:prstGeom prst="roundRect">
            <a:avLst>
              <a:gd name="adj" fmla="val 50000"/>
            </a:avLst>
          </a:prstGeom>
          <a:solidFill>
            <a:srgbClr val="102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F9906209-FB45-294C-F605-C8FCCA86165A}"/>
              </a:ext>
            </a:extLst>
          </p:cNvPr>
          <p:cNvSpPr/>
          <p:nvPr/>
        </p:nvSpPr>
        <p:spPr>
          <a:xfrm>
            <a:off x="5114783" y="3017790"/>
            <a:ext cx="545651" cy="204309"/>
          </a:xfrm>
          <a:prstGeom prst="roundRect">
            <a:avLst>
              <a:gd name="adj" fmla="val 50000"/>
            </a:avLst>
          </a:prstGeom>
          <a:solidFill>
            <a:srgbClr val="102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8FCD1078-0697-02D8-4834-A4864287503F}"/>
              </a:ext>
            </a:extLst>
          </p:cNvPr>
          <p:cNvSpPr/>
          <p:nvPr/>
        </p:nvSpPr>
        <p:spPr>
          <a:xfrm>
            <a:off x="7208758" y="3017790"/>
            <a:ext cx="545651" cy="204309"/>
          </a:xfrm>
          <a:prstGeom prst="roundRect">
            <a:avLst>
              <a:gd name="adj" fmla="val 50000"/>
            </a:avLst>
          </a:prstGeom>
          <a:solidFill>
            <a:srgbClr val="102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A909B8A4-79A2-BC2F-9B73-531111C273DE}"/>
              </a:ext>
            </a:extLst>
          </p:cNvPr>
          <p:cNvSpPr/>
          <p:nvPr/>
        </p:nvSpPr>
        <p:spPr>
          <a:xfrm>
            <a:off x="915403" y="1547477"/>
            <a:ext cx="545651" cy="204309"/>
          </a:xfrm>
          <a:prstGeom prst="roundRect">
            <a:avLst>
              <a:gd name="adj" fmla="val 50000"/>
            </a:avLst>
          </a:prstGeom>
          <a:solidFill>
            <a:srgbClr val="102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" name="Rectangle 7"/>
          <p:cNvSpPr/>
          <p:nvPr/>
        </p:nvSpPr>
        <p:spPr>
          <a:xfrm>
            <a:off x="457200" y="1379728"/>
            <a:ext cx="1947672" cy="20116"/>
          </a:xfrm>
          <a:prstGeom prst="rect">
            <a:avLst/>
          </a:prstGeom>
          <a:solidFill>
            <a:srgbClr val="102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merge-38b38f6f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539903"/>
            <a:ext cx="219456" cy="219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19425" y="1576479"/>
            <a:ext cx="33760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2"/>
              </a:lnSpc>
            </a:pPr>
            <a:r>
              <a:rPr sz="900" b="1" spc="100" dirty="0">
                <a:solidFill>
                  <a:srgbClr val="FFFFFF"/>
                </a:solidFill>
                <a:latin typeface="Inter"/>
              </a:rPr>
              <a:t>DHM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2" y="1507743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84"/>
              </a:lnSpc>
            </a:pPr>
            <a:r>
              <a:rPr sz="1300" b="0">
                <a:solidFill>
                  <a:srgbClr val="CBD3E1"/>
                </a:solidFill>
                <a:latin typeface="Comfortaa Medium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1891791"/>
            <a:ext cx="1655063" cy="170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sz="1000" b="0" dirty="0">
                <a:solidFill>
                  <a:srgbClr val="102957"/>
                </a:solidFill>
                <a:latin typeface="Comfortaa Medium"/>
              </a:rPr>
              <a:t>Data harmonization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2162683"/>
            <a:ext cx="1655063" cy="409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80"/>
              </a:lnSpc>
            </a:pPr>
            <a:r>
              <a:rPr sz="700" b="0" dirty="0">
                <a:solidFill>
                  <a:srgbClr val="60708D"/>
                </a:solidFill>
                <a:latin typeface="Inter"/>
              </a:rPr>
              <a:t>Resolves vendor tags, units and time</a:t>
            </a:r>
            <a:r>
              <a:rPr lang="en-US" sz="700" b="0" dirty="0">
                <a:solidFill>
                  <a:srgbClr val="60708D"/>
                </a:solidFill>
                <a:latin typeface="Inter"/>
              </a:rPr>
              <a:t> </a:t>
            </a:r>
            <a:r>
              <a:rPr sz="700" b="0" dirty="0">
                <a:solidFill>
                  <a:srgbClr val="60708D"/>
                </a:solidFill>
                <a:latin typeface="Inter"/>
              </a:rPr>
              <a:t>bases onto one canonical name per measurement, fleet-wide.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51176" y="1379728"/>
            <a:ext cx="1947672" cy="20116"/>
          </a:xfrm>
          <a:prstGeom prst="rect">
            <a:avLst/>
          </a:prstGeom>
          <a:solidFill>
            <a:srgbClr val="102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check-circle-f9dc81f3b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80" y="1539903"/>
            <a:ext cx="219456" cy="21945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131071" y="1576479"/>
            <a:ext cx="31369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2"/>
              </a:lnSpc>
            </a:pPr>
            <a:r>
              <a:rPr sz="900" b="1" spc="100">
                <a:solidFill>
                  <a:srgbClr val="FFFFFF"/>
                </a:solidFill>
                <a:latin typeface="Inter"/>
              </a:rPr>
              <a:t>DCV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33087" y="1507743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84"/>
              </a:lnSpc>
            </a:pPr>
            <a:r>
              <a:rPr sz="1300" b="0">
                <a:solidFill>
                  <a:srgbClr val="CBD3E1"/>
                </a:solidFill>
                <a:latin typeface="Comfortaa Medium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1891791"/>
            <a:ext cx="1655063" cy="166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sz="1000" b="0">
                <a:solidFill>
                  <a:srgbClr val="102957"/>
                </a:solidFill>
                <a:latin typeface="Comfortaa Medium"/>
              </a:rPr>
              <a:t>Completion &amp;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2162683"/>
            <a:ext cx="1655063" cy="4124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80"/>
              </a:lnSpc>
            </a:pPr>
            <a:r>
              <a:rPr sz="700" b="0">
                <a:solidFill>
                  <a:srgbClr val="60708D"/>
                </a:solidFill>
                <a:latin typeface="Inter"/>
              </a:rPr>
              <a:t>Flags and corrects logically inconsistent or anomalous cells before any transformation.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45152" y="1379728"/>
            <a:ext cx="1947672" cy="20116"/>
          </a:xfrm>
          <a:prstGeom prst="rect">
            <a:avLst/>
          </a:prstGeom>
          <a:solidFill>
            <a:srgbClr val="102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broom-354471d3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1539903"/>
            <a:ext cx="219456" cy="21945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239616" y="1576479"/>
            <a:ext cx="295985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2"/>
              </a:lnSpc>
            </a:pPr>
            <a:r>
              <a:rPr sz="900" b="1" spc="100">
                <a:solidFill>
                  <a:srgbClr val="FFFFFF"/>
                </a:solidFill>
                <a:latin typeface="Inter"/>
              </a:rPr>
              <a:t>DTC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27064" y="1507743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84"/>
              </a:lnSpc>
            </a:pPr>
            <a:r>
              <a:rPr sz="1300" b="0">
                <a:solidFill>
                  <a:srgbClr val="CBD3E1"/>
                </a:solidFill>
                <a:latin typeface="Comfortaa Medium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91456" y="1891791"/>
            <a:ext cx="1655063" cy="170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sz="1000" b="0">
                <a:solidFill>
                  <a:srgbClr val="102957"/>
                </a:solidFill>
                <a:latin typeface="Comfortaa Medium"/>
              </a:rPr>
              <a:t>Text cleaning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1456" y="2162683"/>
            <a:ext cx="1655063" cy="371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600" b="0">
                <a:solidFill>
                  <a:srgbClr val="60708D"/>
                </a:solidFill>
                <a:latin typeface="Inter"/>
              </a:rPr>
              <a:t>Normalizes currency strings, mixed date formats and boolean pairs; excludes ID columns; applies deduplication.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39128" y="1379728"/>
            <a:ext cx="1947672" cy="20116"/>
          </a:xfrm>
          <a:prstGeom prst="rect">
            <a:avLst/>
          </a:prstGeom>
          <a:solidFill>
            <a:srgbClr val="102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hash-45a520133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5432" y="1539903"/>
            <a:ext cx="219456" cy="21945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330227" y="1576479"/>
            <a:ext cx="302713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2"/>
              </a:lnSpc>
            </a:pPr>
            <a:r>
              <a:rPr sz="900" b="1" spc="100">
                <a:solidFill>
                  <a:srgbClr val="FFFFFF"/>
                </a:solidFill>
                <a:latin typeface="Inter"/>
              </a:rPr>
              <a:t>DTN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1507743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84"/>
              </a:lnSpc>
            </a:pPr>
            <a:r>
              <a:rPr sz="1300" b="0">
                <a:solidFill>
                  <a:srgbClr val="CBD3E1"/>
                </a:solidFill>
                <a:latin typeface="Comfortaa Medium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85432" y="1891791"/>
            <a:ext cx="1655063" cy="170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sz="1000" b="0" dirty="0">
                <a:solidFill>
                  <a:srgbClr val="102957"/>
                </a:solidFill>
                <a:latin typeface="Comfortaa Medium"/>
              </a:rPr>
              <a:t>Numericalization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85432" y="2162683"/>
            <a:ext cx="1655063" cy="4124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80"/>
              </a:lnSpc>
            </a:pPr>
            <a:r>
              <a:rPr sz="700" b="0">
                <a:solidFill>
                  <a:srgbClr val="60708D"/>
                </a:solidFill>
                <a:latin typeface="Inter"/>
              </a:rPr>
              <a:t>Semantic typing per column — encoding, temporal decomposition, TF-IDF and more.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2847339"/>
            <a:ext cx="1947672" cy="20116"/>
          </a:xfrm>
          <a:prstGeom prst="rect">
            <a:avLst/>
          </a:prstGeom>
          <a:solidFill>
            <a:srgbClr val="102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grid-dots-549b1e130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" y="3010216"/>
            <a:ext cx="219456" cy="21945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19425" y="3046792"/>
            <a:ext cx="33760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2"/>
              </a:lnSpc>
            </a:pPr>
            <a:r>
              <a:rPr sz="900" b="1" spc="100">
                <a:solidFill>
                  <a:srgbClr val="FFFFFF"/>
                </a:solidFill>
                <a:latin typeface="Inter"/>
              </a:rPr>
              <a:t>MDH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39112" y="2975356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84"/>
              </a:lnSpc>
            </a:pPr>
            <a:r>
              <a:rPr sz="1300" b="0">
                <a:solidFill>
                  <a:srgbClr val="CBD3E1"/>
                </a:solidFill>
                <a:latin typeface="Comfortaa Medium"/>
              </a:rPr>
              <a:t>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" y="3359404"/>
            <a:ext cx="1655063" cy="170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sz="1000" b="0">
                <a:solidFill>
                  <a:srgbClr val="102957"/>
                </a:solidFill>
                <a:latin typeface="Comfortaa Medium"/>
              </a:rPr>
              <a:t>Missing data handler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" y="3630294"/>
            <a:ext cx="1655063" cy="4124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80"/>
              </a:lnSpc>
            </a:pPr>
            <a:r>
              <a:rPr sz="700" b="0" dirty="0">
                <a:solidFill>
                  <a:srgbClr val="60708D"/>
                </a:solidFill>
                <a:latin typeface="Inter"/>
              </a:rPr>
              <a:t>Per-column imputation strategy from type, missingness rate and correlations.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51176" y="2847339"/>
            <a:ext cx="1947672" cy="20116"/>
          </a:xfrm>
          <a:prstGeom prst="rect">
            <a:avLst/>
          </a:prstGeom>
          <a:solidFill>
            <a:srgbClr val="102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sliders-ef2b1445a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7480" y="3010216"/>
            <a:ext cx="219456" cy="219456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3136775" y="3046792"/>
            <a:ext cx="30228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2"/>
              </a:lnSpc>
            </a:pPr>
            <a:r>
              <a:rPr sz="900" b="1" spc="100">
                <a:solidFill>
                  <a:srgbClr val="FFFFFF"/>
                </a:solidFill>
                <a:latin typeface="Inter"/>
              </a:rPr>
              <a:t>CDS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33087" y="2975356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84"/>
              </a:lnSpc>
            </a:pPr>
            <a:r>
              <a:rPr sz="1300" b="0">
                <a:solidFill>
                  <a:srgbClr val="CBD3E1"/>
                </a:solidFill>
                <a:latin typeface="Comfortaa Medium"/>
              </a:rPr>
              <a:t>06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97480" y="3359404"/>
            <a:ext cx="1655063" cy="170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sz="1000" b="0">
                <a:solidFill>
                  <a:srgbClr val="102957"/>
                </a:solidFill>
                <a:latin typeface="Comfortaa Medium"/>
              </a:rPr>
              <a:t>Custom data scaler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97480" y="3630294"/>
            <a:ext cx="1655063" cy="4124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80"/>
              </a:lnSpc>
            </a:pPr>
            <a:r>
              <a:rPr sz="700" b="0">
                <a:solidFill>
                  <a:srgbClr val="60708D"/>
                </a:solidFill>
                <a:latin typeface="Inter"/>
              </a:rPr>
              <a:t>Tests various scaling methods — keeps whichever conditions the data best. Applies outlier removal.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45152" y="2847339"/>
            <a:ext cx="1947672" cy="20116"/>
          </a:xfrm>
          <a:prstGeom prst="rect">
            <a:avLst/>
          </a:prstGeom>
          <a:solidFill>
            <a:srgbClr val="102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7" name="Picture 56" descr="filter-58ac301d5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91456" y="3010216"/>
            <a:ext cx="219456" cy="219456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5224543" y="3046792"/>
            <a:ext cx="32613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2"/>
              </a:lnSpc>
            </a:pPr>
            <a:r>
              <a:rPr sz="900" b="1" spc="100">
                <a:solidFill>
                  <a:srgbClr val="FFFFFF"/>
                </a:solidFill>
                <a:latin typeface="Inter"/>
              </a:rPr>
              <a:t>DSM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27064" y="2975356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84"/>
              </a:lnSpc>
            </a:pPr>
            <a:r>
              <a:rPr sz="1300" b="0">
                <a:solidFill>
                  <a:srgbClr val="CBD3E1"/>
                </a:solidFill>
                <a:latin typeface="Comfortaa Medium"/>
              </a:rPr>
              <a:t>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91456" y="3359404"/>
            <a:ext cx="1655063" cy="166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sz="1000" b="0">
                <a:solidFill>
                  <a:srgbClr val="102957"/>
                </a:solidFill>
                <a:latin typeface="Comfortaa Medium"/>
              </a:rPr>
              <a:t>Dimensionality manager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91456" y="3630294"/>
            <a:ext cx="1655063" cy="4124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80"/>
              </a:lnSpc>
            </a:pPr>
            <a:r>
              <a:rPr sz="700" b="0">
                <a:solidFill>
                  <a:srgbClr val="60708D"/>
                </a:solidFill>
                <a:latin typeface="Inter"/>
              </a:rPr>
              <a:t>Drops redundant, collinear features via correlation and cluster-similarity analysis.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739128" y="2847339"/>
            <a:ext cx="1947672" cy="20116"/>
          </a:xfrm>
          <a:prstGeom prst="rect">
            <a:avLst/>
          </a:prstGeom>
          <a:solidFill>
            <a:srgbClr val="102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5" name="Picture 64" descr="package-32ccda368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85432" y="3010216"/>
            <a:ext cx="219456" cy="219456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29775" y="3046792"/>
            <a:ext cx="30361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2"/>
              </a:lnSpc>
            </a:pPr>
            <a:r>
              <a:rPr sz="900" b="1" spc="100">
                <a:solidFill>
                  <a:srgbClr val="FFFFFF"/>
                </a:solidFill>
                <a:latin typeface="Inter"/>
              </a:rPr>
              <a:t>DSG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21040" y="2975356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84"/>
              </a:lnSpc>
            </a:pPr>
            <a:r>
              <a:rPr sz="1300" b="0">
                <a:solidFill>
                  <a:srgbClr val="CBD3E1"/>
                </a:solidFill>
                <a:latin typeface="Comfortaa Medium"/>
              </a:rPr>
              <a:t>08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85432" y="3359404"/>
            <a:ext cx="1655063" cy="170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sz="1000" b="0">
                <a:solidFill>
                  <a:srgbClr val="102957"/>
                </a:solidFill>
                <a:latin typeface="Comfortaa Medium"/>
              </a:rPr>
              <a:t>Data generator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85432" y="3630294"/>
            <a:ext cx="1655063" cy="4124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80"/>
              </a:lnSpc>
            </a:pPr>
            <a:r>
              <a:rPr sz="700" b="0">
                <a:solidFill>
                  <a:srgbClr val="60708D"/>
                </a:solidFill>
                <a:latin typeface="Inter"/>
              </a:rPr>
              <a:t>Copula-based rows that preserve joint distributions — expand limited datasets safely.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4260088"/>
            <a:ext cx="8229600" cy="457200"/>
          </a:xfrm>
          <a:prstGeom prst="rect">
            <a:avLst/>
          </a:prstGeom>
          <a:solidFill>
            <a:srgbClr val="102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58368" y="4360672"/>
            <a:ext cx="782726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96"/>
              </a:lnSpc>
            </a:pPr>
            <a:r>
              <a:rPr sz="1000" b="0">
                <a:solidFill>
                  <a:srgbClr val="FFFFFF"/>
                </a:solidFill>
                <a:latin typeface="Inter"/>
              </a:rPr>
              <a:t>Every stage persists a metadata artifact. Fitted state is replayed verbatim on new data — never refitted. Training and inference see identical transformations, with zero leakage.</a:t>
            </a:r>
          </a:p>
        </p:txBody>
      </p:sp>
      <p:sp>
        <p:nvSpPr>
          <p:cNvPr id="86" name="Title 85">
            <a:extLst>
              <a:ext uri="{FF2B5EF4-FFF2-40B4-BE49-F238E27FC236}">
                <a16:creationId xmlns:a16="http://schemas.microsoft.com/office/drawing/2014/main" id="{81F7501F-9F6C-0F84-9F15-37293DD38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1813"/>
            <a:ext cx="7315200" cy="738664"/>
          </a:xfrm>
        </p:spPr>
        <p:txBody>
          <a:bodyPr/>
          <a:lstStyle/>
          <a:p>
            <a:r>
              <a:rPr lang="en-US" dirty="0"/>
              <a:t>Eight stages from raw table to </a:t>
            </a:r>
            <a:r>
              <a:rPr lang="en-US" dirty="0">
                <a:solidFill>
                  <a:srgbClr val="DB509E"/>
                </a:solidFill>
              </a:rPr>
              <a:t>model-ready matrix.</a:t>
            </a:r>
            <a:endParaRPr lang="en-AE" dirty="0"/>
          </a:p>
        </p:txBody>
      </p:sp>
      <p:sp>
        <p:nvSpPr>
          <p:cNvPr id="87" name="Text Placeholder 86">
            <a:extLst>
              <a:ext uri="{FF2B5EF4-FFF2-40B4-BE49-F238E27FC236}">
                <a16:creationId xmlns:a16="http://schemas.microsoft.com/office/drawing/2014/main" id="{85447D14-4BE4-EE8D-6FF0-1FE4347C42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HOW IT WORKS</a:t>
            </a:r>
          </a:p>
        </p:txBody>
      </p:sp>
      <p:sp>
        <p:nvSpPr>
          <p:cNvPr id="89" name="Footer Placeholder 28">
            <a:extLst>
              <a:ext uri="{FF2B5EF4-FFF2-40B4-BE49-F238E27FC236}">
                <a16:creationId xmlns:a16="http://schemas.microsoft.com/office/drawing/2014/main" id="{499D1E33-58F4-8A1F-9C82-4C88FECDB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4918075"/>
            <a:ext cx="2217738" cy="127000"/>
          </a:xfrm>
        </p:spPr>
        <p:txBody>
          <a:bodyPr/>
          <a:lstStyle/>
          <a:p>
            <a:r>
              <a:rPr lang="en-US" dirty="0"/>
              <a:t>© Cognirise 2026. All Rights Reserved.</a:t>
            </a:r>
          </a:p>
        </p:txBody>
      </p:sp>
      <p:sp>
        <p:nvSpPr>
          <p:cNvPr id="90" name="Slide Number Placeholder 29">
            <a:extLst>
              <a:ext uri="{FF2B5EF4-FFF2-40B4-BE49-F238E27FC236}">
                <a16:creationId xmlns:a16="http://schemas.microsoft.com/office/drawing/2014/main" id="{645B05C3-6150-AF25-072C-DD3BDB9F7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20075" y="4918075"/>
            <a:ext cx="466725" cy="127000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E4AC15C5-5F49-B122-EF28-8ED8FEB67AF5}"/>
              </a:ext>
            </a:extLst>
          </p:cNvPr>
          <p:cNvGrpSpPr/>
          <p:nvPr/>
        </p:nvGrpSpPr>
        <p:grpSpPr>
          <a:xfrm>
            <a:off x="3216402" y="1665478"/>
            <a:ext cx="2654046" cy="1121107"/>
            <a:chOff x="393700" y="1665478"/>
            <a:chExt cx="2654046" cy="1121107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28618EE-D0B2-824A-F423-C326DF0C944D}"/>
                </a:ext>
              </a:extLst>
            </p:cNvPr>
            <p:cNvSpPr/>
            <p:nvPr/>
          </p:nvSpPr>
          <p:spPr>
            <a:xfrm>
              <a:off x="393700" y="1665478"/>
              <a:ext cx="2654046" cy="112110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BD3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9B7B8EA4-58B3-F7FB-1A0C-B7AEBB7AF09A}"/>
                </a:ext>
              </a:extLst>
            </p:cNvPr>
            <p:cNvSpPr/>
            <p:nvPr/>
          </p:nvSpPr>
          <p:spPr>
            <a:xfrm>
              <a:off x="393700" y="1665478"/>
              <a:ext cx="2654046" cy="20116"/>
            </a:xfrm>
            <a:prstGeom prst="rect">
              <a:avLst/>
            </a:prstGeom>
            <a:solidFill>
              <a:srgbClr val="1029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139B43C-D6CD-35C0-629F-91B4442DAE9A}"/>
              </a:ext>
            </a:extLst>
          </p:cNvPr>
          <p:cNvGrpSpPr/>
          <p:nvPr/>
        </p:nvGrpSpPr>
        <p:grpSpPr>
          <a:xfrm>
            <a:off x="6039104" y="1665478"/>
            <a:ext cx="2654046" cy="1121107"/>
            <a:chOff x="393700" y="1665478"/>
            <a:chExt cx="2654046" cy="1121107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55EEC38-0DCF-CA26-2130-6D471643111F}"/>
                </a:ext>
              </a:extLst>
            </p:cNvPr>
            <p:cNvSpPr/>
            <p:nvPr/>
          </p:nvSpPr>
          <p:spPr>
            <a:xfrm>
              <a:off x="393700" y="1665478"/>
              <a:ext cx="2654046" cy="112110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BD3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FC96EB8-3282-A7E3-DF29-7D03914D9602}"/>
                </a:ext>
              </a:extLst>
            </p:cNvPr>
            <p:cNvSpPr/>
            <p:nvPr/>
          </p:nvSpPr>
          <p:spPr>
            <a:xfrm>
              <a:off x="393700" y="1665478"/>
              <a:ext cx="2654046" cy="20116"/>
            </a:xfrm>
            <a:prstGeom prst="rect">
              <a:avLst/>
            </a:prstGeom>
            <a:solidFill>
              <a:srgbClr val="1029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B06CBC8-EE45-8B34-DC7D-C78E02A8AE2B}"/>
              </a:ext>
            </a:extLst>
          </p:cNvPr>
          <p:cNvGrpSpPr/>
          <p:nvPr/>
        </p:nvGrpSpPr>
        <p:grpSpPr>
          <a:xfrm>
            <a:off x="387350" y="3244801"/>
            <a:ext cx="2654046" cy="1121107"/>
            <a:chOff x="393700" y="1665478"/>
            <a:chExt cx="2654046" cy="1121107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BDF1250-F076-6F80-DD04-030E867FDFF0}"/>
                </a:ext>
              </a:extLst>
            </p:cNvPr>
            <p:cNvSpPr/>
            <p:nvPr/>
          </p:nvSpPr>
          <p:spPr>
            <a:xfrm>
              <a:off x="393700" y="1665478"/>
              <a:ext cx="2654046" cy="112110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BD3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8BEBD046-AC78-323D-8C8A-99D2FD0D8CE8}"/>
                </a:ext>
              </a:extLst>
            </p:cNvPr>
            <p:cNvSpPr/>
            <p:nvPr/>
          </p:nvSpPr>
          <p:spPr>
            <a:xfrm>
              <a:off x="393700" y="1665478"/>
              <a:ext cx="2654046" cy="20116"/>
            </a:xfrm>
            <a:prstGeom prst="rect">
              <a:avLst/>
            </a:prstGeom>
            <a:solidFill>
              <a:srgbClr val="1029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0208D10-9D80-4FA0-3757-7ABA89A0F9BE}"/>
              </a:ext>
            </a:extLst>
          </p:cNvPr>
          <p:cNvGrpSpPr/>
          <p:nvPr/>
        </p:nvGrpSpPr>
        <p:grpSpPr>
          <a:xfrm>
            <a:off x="3210052" y="3244801"/>
            <a:ext cx="2654046" cy="1121107"/>
            <a:chOff x="393700" y="1665478"/>
            <a:chExt cx="2654046" cy="1121107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6BE0555-FE89-FA8E-BE68-E7B1C8E1C0B1}"/>
                </a:ext>
              </a:extLst>
            </p:cNvPr>
            <p:cNvSpPr/>
            <p:nvPr/>
          </p:nvSpPr>
          <p:spPr>
            <a:xfrm>
              <a:off x="393700" y="1665478"/>
              <a:ext cx="2654046" cy="112110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BD3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A675CF01-28A8-527B-7500-2E872F517825}"/>
                </a:ext>
              </a:extLst>
            </p:cNvPr>
            <p:cNvSpPr/>
            <p:nvPr/>
          </p:nvSpPr>
          <p:spPr>
            <a:xfrm>
              <a:off x="393700" y="1665478"/>
              <a:ext cx="2654046" cy="20116"/>
            </a:xfrm>
            <a:prstGeom prst="rect">
              <a:avLst/>
            </a:prstGeom>
            <a:solidFill>
              <a:srgbClr val="1029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D644237-FC72-C6AB-3222-F8CED902E472}"/>
              </a:ext>
            </a:extLst>
          </p:cNvPr>
          <p:cNvGrpSpPr/>
          <p:nvPr/>
        </p:nvGrpSpPr>
        <p:grpSpPr>
          <a:xfrm>
            <a:off x="6032754" y="3244801"/>
            <a:ext cx="2654046" cy="1121107"/>
            <a:chOff x="393700" y="1665478"/>
            <a:chExt cx="2654046" cy="1121107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B664489B-C861-2722-9833-F793E6BD67BD}"/>
                </a:ext>
              </a:extLst>
            </p:cNvPr>
            <p:cNvSpPr/>
            <p:nvPr/>
          </p:nvSpPr>
          <p:spPr>
            <a:xfrm>
              <a:off x="393700" y="1665478"/>
              <a:ext cx="2654046" cy="112110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BD3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FF2C5950-E851-180F-9955-0AA74F0BB398}"/>
                </a:ext>
              </a:extLst>
            </p:cNvPr>
            <p:cNvSpPr/>
            <p:nvPr/>
          </p:nvSpPr>
          <p:spPr>
            <a:xfrm>
              <a:off x="393700" y="1665478"/>
              <a:ext cx="2654046" cy="20116"/>
            </a:xfrm>
            <a:prstGeom prst="rect">
              <a:avLst/>
            </a:prstGeom>
            <a:solidFill>
              <a:srgbClr val="1029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539D644-D6C8-101C-3AE3-BFFA8DB54085}"/>
              </a:ext>
            </a:extLst>
          </p:cNvPr>
          <p:cNvGrpSpPr/>
          <p:nvPr/>
        </p:nvGrpSpPr>
        <p:grpSpPr>
          <a:xfrm>
            <a:off x="393700" y="1665478"/>
            <a:ext cx="2654046" cy="1121107"/>
            <a:chOff x="393700" y="1665478"/>
            <a:chExt cx="2654046" cy="1121107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B317FB8-2D06-020E-0955-3C596627F179}"/>
                </a:ext>
              </a:extLst>
            </p:cNvPr>
            <p:cNvSpPr/>
            <p:nvPr/>
          </p:nvSpPr>
          <p:spPr>
            <a:xfrm>
              <a:off x="393700" y="1665478"/>
              <a:ext cx="2654046" cy="112110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BD3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F8A0C9E-6E0B-A7B1-30F1-BCCA114457A0}"/>
                </a:ext>
              </a:extLst>
            </p:cNvPr>
            <p:cNvSpPr/>
            <p:nvPr/>
          </p:nvSpPr>
          <p:spPr>
            <a:xfrm>
              <a:off x="393700" y="1665478"/>
              <a:ext cx="2654046" cy="20116"/>
            </a:xfrm>
            <a:prstGeom prst="rect">
              <a:avLst/>
            </a:prstGeom>
            <a:solidFill>
              <a:srgbClr val="1029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8" name="Picture 7" descr="broom-354471d3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51076"/>
            <a:ext cx="310896" cy="3108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0105" y="1761363"/>
            <a:ext cx="1951086" cy="2568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32"/>
              </a:lnSpc>
            </a:pPr>
            <a:r>
              <a:rPr sz="1200" b="0" dirty="0">
                <a:solidFill>
                  <a:srgbClr val="102957"/>
                </a:solidFill>
                <a:latin typeface="Comfortaa Medium"/>
              </a:rPr>
              <a:t>Automated cleaning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23694"/>
            <a:ext cx="2527300" cy="5213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sz="800" b="0" dirty="0">
                <a:solidFill>
                  <a:srgbClr val="60708D"/>
                </a:solidFill>
                <a:latin typeface="Inter"/>
              </a:rPr>
              <a:t>Automatically detect formatting issues, duplicates, and incomplete records to make raw datasets more consistent and reliable.</a:t>
            </a:r>
          </a:p>
        </p:txBody>
      </p:sp>
      <p:pic>
        <p:nvPicPr>
          <p:cNvPr id="11" name="Picture 10" descr="sliders-ef2b1445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552" y="1751076"/>
            <a:ext cx="310896" cy="3108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596457" y="1761363"/>
            <a:ext cx="1951086" cy="2568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32"/>
              </a:lnSpc>
            </a:pPr>
            <a:r>
              <a:rPr sz="1200" b="0">
                <a:solidFill>
                  <a:srgbClr val="102957"/>
                </a:solidFill>
                <a:latin typeface="Comfortaa Medium"/>
              </a:rPr>
              <a:t>Feature 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2123694"/>
            <a:ext cx="2543048" cy="5259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sz="800" b="0" dirty="0">
                <a:solidFill>
                  <a:srgbClr val="60708D"/>
                </a:solidFill>
                <a:latin typeface="Inter"/>
              </a:rPr>
              <a:t>Generate model-ready features and improve dataset usability with automated transformations and preprocessing logic.</a:t>
            </a:r>
          </a:p>
        </p:txBody>
      </p:sp>
      <p:pic>
        <p:nvPicPr>
          <p:cNvPr id="14" name="Picture 13" descr="bar-chart-8d496f8f7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904" y="1751076"/>
            <a:ext cx="310896" cy="3108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12809" y="1761363"/>
            <a:ext cx="1951086" cy="2568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32"/>
              </a:lnSpc>
            </a:pPr>
            <a:r>
              <a:rPr sz="1200" b="0">
                <a:solidFill>
                  <a:srgbClr val="102957"/>
                </a:solidFill>
                <a:latin typeface="Comfortaa Medium"/>
              </a:rPr>
              <a:t>Dataset profiling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9904" y="2123694"/>
            <a:ext cx="2488946" cy="5259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sz="800" b="0" dirty="0">
                <a:solidFill>
                  <a:srgbClr val="60708D"/>
                </a:solidFill>
                <a:latin typeface="Inter"/>
              </a:rPr>
              <a:t>Quickly understand the structure, quality, and dimension of your dataset before moving into training or analysis.</a:t>
            </a:r>
          </a:p>
        </p:txBody>
      </p:sp>
      <p:pic>
        <p:nvPicPr>
          <p:cNvPr id="17" name="Picture 16" descr="crosshair-507659973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328416"/>
            <a:ext cx="310896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0105" y="3338702"/>
            <a:ext cx="1951086" cy="2568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32"/>
              </a:lnSpc>
            </a:pPr>
            <a:r>
              <a:rPr sz="1200" b="0">
                <a:solidFill>
                  <a:srgbClr val="102957"/>
                </a:solidFill>
                <a:latin typeface="Comfortaa Medium"/>
              </a:rPr>
              <a:t>Outlier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701034"/>
            <a:ext cx="2527300" cy="5259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sz="800" b="0" dirty="0">
                <a:solidFill>
                  <a:srgbClr val="60708D"/>
                </a:solidFill>
                <a:latin typeface="Inter"/>
              </a:rPr>
              <a:t>Identify unusual values, outliers, and problematic records early to improve downstream model performance.</a:t>
            </a:r>
          </a:p>
        </p:txBody>
      </p:sp>
      <p:pic>
        <p:nvPicPr>
          <p:cNvPr id="20" name="Picture 19" descr="workflow-1e6a874f3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3552" y="3328416"/>
            <a:ext cx="310896" cy="31089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596457" y="3338702"/>
            <a:ext cx="1951086" cy="2568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32"/>
              </a:lnSpc>
            </a:pPr>
            <a:r>
              <a:rPr sz="1200" b="0">
                <a:solidFill>
                  <a:srgbClr val="102957"/>
                </a:solidFill>
                <a:latin typeface="Comfortaa Medium"/>
              </a:rPr>
              <a:t>Reusable workflows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73552" y="3701034"/>
            <a:ext cx="2543048" cy="5259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sz="800" b="0" dirty="0">
                <a:solidFill>
                  <a:srgbClr val="60708D"/>
                </a:solidFill>
                <a:latin typeface="Inter"/>
              </a:rPr>
              <a:t>Create preprocessing workflows that simplify data preparation and reduce manual effort across projects.</a:t>
            </a:r>
          </a:p>
        </p:txBody>
      </p:sp>
      <p:pic>
        <p:nvPicPr>
          <p:cNvPr id="23" name="Picture 22" descr="export-9c40708a8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9904" y="3328416"/>
            <a:ext cx="310896" cy="31089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12809" y="3338702"/>
            <a:ext cx="1951086" cy="2568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32"/>
              </a:lnSpc>
            </a:pPr>
            <a:r>
              <a:rPr sz="1200" b="0">
                <a:solidFill>
                  <a:srgbClr val="102957"/>
                </a:solidFill>
                <a:latin typeface="Comfortaa Medium"/>
              </a:rPr>
              <a:t>Model-ready export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9904" y="3701034"/>
            <a:ext cx="2539746" cy="524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sz="800" b="0" dirty="0">
                <a:solidFill>
                  <a:srgbClr val="60708D"/>
                </a:solidFill>
                <a:latin typeface="Inter"/>
              </a:rPr>
              <a:t>Export clean, structured, and machine-learning ready datasets for use in training, analytics, and production workflows.</a:t>
            </a:r>
          </a:p>
        </p:txBody>
      </p:sp>
      <p:sp>
        <p:nvSpPr>
          <p:cNvPr id="31" name="Title 30">
            <a:extLst>
              <a:ext uri="{FF2B5EF4-FFF2-40B4-BE49-F238E27FC236}">
                <a16:creationId xmlns:a16="http://schemas.microsoft.com/office/drawing/2014/main" id="{8B62B621-A999-9A10-88A2-672278D4A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1813"/>
            <a:ext cx="7315200" cy="333425"/>
          </a:xfrm>
        </p:spPr>
        <p:txBody>
          <a:bodyPr/>
          <a:lstStyle/>
          <a:p>
            <a:r>
              <a:rPr lang="en-US" dirty="0"/>
              <a:t>Features built for smarter data preparation.</a:t>
            </a:r>
            <a:br>
              <a:rPr lang="en-US" dirty="0"/>
            </a:br>
            <a:endParaRPr lang="en-AE" dirty="0"/>
          </a:p>
        </p:txBody>
      </p:sp>
      <p:sp>
        <p:nvSpPr>
          <p:cNvPr id="29" name="Footer Placeholder 28">
            <a:extLst>
              <a:ext uri="{FF2B5EF4-FFF2-40B4-BE49-F238E27FC236}">
                <a16:creationId xmlns:a16="http://schemas.microsoft.com/office/drawing/2014/main" id="{37AFCF26-282F-9BC7-2B46-EADBF911F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4917674"/>
            <a:ext cx="2217420" cy="127975"/>
          </a:xfrm>
        </p:spPr>
        <p:txBody>
          <a:bodyPr/>
          <a:lstStyle/>
          <a:p>
            <a:r>
              <a:rPr lang="en-US" dirty="0"/>
              <a:t>© Cognirise 2026. All Rights Reserved.</a:t>
            </a:r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E2B4BCD2-13C9-8824-51D7-5DB782ACA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9872" y="4917674"/>
            <a:ext cx="466928" cy="12797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3DC00DB2-2FEF-6582-2078-AE5A8149EC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307975"/>
            <a:ext cx="2378075" cy="184150"/>
          </a:xfrm>
        </p:spPr>
        <p:txBody>
          <a:bodyPr/>
          <a:lstStyle/>
          <a:p>
            <a:r>
              <a:rPr lang="en-US" dirty="0"/>
              <a:t>AUTODATA: CAPABILITIES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EE541885-7FC5-B569-D135-7543B01C59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899478"/>
            <a:ext cx="7315200" cy="155684"/>
          </a:xfrm>
        </p:spPr>
        <p:txBody>
          <a:bodyPr/>
          <a:lstStyle/>
          <a:p>
            <a:r>
              <a:rPr lang="en-US" dirty="0"/>
              <a:t>Everything you need to clean, transform, and prepare datasets for AI workflows.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4AB35E94-C148-66F1-070A-97DD61466A98}"/>
              </a:ext>
            </a:extLst>
          </p:cNvPr>
          <p:cNvGrpSpPr/>
          <p:nvPr/>
        </p:nvGrpSpPr>
        <p:grpSpPr>
          <a:xfrm>
            <a:off x="416207" y="1525583"/>
            <a:ext cx="1961804" cy="2673562"/>
            <a:chOff x="393700" y="1665478"/>
            <a:chExt cx="2654046" cy="2673562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1F6C6C1-5D06-E0B5-8E30-6762768E19DF}"/>
                </a:ext>
              </a:extLst>
            </p:cNvPr>
            <p:cNvSpPr/>
            <p:nvPr/>
          </p:nvSpPr>
          <p:spPr>
            <a:xfrm>
              <a:off x="393700" y="1665478"/>
              <a:ext cx="2654046" cy="26735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BD3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771355A-4E75-35BE-391C-BA9BEFF846EB}"/>
                </a:ext>
              </a:extLst>
            </p:cNvPr>
            <p:cNvSpPr/>
            <p:nvPr/>
          </p:nvSpPr>
          <p:spPr>
            <a:xfrm>
              <a:off x="393700" y="1665478"/>
              <a:ext cx="2654046" cy="2011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56E34A7-D092-97FB-A78D-8637D3F9B2BB}"/>
              </a:ext>
            </a:extLst>
          </p:cNvPr>
          <p:cNvGrpSpPr/>
          <p:nvPr/>
        </p:nvGrpSpPr>
        <p:grpSpPr>
          <a:xfrm>
            <a:off x="2533615" y="1525583"/>
            <a:ext cx="1961804" cy="2673562"/>
            <a:chOff x="393700" y="1665478"/>
            <a:chExt cx="2654046" cy="2673562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1BD6F50-7B1D-0359-EE76-D3D96F207080}"/>
                </a:ext>
              </a:extLst>
            </p:cNvPr>
            <p:cNvSpPr/>
            <p:nvPr/>
          </p:nvSpPr>
          <p:spPr>
            <a:xfrm>
              <a:off x="393700" y="1665478"/>
              <a:ext cx="2654046" cy="26735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BD3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150AEB5-EC83-ABBA-1B9E-A1E9F1DAF9B1}"/>
                </a:ext>
              </a:extLst>
            </p:cNvPr>
            <p:cNvSpPr/>
            <p:nvPr/>
          </p:nvSpPr>
          <p:spPr>
            <a:xfrm>
              <a:off x="393700" y="1665478"/>
              <a:ext cx="2654046" cy="2011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EC50353-109B-AAF6-44ED-5263550D8D9C}"/>
              </a:ext>
            </a:extLst>
          </p:cNvPr>
          <p:cNvGrpSpPr/>
          <p:nvPr/>
        </p:nvGrpSpPr>
        <p:grpSpPr>
          <a:xfrm>
            <a:off x="4651023" y="1525583"/>
            <a:ext cx="1961804" cy="2673562"/>
            <a:chOff x="393700" y="1665478"/>
            <a:chExt cx="2654046" cy="2673562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74894BD-DCD9-2849-E985-86491BEF6DEF}"/>
                </a:ext>
              </a:extLst>
            </p:cNvPr>
            <p:cNvSpPr/>
            <p:nvPr/>
          </p:nvSpPr>
          <p:spPr>
            <a:xfrm>
              <a:off x="393700" y="1665478"/>
              <a:ext cx="2654046" cy="26735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BD3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548D4CA-6A67-32BE-9103-2B29A4BF4481}"/>
                </a:ext>
              </a:extLst>
            </p:cNvPr>
            <p:cNvSpPr/>
            <p:nvPr/>
          </p:nvSpPr>
          <p:spPr>
            <a:xfrm>
              <a:off x="393700" y="1665478"/>
              <a:ext cx="2654046" cy="2011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AE7BAFF-00E1-BC72-FEB5-6A70603C982E}"/>
              </a:ext>
            </a:extLst>
          </p:cNvPr>
          <p:cNvGrpSpPr/>
          <p:nvPr/>
        </p:nvGrpSpPr>
        <p:grpSpPr>
          <a:xfrm>
            <a:off x="6768431" y="1525583"/>
            <a:ext cx="1961804" cy="2673562"/>
            <a:chOff x="393700" y="1665478"/>
            <a:chExt cx="2654046" cy="2673562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D5763A8-09FA-0F38-E56D-AA1A0A1F817F}"/>
                </a:ext>
              </a:extLst>
            </p:cNvPr>
            <p:cNvSpPr/>
            <p:nvPr/>
          </p:nvSpPr>
          <p:spPr>
            <a:xfrm>
              <a:off x="393700" y="1665478"/>
              <a:ext cx="2654046" cy="26735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BD3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78F3DBA-CE62-CECC-19E3-D08ABDEA97F0}"/>
                </a:ext>
              </a:extLst>
            </p:cNvPr>
            <p:cNvSpPr/>
            <p:nvPr/>
          </p:nvSpPr>
          <p:spPr>
            <a:xfrm>
              <a:off x="393700" y="1665478"/>
              <a:ext cx="2654046" cy="2011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520" name="Google Shape;520;p14"/>
          <p:cNvSpPr/>
          <p:nvPr/>
        </p:nvSpPr>
        <p:spPr>
          <a:xfrm>
            <a:off x="562356" y="2165096"/>
            <a:ext cx="1664780" cy="23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1300"/>
            </a:pPr>
            <a:r>
              <a:rPr lang="en-US" sz="975" dirty="0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SpaceX</a:t>
            </a:r>
            <a:endParaRPr sz="1350" dirty="0"/>
          </a:p>
        </p:txBody>
      </p:sp>
      <p:sp>
        <p:nvSpPr>
          <p:cNvPr id="521" name="Google Shape;521;p14"/>
          <p:cNvSpPr/>
          <p:nvPr/>
        </p:nvSpPr>
        <p:spPr>
          <a:xfrm>
            <a:off x="562356" y="2453132"/>
            <a:ext cx="1664780" cy="15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750"/>
            </a:pPr>
            <a:r>
              <a:rPr lang="en-US" sz="563">
                <a:solidFill>
                  <a:srgbClr val="DB4F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SOLUTION PROVIDED</a:t>
            </a:r>
            <a:endParaRPr sz="1350">
              <a:solidFill>
                <a:srgbClr val="DB4F9E"/>
              </a:solidFill>
            </a:endParaRPr>
          </a:p>
        </p:txBody>
      </p:sp>
      <p:sp>
        <p:nvSpPr>
          <p:cNvPr id="522" name="Google Shape;522;p14"/>
          <p:cNvSpPr/>
          <p:nvPr/>
        </p:nvSpPr>
        <p:spPr>
          <a:xfrm>
            <a:off x="562356" y="2617724"/>
            <a:ext cx="1664780" cy="72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buClr>
                <a:srgbClr val="000000"/>
              </a:buClr>
              <a:buSzPts val="850"/>
            </a:pPr>
            <a:r>
              <a:rPr lang="en-US" sz="638" dirty="0">
                <a:solidFill>
                  <a:srgbClr val="6B7B96"/>
                </a:solidFill>
                <a:latin typeface="Plus Jakarta Sans ExtraLight"/>
                <a:ea typeface="Plus Jakarta Sans ExtraLight"/>
                <a:cs typeface="Plus Jakarta Sans ExtraLight"/>
                <a:sym typeface="Plus Jakarta Sans ExtraLight"/>
              </a:rPr>
              <a:t>Failure-probability modelling (10,000 rows, 21 columns), benchmarked against SpaceX’s internal AI-ready pipeline on the same data, split, models and metric.</a:t>
            </a:r>
            <a:endParaRPr sz="1350" dirty="0">
              <a:solidFill>
                <a:srgbClr val="6B7B96"/>
              </a:solidFill>
            </a:endParaRPr>
          </a:p>
        </p:txBody>
      </p:sp>
      <p:sp>
        <p:nvSpPr>
          <p:cNvPr id="523" name="Google Shape;523;p14"/>
          <p:cNvSpPr/>
          <p:nvPr/>
        </p:nvSpPr>
        <p:spPr>
          <a:xfrm>
            <a:off x="562356" y="3385820"/>
            <a:ext cx="1664780" cy="15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750"/>
            </a:pPr>
            <a:r>
              <a:rPr lang="en-US" sz="563">
                <a:solidFill>
                  <a:srgbClr val="DB4F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IMPACT ACHIEVED</a:t>
            </a:r>
            <a:endParaRPr sz="1350">
              <a:solidFill>
                <a:srgbClr val="DB4F9E"/>
              </a:solidFill>
            </a:endParaRPr>
          </a:p>
        </p:txBody>
      </p:sp>
      <p:sp>
        <p:nvSpPr>
          <p:cNvPr id="524" name="Google Shape;524;p14"/>
          <p:cNvSpPr/>
          <p:nvPr/>
        </p:nvSpPr>
        <p:spPr>
          <a:xfrm>
            <a:off x="562356" y="3550412"/>
            <a:ext cx="1664780" cy="617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buClr>
                <a:srgbClr val="000000"/>
              </a:buClr>
              <a:buSzPts val="850"/>
            </a:pPr>
            <a:r>
              <a:rPr lang="en-US" sz="638" dirty="0">
                <a:solidFill>
                  <a:srgbClr val="6B7B96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Average MAPE 10.0% → 6.0%: a 40% relative error reduction, consistent across three model families — tighter maintenance windows, higher asset availability.</a:t>
            </a:r>
            <a:endParaRPr sz="1350" dirty="0">
              <a:solidFill>
                <a:srgbClr val="6B7B96"/>
              </a:solidFill>
            </a:endParaRPr>
          </a:p>
        </p:txBody>
      </p:sp>
      <p:sp>
        <p:nvSpPr>
          <p:cNvPr id="527" name="Google Shape;527;p14"/>
          <p:cNvSpPr/>
          <p:nvPr/>
        </p:nvSpPr>
        <p:spPr>
          <a:xfrm>
            <a:off x="2679763" y="2165096"/>
            <a:ext cx="1664780" cy="23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1300"/>
            </a:pPr>
            <a:r>
              <a:rPr lang="en-US" sz="975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LinkedIn</a:t>
            </a:r>
            <a:endParaRPr sz="1350"/>
          </a:p>
        </p:txBody>
      </p:sp>
      <p:sp>
        <p:nvSpPr>
          <p:cNvPr id="528" name="Google Shape;528;p14"/>
          <p:cNvSpPr/>
          <p:nvPr/>
        </p:nvSpPr>
        <p:spPr>
          <a:xfrm>
            <a:off x="2679763" y="2453132"/>
            <a:ext cx="1664780" cy="15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750"/>
            </a:pPr>
            <a:r>
              <a:rPr lang="en-US" sz="563">
                <a:solidFill>
                  <a:srgbClr val="DB4F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SOLUTION PROVIDED</a:t>
            </a:r>
            <a:endParaRPr sz="1350">
              <a:solidFill>
                <a:srgbClr val="DB4F9E"/>
              </a:solidFill>
            </a:endParaRPr>
          </a:p>
        </p:txBody>
      </p:sp>
      <p:sp>
        <p:nvSpPr>
          <p:cNvPr id="529" name="Google Shape;529;p14"/>
          <p:cNvSpPr/>
          <p:nvPr/>
        </p:nvSpPr>
        <p:spPr>
          <a:xfrm>
            <a:off x="2679763" y="2617724"/>
            <a:ext cx="1664780" cy="72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buClr>
                <a:srgbClr val="000000"/>
              </a:buClr>
              <a:buSzPts val="850"/>
            </a:pPr>
            <a:r>
              <a:rPr lang="en-US" sz="638">
                <a:solidFill>
                  <a:srgbClr val="6B7B96"/>
                </a:solidFill>
                <a:latin typeface="Plus Jakarta Sans ExtraLight"/>
                <a:ea typeface="Plus Jakarta Sans ExtraLight"/>
                <a:cs typeface="Plus Jakarta Sans ExtraLight"/>
                <a:sym typeface="Plus Jakarta Sans ExtraLight"/>
              </a:rPr>
              <a:t>Video topicality at scale — 250,000 videos per day — benchmarked against Microsoft Video Indexer.</a:t>
            </a:r>
            <a:endParaRPr sz="1350">
              <a:solidFill>
                <a:srgbClr val="6B7B96"/>
              </a:solidFill>
            </a:endParaRPr>
          </a:p>
        </p:txBody>
      </p:sp>
      <p:sp>
        <p:nvSpPr>
          <p:cNvPr id="530" name="Google Shape;530;p14"/>
          <p:cNvSpPr/>
          <p:nvPr/>
        </p:nvSpPr>
        <p:spPr>
          <a:xfrm>
            <a:off x="2679763" y="3385820"/>
            <a:ext cx="1664780" cy="15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750"/>
            </a:pPr>
            <a:r>
              <a:rPr lang="en-US" sz="563">
                <a:solidFill>
                  <a:srgbClr val="DB4F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IMPACT ACHIEVED</a:t>
            </a:r>
            <a:endParaRPr sz="1350">
              <a:solidFill>
                <a:srgbClr val="DB4F9E"/>
              </a:solidFill>
            </a:endParaRPr>
          </a:p>
        </p:txBody>
      </p:sp>
      <p:sp>
        <p:nvSpPr>
          <p:cNvPr id="531" name="Google Shape;531;p14"/>
          <p:cNvSpPr/>
          <p:nvPr/>
        </p:nvSpPr>
        <p:spPr>
          <a:xfrm>
            <a:off x="2679763" y="3550412"/>
            <a:ext cx="1664780" cy="617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buClr>
                <a:srgbClr val="000000"/>
              </a:buClr>
              <a:buSzPts val="850"/>
            </a:pPr>
            <a:r>
              <a:rPr lang="en-US" sz="638">
                <a:solidFill>
                  <a:srgbClr val="6B7B96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20%+ accuracy advantage, 1.5× faster and 4× cheaper than the internal pipeline — better-targeted content at a fraction of the classification cost.</a:t>
            </a:r>
            <a:endParaRPr sz="1350">
              <a:solidFill>
                <a:srgbClr val="6B7B96"/>
              </a:solidFill>
            </a:endParaRPr>
          </a:p>
        </p:txBody>
      </p:sp>
      <p:sp>
        <p:nvSpPr>
          <p:cNvPr id="534" name="Google Shape;534;p14"/>
          <p:cNvSpPr/>
          <p:nvPr/>
        </p:nvSpPr>
        <p:spPr>
          <a:xfrm>
            <a:off x="4797171" y="2165096"/>
            <a:ext cx="1664780" cy="23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1300"/>
            </a:pPr>
            <a:r>
              <a:rPr lang="en-US" sz="975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Ipsos</a:t>
            </a:r>
            <a:endParaRPr sz="1350"/>
          </a:p>
        </p:txBody>
      </p:sp>
      <p:sp>
        <p:nvSpPr>
          <p:cNvPr id="535" name="Google Shape;535;p14"/>
          <p:cNvSpPr/>
          <p:nvPr/>
        </p:nvSpPr>
        <p:spPr>
          <a:xfrm>
            <a:off x="4797171" y="2453132"/>
            <a:ext cx="1664780" cy="15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750"/>
            </a:pPr>
            <a:r>
              <a:rPr lang="en-US" sz="563" dirty="0">
                <a:solidFill>
                  <a:srgbClr val="DB4F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SOLUTION PROVIDED</a:t>
            </a:r>
            <a:endParaRPr sz="1350" dirty="0">
              <a:solidFill>
                <a:srgbClr val="DB4F9E"/>
              </a:solidFill>
            </a:endParaRPr>
          </a:p>
        </p:txBody>
      </p:sp>
      <p:sp>
        <p:nvSpPr>
          <p:cNvPr id="536" name="Google Shape;536;p14"/>
          <p:cNvSpPr/>
          <p:nvPr/>
        </p:nvSpPr>
        <p:spPr>
          <a:xfrm>
            <a:off x="4797171" y="2617724"/>
            <a:ext cx="1664780" cy="72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buClr>
                <a:srgbClr val="000000"/>
              </a:buClr>
              <a:buSzPts val="850"/>
            </a:pPr>
            <a:r>
              <a:rPr lang="en-US" sz="638">
                <a:solidFill>
                  <a:srgbClr val="6B7B96"/>
                </a:solidFill>
                <a:latin typeface="Plus Jakarta Sans ExtraLight"/>
                <a:ea typeface="Plus Jakarta Sans ExtraLight"/>
                <a:cs typeface="Plus Jakarta Sans ExtraLight"/>
                <a:sym typeface="Plus Jakarta Sans ExtraLight"/>
              </a:rPr>
              <a:t>Decision classification at polls: survey and respondent data cleaned, encoded and balanced into model-ready inputs for the classifier.</a:t>
            </a:r>
            <a:endParaRPr sz="1350">
              <a:solidFill>
                <a:srgbClr val="6B7B96"/>
              </a:solidFill>
            </a:endParaRPr>
          </a:p>
        </p:txBody>
      </p:sp>
      <p:sp>
        <p:nvSpPr>
          <p:cNvPr id="537" name="Google Shape;537;p14"/>
          <p:cNvSpPr/>
          <p:nvPr/>
        </p:nvSpPr>
        <p:spPr>
          <a:xfrm>
            <a:off x="4797171" y="3385820"/>
            <a:ext cx="1664780" cy="15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750"/>
            </a:pPr>
            <a:r>
              <a:rPr lang="en-US" sz="563">
                <a:solidFill>
                  <a:srgbClr val="DB4F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IMPACT ACHIEVED</a:t>
            </a:r>
            <a:endParaRPr sz="1350">
              <a:solidFill>
                <a:srgbClr val="DB4F9E"/>
              </a:solidFill>
            </a:endParaRPr>
          </a:p>
        </p:txBody>
      </p:sp>
      <p:sp>
        <p:nvSpPr>
          <p:cNvPr id="538" name="Google Shape;538;p14"/>
          <p:cNvSpPr/>
          <p:nvPr/>
        </p:nvSpPr>
        <p:spPr>
          <a:xfrm>
            <a:off x="4797171" y="3550412"/>
            <a:ext cx="1664780" cy="617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buClr>
                <a:srgbClr val="000000"/>
              </a:buClr>
              <a:buSzPts val="850"/>
            </a:pPr>
            <a:r>
              <a:rPr lang="en-US" sz="638">
                <a:solidFill>
                  <a:srgbClr val="6B7B96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17% higher classification accuracy vs Ipsos’s internal pipeline — fewer misread respondents, faster poll turnaround, less manual recoding.</a:t>
            </a:r>
            <a:endParaRPr sz="1350">
              <a:solidFill>
                <a:srgbClr val="6B7B96"/>
              </a:solidFill>
            </a:endParaRPr>
          </a:p>
        </p:txBody>
      </p:sp>
      <p:sp>
        <p:nvSpPr>
          <p:cNvPr id="541" name="Google Shape;541;p14"/>
          <p:cNvSpPr/>
          <p:nvPr/>
        </p:nvSpPr>
        <p:spPr>
          <a:xfrm>
            <a:off x="6914578" y="2165096"/>
            <a:ext cx="1664780" cy="23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1300"/>
            </a:pPr>
            <a:r>
              <a:rPr lang="en-US" sz="975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PayPal</a:t>
            </a:r>
            <a:endParaRPr sz="1350"/>
          </a:p>
        </p:txBody>
      </p:sp>
      <p:sp>
        <p:nvSpPr>
          <p:cNvPr id="542" name="Google Shape;542;p14"/>
          <p:cNvSpPr/>
          <p:nvPr/>
        </p:nvSpPr>
        <p:spPr>
          <a:xfrm>
            <a:off x="6914578" y="2453132"/>
            <a:ext cx="1664780" cy="15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750"/>
            </a:pPr>
            <a:r>
              <a:rPr lang="en-US" sz="563" dirty="0">
                <a:solidFill>
                  <a:srgbClr val="DB4F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SOLUTION PROVIDED</a:t>
            </a:r>
            <a:endParaRPr sz="1350" dirty="0">
              <a:solidFill>
                <a:srgbClr val="DB4F9E"/>
              </a:solidFill>
            </a:endParaRPr>
          </a:p>
        </p:txBody>
      </p:sp>
      <p:sp>
        <p:nvSpPr>
          <p:cNvPr id="543" name="Google Shape;543;p14"/>
          <p:cNvSpPr/>
          <p:nvPr/>
        </p:nvSpPr>
        <p:spPr>
          <a:xfrm>
            <a:off x="6914578" y="2617724"/>
            <a:ext cx="1664780" cy="72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buClr>
                <a:srgbClr val="000000"/>
              </a:buClr>
              <a:buSzPts val="850"/>
            </a:pPr>
            <a:r>
              <a:rPr lang="en-US" sz="638">
                <a:solidFill>
                  <a:srgbClr val="6B7B96"/>
                </a:solidFill>
                <a:latin typeface="Plus Jakarta Sans ExtraLight"/>
                <a:ea typeface="Plus Jakarta Sans ExtraLight"/>
                <a:cs typeface="Plus Jakarta Sans ExtraLight"/>
                <a:sym typeface="Plus Jakarta Sans ExtraLight"/>
              </a:rPr>
              <a:t>Risk prediction: transaction and behavioural data prepared deterministically, at production scale, for the risk models.</a:t>
            </a:r>
            <a:endParaRPr sz="1350">
              <a:solidFill>
                <a:srgbClr val="6B7B96"/>
              </a:solidFill>
            </a:endParaRPr>
          </a:p>
        </p:txBody>
      </p:sp>
      <p:sp>
        <p:nvSpPr>
          <p:cNvPr id="544" name="Google Shape;544;p14"/>
          <p:cNvSpPr/>
          <p:nvPr/>
        </p:nvSpPr>
        <p:spPr>
          <a:xfrm>
            <a:off x="6914578" y="3385820"/>
            <a:ext cx="1664780" cy="15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750"/>
            </a:pPr>
            <a:r>
              <a:rPr lang="en-US" sz="563">
                <a:solidFill>
                  <a:srgbClr val="DB4F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IMPACT ACHIEVED</a:t>
            </a:r>
            <a:endParaRPr sz="1350">
              <a:solidFill>
                <a:srgbClr val="DB4F9E"/>
              </a:solidFill>
            </a:endParaRPr>
          </a:p>
        </p:txBody>
      </p:sp>
      <p:sp>
        <p:nvSpPr>
          <p:cNvPr id="545" name="Google Shape;545;p14"/>
          <p:cNvSpPr/>
          <p:nvPr/>
        </p:nvSpPr>
        <p:spPr>
          <a:xfrm>
            <a:off x="6914578" y="3550412"/>
            <a:ext cx="1664780" cy="617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buClr>
                <a:srgbClr val="000000"/>
              </a:buClr>
              <a:buSzPts val="850"/>
            </a:pPr>
            <a:r>
              <a:rPr lang="en-US" sz="638">
                <a:solidFill>
                  <a:srgbClr val="6B7B96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14% precision and 21% recall gain vs PayPal’s internal pipeline — fewer false declines and missed risk events, at production scale.</a:t>
            </a:r>
            <a:endParaRPr sz="1350">
              <a:solidFill>
                <a:srgbClr val="6B7B96"/>
              </a:solidFill>
            </a:endParaRPr>
          </a:p>
        </p:txBody>
      </p:sp>
      <p:pic>
        <p:nvPicPr>
          <p:cNvPr id="2" name="Picture 1" descr="SpaceX Logo">
            <a:extLst>
              <a:ext uri="{FF2B5EF4-FFF2-40B4-BE49-F238E27FC236}">
                <a16:creationId xmlns:a16="http://schemas.microsoft.com/office/drawing/2014/main" id="{8A629DD1-DE6C-765A-16D0-05A5E7659D8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24654" r="5708" b="37804"/>
          <a:stretch>
            <a:fillRect/>
          </a:stretch>
        </p:blipFill>
        <p:spPr>
          <a:xfrm>
            <a:off x="507192" y="1716177"/>
            <a:ext cx="1812526" cy="298043"/>
          </a:xfrm>
          <a:prstGeom prst="rect">
            <a:avLst/>
          </a:prstGeom>
        </p:spPr>
      </p:pic>
      <p:pic>
        <p:nvPicPr>
          <p:cNvPr id="5" name="Picture 4" descr="Ipsos Logo PNG Vector (EPS) Free Download">
            <a:extLst>
              <a:ext uri="{FF2B5EF4-FFF2-40B4-BE49-F238E27FC236}">
                <a16:creationId xmlns:a16="http://schemas.microsoft.com/office/drawing/2014/main" id="{2B26C3A0-BA3A-A1D4-355A-72C5BCA413C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33488" y="1572950"/>
            <a:ext cx="592146" cy="592146"/>
          </a:xfrm>
          <a:prstGeom prst="rect">
            <a:avLst/>
          </a:prstGeom>
        </p:spPr>
      </p:pic>
      <p:pic>
        <p:nvPicPr>
          <p:cNvPr id="6" name="Picture 5" descr="PAYPAL Logo PNG Vector (AI) Free Download">
            <a:extLst>
              <a:ext uri="{FF2B5EF4-FFF2-40B4-BE49-F238E27FC236}">
                <a16:creationId xmlns:a16="http://schemas.microsoft.com/office/drawing/2014/main" id="{52EE04B4-AC2E-B473-712C-48F68B05672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3212" b="35503"/>
          <a:stretch>
            <a:fillRect/>
          </a:stretch>
        </p:blipFill>
        <p:spPr>
          <a:xfrm>
            <a:off x="7026375" y="1598575"/>
            <a:ext cx="1508986" cy="472087"/>
          </a:xfrm>
          <a:prstGeom prst="rect">
            <a:avLst/>
          </a:prstGeom>
        </p:spPr>
      </p:pic>
      <p:pic>
        <p:nvPicPr>
          <p:cNvPr id="8" name="Picture 7" descr="Datei:LinkedIn logo.svg">
            <a:extLst>
              <a:ext uri="{FF2B5EF4-FFF2-40B4-BE49-F238E27FC236}">
                <a16:creationId xmlns:a16="http://schemas.microsoft.com/office/drawing/2014/main" id="{1101A974-9F00-C7A0-3D12-96F2215CC3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5417" y="1726008"/>
            <a:ext cx="1233471" cy="322502"/>
          </a:xfrm>
          <a:prstGeom prst="rect">
            <a:avLst/>
          </a:prstGeom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652B9A6D-16DA-0621-E635-75F7084FC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1813"/>
            <a:ext cx="8122158" cy="738664"/>
          </a:xfrm>
        </p:spPr>
        <p:txBody>
          <a:bodyPr/>
          <a:lstStyle/>
          <a:p>
            <a:r>
              <a:rPr lang="en-US">
                <a:sym typeface="Plus Jakarta Sans ExtraBold"/>
              </a:rPr>
              <a:t>AutoData in </a:t>
            </a:r>
            <a:r>
              <a:rPr lang="en-US">
                <a:solidFill>
                  <a:srgbClr val="DB4F9E"/>
                </a:solidFill>
                <a:sym typeface="Plus Jakarta Sans ExtraBold"/>
              </a:rPr>
              <a:t>production</a:t>
            </a:r>
            <a:r>
              <a:rPr lang="en-US">
                <a:sym typeface="Plus Jakarta Sans ExtraBold"/>
              </a:rPr>
              <a:t> — reference engagements</a:t>
            </a:r>
            <a:endParaRPr lang="en-AE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BBF7F30-DB04-086B-C250-9FA1C32BD2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>
                <a:sym typeface="Plus Jakarta Sans Medium"/>
              </a:rPr>
              <a:t>EXAMPLE CLIENTS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B49784-36EF-C05A-A661-9A463C672C2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899478"/>
            <a:ext cx="7998714" cy="307777"/>
          </a:xfrm>
        </p:spPr>
        <p:txBody>
          <a:bodyPr/>
          <a:lstStyle/>
          <a:p>
            <a:pPr marL="0" indent="0"/>
            <a:r>
              <a:rPr lang="en-US">
                <a:solidFill>
                  <a:srgbClr val="6B7B96"/>
                </a:solidFill>
                <a:latin typeface="Comfortaa Medium" pitchFamily="2" charset="0"/>
                <a:cs typeface="Plus Jakarta Sans ExtraLight"/>
                <a:sym typeface="Plus Jakarta Sans ExtraLight"/>
              </a:rPr>
              <a:t>Every result benchmarked against the customer’s own internal data pipeline — same data, same models, same metric.</a:t>
            </a:r>
            <a:endParaRPr lang="en-US" dirty="0">
              <a:solidFill>
                <a:srgbClr val="6B7B96"/>
              </a:solidFill>
              <a:latin typeface="Comfortaa Medium" pitchFamily="2" charset="0"/>
              <a:cs typeface="Plus Jakarta Sans ExtraLight"/>
            </a:endParaRPr>
          </a:p>
        </p:txBody>
      </p:sp>
      <p:sp>
        <p:nvSpPr>
          <p:cNvPr id="23" name="Footer Placeholder 28">
            <a:extLst>
              <a:ext uri="{FF2B5EF4-FFF2-40B4-BE49-F238E27FC236}">
                <a16:creationId xmlns:a16="http://schemas.microsoft.com/office/drawing/2014/main" id="{3574720B-7A48-2F8F-BE1E-6BD731244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4918075"/>
            <a:ext cx="2217738" cy="127000"/>
          </a:xfrm>
        </p:spPr>
        <p:txBody>
          <a:bodyPr/>
          <a:lstStyle/>
          <a:p>
            <a:r>
              <a:rPr lang="en-US" dirty="0"/>
              <a:t>© Cognirise 2026. All Rights Reserved.</a:t>
            </a:r>
          </a:p>
        </p:txBody>
      </p:sp>
      <p:sp>
        <p:nvSpPr>
          <p:cNvPr id="24" name="Slide Number Placeholder 29">
            <a:extLst>
              <a:ext uri="{FF2B5EF4-FFF2-40B4-BE49-F238E27FC236}">
                <a16:creationId xmlns:a16="http://schemas.microsoft.com/office/drawing/2014/main" id="{1FC75D86-DCBB-67C3-E680-238821C3E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20075" y="4918075"/>
            <a:ext cx="466725" cy="127000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ognirise Pulse">
      <a:dk1>
        <a:srgbClr val="000000"/>
      </a:dk1>
      <a:lt1>
        <a:srgbClr val="FFFFFF"/>
      </a:lt1>
      <a:dk2>
        <a:srgbClr val="1F497D"/>
      </a:dk2>
      <a:lt2>
        <a:srgbClr val="F6F4F1"/>
      </a:lt2>
      <a:accent1>
        <a:srgbClr val="4A75F5"/>
      </a:accent1>
      <a:accent2>
        <a:srgbClr val="7458DF"/>
      </a:accent2>
      <a:accent3>
        <a:srgbClr val="A858BD"/>
      </a:accent3>
      <a:accent4>
        <a:srgbClr val="DA4F9D"/>
      </a:accent4>
      <a:accent5>
        <a:srgbClr val="E2607F"/>
      </a:accent5>
      <a:accent6>
        <a:srgbClr val="FB785E"/>
      </a:accent6>
      <a:hlink>
        <a:srgbClr val="CAD3E1"/>
      </a:hlink>
      <a:folHlink>
        <a:srgbClr val="10285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1615</TotalTime>
  <Words>1078</Words>
  <Application>Microsoft Macintosh PowerPoint</Application>
  <PresentationFormat>On-screen Show (16:9)</PresentationFormat>
  <Paragraphs>141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Comfortaa Medium</vt:lpstr>
      <vt:lpstr>Inter</vt:lpstr>
      <vt:lpstr>Plus Jakarta Sans ExtraBold</vt:lpstr>
      <vt:lpstr>Plus Jakarta Sans ExtraLight</vt:lpstr>
      <vt:lpstr>Plus Jakarta Sans Medium</vt:lpstr>
      <vt:lpstr>Office Theme</vt:lpstr>
      <vt:lpstr>AI investment is spent preparing data, not creating business value.</vt:lpstr>
      <vt:lpstr>The same measurement, under five different names.</vt:lpstr>
      <vt:lpstr>Where AutoData fits in your AI stack.</vt:lpstr>
      <vt:lpstr>Eight stages from raw table to model-ready matrix.</vt:lpstr>
      <vt:lpstr>Features built for smarter data preparation. </vt:lpstr>
      <vt:lpstr>AutoData in production — reference engagements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Mounir Ariss</cp:lastModifiedBy>
  <cp:revision>9</cp:revision>
  <dcterms:created xsi:type="dcterms:W3CDTF">2013-01-27T09:14:16Z</dcterms:created>
  <dcterms:modified xsi:type="dcterms:W3CDTF">2026-09-08T19:30:27Z</dcterms:modified>
  <cp:category/>
</cp:coreProperties>
</file>