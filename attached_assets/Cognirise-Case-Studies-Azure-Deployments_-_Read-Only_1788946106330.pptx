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67" r:id="rId2"/>
    <p:sldId id="268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1" r:id="rId14"/>
    <p:sldId id="282" r:id="rId15"/>
    <p:sldId id="284" r:id="rId16"/>
    <p:sldId id="286" r:id="rId17"/>
    <p:sldId id="287" r:id="rId18"/>
    <p:sldId id="288" r:id="rId19"/>
    <p:sldId id="289" r:id="rId20"/>
    <p:sldId id="290" r:id="rId21"/>
    <p:sldId id="291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2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150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02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kern="0" spc="-247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SCC Kimya. </a:t>
            </a:r>
            <a:r>
              <a:rPr lang="en-US" sz="3300" kern="0" spc="-247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Cement know-how on tap.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chemistry and process knowledge sat with a few experts; engineers waited on them for answers that should have been self-service.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 assistant on Azure App Service grounded on the plant's own technical corpus, with Turkish/English retrieval and controlled answer sourcing.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working assistant the team can question directly; expert time is reserved for exceptions rather than routine lookups.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CEMENT &amp; CHEMICALS  ·  TÜRKİYE  ·  PROOF OF CONCEPT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611C5C-14FE-0285-41E9-CB8359BA4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709" y="1839738"/>
            <a:ext cx="5313411" cy="31194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pic>
        <p:nvPicPr>
          <p:cNvPr id="4" name="Case study image" descr="Case stud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942" y="1543050"/>
            <a:ext cx="4391025" cy="360045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03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00" kern="0" spc="-172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İSKOOP. </a:t>
            </a:r>
            <a:r>
              <a:rPr lang="en-US" sz="2300" kern="0" spc="-172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Six AI modules for a pharmacy cooperative.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Istanbul's pharmacists' cooperative had call, sales and stock data in silos; churn, anomalies and demand were spotted late, if at all.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platform with six modules: call-centre NLP, anomaly alerts, field-rep briefings, churn &amp; next-best-action, demand &amp; stock, Turkish chat.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demo run: 8,668 pharmacies scored, 655 flagged as churn risk, 8,453 anomaly alerts and 240 suppliers forecast — all queryable in Turkish.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PHARMA DISTRIBUTION  ·  TÜRKİYE  ·  PROOF OF CONCEPT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pic>
        <p:nvPicPr>
          <p:cNvPr id="4" name="Case study image" descr="Case stud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942" y="1543050"/>
            <a:ext cx="4391025" cy="360045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05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600" kern="0" spc="-195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SALESMiND. </a:t>
            </a:r>
            <a:r>
              <a:rPr lang="en-US" sz="2600" kern="0" spc="-195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Coaching every pharma field rep.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Pharma sales managers could not coach a large field force consistently; visit quality varied and feedback arrived too late to change behaviour.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Starter MVP of a field-coaching platform on Azure Container Apps: rep visit capture, structured coaching feedback and manager dashboards.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v0.1 platform in the client's hands for pilot feedback; foundation laid for AI-generated coaching notes in the next release.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PHARMA SALES  ·  TÜRKİYE  ·  MVP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pic>
        <p:nvPicPr>
          <p:cNvPr id="4" name="Case study image" descr="Case stud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942" y="1543050"/>
            <a:ext cx="4391025" cy="360045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06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kern="0" spc="-232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Aagje. </a:t>
            </a:r>
            <a:r>
              <a:rPr lang="en-US" sz="3100" kern="0" spc="-232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A candy shop that went online.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popular Dutch sweet shop riding the viral Dubai-chocolate wave had no web presence to capture demand beyond the counter.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storefront on Azure App Service: catalogue with filters, gift boxes, tea, reviews, games and an AI 'Snoep-tovenaar' advisor for recommendations.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shop's range is browsable and orderable online with prices, stock and categories — a foundation for turning social buzz into repeat sales.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 ·  NETHERLANDS  ·  2 WEEKS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07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00" kern="0" spc="-217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NEPSE. </a:t>
            </a:r>
            <a:r>
              <a:rPr lang="en-US" sz="2900" kern="0" spc="-217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Nepal's market data, searchable.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Nepal Stock Exchange data was scattered across pages with no API; analysts scraped by hand and could not ask questions across history.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Scraper service on an Azure VM feeding an ARiVA assistant, so listings, prices and disclosures become a queryable, grounded corpus.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collection replaced manual pulls; market questions are answered from live data instead of spreadsheets.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MARKETS  ·  NEPAL  ·  PILOT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08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kern="0" spc="-180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e-Mükellef. </a:t>
            </a:r>
            <a:r>
              <a:rPr lang="en-US" sz="2400" kern="0" spc="-180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VAT work, automated for accountants.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Turkish accounting offices spend hours each month on repetitive KDV (VAT) preparation and client document chasing.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platform for accounting offices: document intake, KDV calculation checks and client-facing status, deployed on Azure App Service.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Routine VAT preparation moved from manual keying to a checked, automated flow; staff time freed for advisory work.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ACCOUNTING  ·  TÜRKİYE  ·  PROOF OF CONCEPT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pic>
        <p:nvPicPr>
          <p:cNvPr id="4" name="Case study image" descr="Case stud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942" y="1543050"/>
            <a:ext cx="4391025" cy="360045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09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kern="0" spc="-225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SOVRA. </a:t>
            </a:r>
            <a:r>
              <a:rPr lang="en-US" sz="3000" kern="0" spc="-225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Agents you can hold to account.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agents delegate to other agents, nobody can prove who was allowed to do what, with how much budget, and whether the evidence was tampered with.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Trust-fabric PoC: mandates with attenuating budget and depth, a policy enforcement point (PERMIT / ESCALATE / DENY), did:web registry, A2A cards.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decision lands in a Merkle evidence log exported as a signed, offline-verifiable pack — tamper it and re-verification fails on demand.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GOVERNANCE  ·  EU  ·  IP &amp; PROOF OF CONCEPT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10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kern="0" spc="-180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Broker fee sheet. </a:t>
            </a:r>
            <a:r>
              <a:rPr lang="en-US" sz="2400" kern="0" spc="-180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One source of truth for fees.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Brokerage fee schedules lived in spreadsheets shared by email; versions drifted and clients were quoted inconsistently.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fee-sheet web app on Azure Static Web Apps behind Microsoft sign-in, giving the team a single maintained schedule.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controlled fee sheet replaces circulating copies; quotes are consistent and changes are auditable.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SERVICES  ·  EU  ·  2 WEEKS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631EB1-C7F9-CF1A-1A13-5856201DA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509" y="1839738"/>
            <a:ext cx="5356316" cy="2667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11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kern="0" spc="-232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Karbonara. </a:t>
            </a:r>
            <a:r>
              <a:rPr lang="en-US" sz="3100" kern="0" spc="-232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CBAM data, corridor-ready.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CBAM obligations require Turkish exporters to report embedded emissions per shipment — data that sits in ERPs, suppliers and utility bills.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on Azure Container Apps: ingest production and energy data, compute embedded CO₂ per product, generate CBAM-ready declaration data.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Exporters can produce declaration data from source systems instead of consultants' spreadsheets; the Turkey–EU corridor case is now demonstrable.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MANUFACTURING &amp; TRADE  ·  TÜRKİYE / EU  ·  CONCEPT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E2D051-4E4C-822F-0FAF-0589DCE57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038" y="1673050"/>
            <a:ext cx="5354940" cy="2903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12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kern="0" spc="-180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QNB Leasing. </a:t>
            </a:r>
            <a:r>
              <a:rPr lang="en-US" sz="2400" kern="0" spc="-180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Vehicle offers, decided by agents.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Vehicle-leasing quotes and credit decisions took days of analyst work across SAP, PDFs and BDDK rules, with limited traceability.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credit decisioning: LangGraph + DMN rules, Flowable, Qdrant, Qwen3 on vLLM; product and offer engine on Azure Container Apps, dev → prod.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plans generated from product rules in seconds; every decision is logged against the BDDK ruleset. Dev and production environments live.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LEASING &amp; BANKING  ·  TÜRKİYE  ·  3 MONTHS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28D669-96E5-A6CB-EF12-128D2749B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18257"/>
            <a:ext cx="7772400" cy="38568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pic>
        <p:nvPicPr>
          <p:cNvPr id="4" name="Case study image" descr="Case stud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942" y="1543050"/>
            <a:ext cx="4391025" cy="360045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13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kern="0" spc="-165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Nurol Portföy. </a:t>
            </a:r>
            <a:r>
              <a:rPr lang="en-US" sz="2200" kern="0" spc="-165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An investment assistant that answers.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 questions about funds and instruments reached call centres and advisors; answers varied and were slow outside office hours.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Nurol Asistan on ARiVA: bilingual TR/EN assistant grounded on fund documents and investment concepts, with disclaimers and guardrails.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investor questions answered instantly with sourced, non-advisory responses; advisors handle only what needs judgement.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MANAGEMENT  ·  TÜRKİYE  ·  4 WEEKS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14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kern="0" spc="-187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TASAMA. </a:t>
            </a:r>
            <a:r>
              <a:rPr lang="en-US" sz="2500" kern="0" spc="-187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An AI workspace for business services.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Gulf business-services firm needed staff to use AI on client documents without exposing them to public tools.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TASAMA Core: enterprise AI workspace with chats, knowledge base and agents, Arabic/English, tenant sign-in, on Azure App Service.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work from one governed workspace; client knowledge stays inside the tenant instead of scattered across personal AI accounts.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SERVICES  ·  GCC  ·  PROOF OF CONCEPT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E18135-DB87-7EEF-D08F-44612CC43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816" y="1443523"/>
            <a:ext cx="7772400" cy="39021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pic>
        <p:nvPicPr>
          <p:cNvPr id="4" name="Case study image" descr="Case stud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942" y="1543050"/>
            <a:ext cx="4391025" cy="360045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16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kern="0" spc="-225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MoEI. </a:t>
            </a:r>
            <a:r>
              <a:rPr lang="en-US" sz="3000" kern="0" spc="-225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Agentic services for a ministry.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UAE Ministry of Energy &amp; Infrastructure asked for 19 AI agents across its Infrastructure Development Sector, with no platform to run them.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Services Platform: avatar assistant, tender-analysis flow, MiOS operating-system UI, n8n flow middleware and human decision gates on Azure.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demos of tender review and infrastructure command centre with human-gated quality checks; the basis for the 19-agent proposal.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  ·  UAE  ·  8 WEEKS (PROPOSAL PHASE)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pic>
        <p:nvPicPr>
          <p:cNvPr id="4" name="Case study image" descr="Case stud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942" y="1543050"/>
            <a:ext cx="4391025" cy="360045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17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kern="0" spc="-157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Kuveyt Türk Yatırım. </a:t>
            </a:r>
            <a:r>
              <a:rPr lang="en-US" sz="2100" kern="0" spc="-157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Every call checked at four gates.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audit could only sample brokerage calls; ethics, mandate, emotion and procedure breaches were found late or not at all.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call-compliance PoC: speech-to-text, four risk gates (ethics, mandate, emotion, procedure), audit agent with weekly insights and coaching queue.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estate: 71% gate pass rate, critical calls routed to a 24-hour review queue, and targeted coaching actions generated per breach type.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MARKETS  ·  TÜRKİYE  ·  PROOF OF CONCEPT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pic>
        <p:nvPicPr>
          <p:cNvPr id="4" name="Case study image" descr="Case stud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942" y="1543050"/>
            <a:ext cx="4391025" cy="360045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19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kern="0" spc="-150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Vodafone Business. </a:t>
            </a:r>
            <a:r>
              <a:rPr lang="en-US" sz="2000" kern="0" spc="-150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Data-center incidents, handled by agents.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and vSphere incidents in the data centre depended on on-call engineers; time-to-fix and audit evidence varied by shift.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OpsPilot PoC: agentic operations over a simulated Veeam + vSphere estate — incident feed, diagnosis, approvals, comms and full audit trail.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scenarios (backup failure, VM request, maintenance, sweep, reporting) run end-to-end with auto-resolution and human approval gates.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TELECOM  ·  TÜRKİYE  ·  PROOF OF CONCEPT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pic>
        <p:nvPicPr>
          <p:cNvPr id="4" name="Case study image" descr="Case stud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942" y="1543050"/>
            <a:ext cx="4391025" cy="360045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21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kern="0" spc="-180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LoopStay. </a:t>
            </a:r>
            <a:r>
              <a:rPr lang="en-US" sz="2400" kern="0" spc="-180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Every hotel asset gets a second life.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Hotels retire mattresses, carpets and furniture by default to landfill, with no record of value lost or CSRD-grade evidence of what was diverted.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on Azure App Service: asset registry with life-remaining, AI matching to resale, take-back, donation and recycling partners, audit trail.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portfolio shows 4.2t waste diverted, 3.8t CO₂e avoided and €12.4k value recovered, tracked against a 40% circular-procurement target.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HOSPITALITY  ·  NETHERLANDS  ·  CONCEPT PRODUCT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pic>
        <p:nvPicPr>
          <p:cNvPr id="4" name="Case study image" descr="Case stud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942" y="1543050"/>
            <a:ext cx="4391025" cy="360045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22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kern="0" spc="-187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STAETEC. </a:t>
            </a:r>
            <a:r>
              <a:rPr lang="en-US" sz="2500" kern="0" spc="-187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Zero-knowledge vaults in the browser.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Sensitive files were shared through tools where the provider could read them; the client wanted encryption it could prove, not promise.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staetec cloud: client-side encrypted vaults where the passphrase never leaves the browser, Microsoft sign-in, static front end plus Flex API on Azure.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Encrypted storage the operator itself cannot read; a benchmark service (distbench) validates performance across distributed workloads.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 ·  EU  ·  6 WEEKS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pic>
        <p:nvPicPr>
          <p:cNvPr id="4" name="Case study image" descr="Case stud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942" y="1543050"/>
            <a:ext cx="4391025" cy="360045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23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kern="0" spc="-210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Teufel. </a:t>
            </a:r>
            <a:r>
              <a:rPr lang="en-US" sz="2800" kern="0" spc="-210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A photo becomes a speaker system.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Shoppers could not translate room size and layout into the right Teufel system; advice needed a store visit or a long call.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Raumadviseur (NL/DE) on Azure Container Apps, powered by ARiVA: upload a room photo, set budget and TV size, get a system plus placement advice.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estimated and a recommended plus alternative system proposed from one photo, with a follow-up advisor chat.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ELECTRONICS  ·  NL / DE  ·  PROOF OF CONCEPT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pic>
        <p:nvPicPr>
          <p:cNvPr id="4" name="Case study image" descr="Case study 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942" y="1543050"/>
            <a:ext cx="4391025" cy="360045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24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00" kern="0" spc="-217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Misyon. </a:t>
            </a:r>
            <a:r>
              <a:rPr lang="en-US" sz="2900" kern="0" spc="-217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Credit risk, watched by agents.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bank's credit-monitoring team tracked a 21.7bn TL portfolio manually; KAP disclosures and early-warning signals were reviewed after the fact.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KrediPilot PoC: portfolio early warning, KAP disclosure watch, concentration analysis and human-gated actions, TR/EN, on Azure App Service.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concentration (top 20 = 62%), guarantee exposure and signals are visible daily; scans propose actions that analysts approve.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BANKING  ·  TÜRKİYE  ·  PROOF OF CONCEPT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25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kern="0" spc="-157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Coca-Cola İçecek. </a:t>
            </a:r>
            <a:r>
              <a:rPr lang="en-US" sz="2100" kern="0" spc="-157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Predictive maintenance on the line.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Bottling-line faults (fillers, seamers, CO₂ headers) caused unplanned downtime; knowledge lived with senior technicians.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LinePilot PoC: agentic predictive maintenance over AVEVA PI telemetry (simulated) plus a maintenance knowledge base, with work orders and approvals.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fault scenarios diagnosed from code to work order; line OEE tracked at 86.4% with failures avoided and downtime saved counted per incident.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BEVERAGE MANUFACTURING  ·  TÜRKİYE  ·  PROOF OF CONCEPT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CEFA87-6ED0-8B3A-A62B-33C305AA8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767" y="1498541"/>
            <a:ext cx="7772400" cy="40744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pic>
        <p:nvPicPr>
          <p:cNvPr id="3" name="Logo" descr="Cogniris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914400" cy="60960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554435" y="478185"/>
            <a:ext cx="3095603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4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/ 26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457200" y="908670"/>
            <a:ext cx="7041557" cy="5095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kern="0" spc="-270" dirty="0">
                <a:solidFill>
                  <a:srgbClr val="102957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Misyon. </a:t>
            </a:r>
            <a:r>
              <a:rPr lang="en-US" sz="3600" kern="0" spc="-270" dirty="0">
                <a:solidFill>
                  <a:srgbClr val="DB509E"/>
                </a:solidFill>
                <a:latin typeface="Comfortaa Medium" pitchFamily="34" charset="0"/>
                <a:ea typeface="Comfortaa Medium" pitchFamily="34" charset="-122"/>
                <a:cs typeface="Comfortaa Medium" pitchFamily="34" charset="-120"/>
              </a:rPr>
              <a:t>Provisions on the radar.</a:t>
            </a:r>
          </a:p>
        </p:txBody>
      </p:sp>
      <p:cxnSp>
        <p:nvCxnSpPr>
          <p:cNvPr id="13" name="Line"/>
          <p:cNvCxnSpPr/>
          <p:nvPr/>
        </p:nvCxnSpPr>
        <p:spPr>
          <a:xfrm>
            <a:off x="457200" y="1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4" name="Text"/>
          <p:cNvSpPr txBox="1"/>
          <p:nvPr/>
        </p:nvSpPr>
        <p:spPr>
          <a:xfrm>
            <a:off x="457200" y="1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7200" y="1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Loan-loss provision (karşılık) movements were reconciled monthly; drivers were hard to trace to individual exposures.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457200" y="2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457200" y="2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7200" y="2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Karşılık Radar on Azure App Service, behind Microsoft sign-in: exposure-level provision tracking with alerts on threshold changes.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457200" y="3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0" name="Text"/>
          <p:cNvSpPr txBox="1"/>
          <p:nvPr/>
        </p:nvSpPr>
        <p:spPr>
          <a:xfrm>
            <a:off x="457200" y="3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19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" y="3888050"/>
            <a:ext cx="3886200" cy="5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dirty="0">
                <a:solidFill>
                  <a:srgbClr val="1029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Provision drivers are visible per customer before month-end, giving risk and finance teams a shared view.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457200" y="4543050"/>
            <a:ext cx="3886200" cy="0"/>
          </a:xfrm>
          <a:prstGeom prst="line">
            <a:avLst/>
          </a:prstGeom>
          <a:ln w="6350">
            <a:solidFill>
              <a:srgbClr val="102957"/>
            </a:solidFill>
          </a:ln>
        </p:spPr>
      </p:cxnSp>
      <p:sp>
        <p:nvSpPr>
          <p:cNvPr id="23" name="Text"/>
          <p:cNvSpPr txBox="1"/>
          <p:nvPr/>
        </p:nvSpPr>
        <p:spPr>
          <a:xfrm>
            <a:off x="457200" y="4673050"/>
            <a:ext cx="3886200" cy="166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1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BANKING  ·  TÜRKİYE  ·  PROOF OF CONCEPT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170B09-8B7C-DD13-8E03-7686D1022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195" y="1543050"/>
            <a:ext cx="7772400" cy="41223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1969</Words>
  <Application>Microsoft Macintosh PowerPoint</Application>
  <PresentationFormat>On-screen Show (16:9)</PresentationFormat>
  <Paragraphs>189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Comfortaa Medium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Mounir Ariss</cp:lastModifiedBy>
  <cp:revision>3</cp:revision>
  <dcterms:created xsi:type="dcterms:W3CDTF">2026-09-04T15:43:16Z</dcterms:created>
  <dcterms:modified xsi:type="dcterms:W3CDTF">2026-09-09T09:27:59Z</dcterms:modified>
</cp:coreProperties>
</file>