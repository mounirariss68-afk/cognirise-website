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329" r:id="rId2"/>
    <p:sldId id="337" r:id="rId3"/>
    <p:sldId id="331" r:id="rId4"/>
    <p:sldId id="332" r:id="rId5"/>
    <p:sldId id="333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936"/>
    <a:srgbClr val="DB4F9E"/>
    <a:srgbClr val="FF775C"/>
    <a:srgbClr val="4A76F5"/>
    <a:srgbClr val="A858BD"/>
    <a:srgbClr val="946EF5"/>
    <a:srgbClr val="5F708D"/>
    <a:srgbClr val="F9F7F4"/>
    <a:srgbClr val="E36080"/>
    <a:srgbClr val="6B7B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58"/>
  </p:normalViewPr>
  <p:slideViewPr>
    <p:cSldViewPr snapToGrid="0" snapToObjects="1">
      <p:cViewPr varScale="1">
        <p:scale>
          <a:sx n="154" d="100"/>
          <a:sy n="154" d="100"/>
        </p:scale>
        <p:origin x="10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26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C12F907-4A07-BD7A-4B72-34C2950B985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936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0437B906-5525-33E3-4FD9-3A8AEDB8FB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3839542" y="0"/>
            <a:ext cx="5305425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38711"/>
            <a:ext cx="2133600" cy="112713"/>
          </a:xfrm>
          <a:prstGeom prst="rect">
            <a:avLst/>
          </a:prstGeom>
        </p:spPr>
        <p:txBody>
          <a:bodyPr lIns="0" tIns="0" rIns="0" bIns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AC3C89-1285-C4B8-B2E2-A857DE716188}"/>
              </a:ext>
            </a:extLst>
          </p:cNvPr>
          <p:cNvSpPr/>
          <p:nvPr userDrawn="1"/>
        </p:nvSpPr>
        <p:spPr>
          <a:xfrm>
            <a:off x="0" y="0"/>
            <a:ext cx="9150263" cy="5142567"/>
          </a:xfrm>
          <a:prstGeom prst="rect">
            <a:avLst/>
          </a:prstGeom>
          <a:gradFill flip="none" rotWithShape="1">
            <a:gsLst>
              <a:gs pos="0">
                <a:srgbClr val="061936"/>
              </a:gs>
              <a:gs pos="63011">
                <a:srgbClr val="FFFFFF">
                  <a:alpha val="0"/>
                </a:srgbClr>
              </a:gs>
              <a:gs pos="50000">
                <a:srgbClr val="061936">
                  <a:alpha val="49927"/>
                </a:srgbClr>
              </a:gs>
              <a:gs pos="42000">
                <a:srgbClr val="06193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FAD5371-41DC-0D8B-AB8F-7E7BC5B34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646" y="256654"/>
            <a:ext cx="1004887" cy="671513"/>
          </a:xfrm>
          <a:prstGeom prst="rect">
            <a:avLst/>
          </a:prstGeom>
        </p:spPr>
      </p:pic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0ABB278E-A6F9-7193-55BA-A1E6E5014C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4861582"/>
            <a:ext cx="2743200" cy="23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1658293"/>
            <a:ext cx="5158259" cy="584775"/>
          </a:xfrm>
          <a:noFill/>
          <a:ln/>
        </p:spPr>
        <p:txBody>
          <a:bodyPr wrap="none" lIns="0" tIns="0" rIns="0" bIns="0" rtlCol="0" anchor="ctr"/>
          <a:lstStyle>
            <a:lvl1pPr>
              <a:defRPr lang="en-US" sz="3800" kern="0" spc="-374">
                <a:solidFill>
                  <a:srgbClr val="FFFFFF"/>
                </a:solidFill>
                <a:latin typeface="Comfortaa Medium" pitchFamily="2" charset="0"/>
                <a:ea typeface="Comfortaa Medium" pitchFamily="2" charset="0"/>
                <a:cs typeface="Comfortaa Medium" pitchFamily="2" charset="0"/>
              </a:defRPr>
            </a:lvl1pPr>
          </a:lstStyle>
          <a:p>
            <a:pPr marL="0" lvl="0" indent="0">
              <a:spcBef>
                <a:spcPts val="1620"/>
              </a:spcBef>
            </a:pPr>
            <a:r>
              <a:rPr lang="en-US" dirty="0"/>
              <a:t>Click to edit title line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38711"/>
            <a:ext cx="2898003" cy="151471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6CD224-EA2A-3B4E-4707-216D05574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233" y="1219437"/>
            <a:ext cx="5159226" cy="344487"/>
          </a:xfrm>
          <a:noFill/>
          <a:ln/>
        </p:spPr>
        <p:txBody>
          <a:bodyPr wrap="none" lIns="0" tIns="0" rIns="0" bIns="0" rtlCol="0" anchor="ctr">
            <a:normAutofit/>
          </a:bodyPr>
          <a:lstStyle>
            <a:lvl1pPr marL="4763" indent="-4763">
              <a:buNone/>
              <a:tabLst/>
              <a:defRPr lang="en-US" sz="900" b="1" kern="0" spc="151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E" sz="1800"/>
            </a:lvl5pPr>
          </a:lstStyle>
          <a:p>
            <a:pPr marL="342900" lvl="0" indent="-342900"/>
            <a:r>
              <a:rPr lang="en-US" dirty="0"/>
              <a:t>Click to edit 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8EBDA-DEB3-D3AF-CEE0-8B98669C3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65" y="3328640"/>
            <a:ext cx="3647010" cy="754062"/>
          </a:xfrm>
          <a:noFill/>
          <a:ln/>
        </p:spPr>
        <p:txBody>
          <a:bodyPr wrap="square" lIns="0" tIns="0" rIns="0" bIns="0" rtlCol="0" anchor="t">
            <a:normAutofit/>
          </a:bodyPr>
          <a:lstStyle>
            <a:lvl1pPr marL="4763" indent="-4763">
              <a:buNone/>
              <a:tabLst/>
              <a:defRPr lang="en-US" sz="1400" dirty="0" smtClean="0">
                <a:solidFill>
                  <a:srgbClr val="DBE3F0"/>
                </a:solidFill>
                <a:latin typeface="Comfortaa Medium" pitchFamily="2" charset="0"/>
                <a:ea typeface="Inter" panose="02000503000000020004" pitchFamily="2" charset="0"/>
                <a:cs typeface="Comfortaa Medium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AE" sz="1800" dirty="0"/>
            </a:lvl5pPr>
          </a:lstStyle>
          <a:p>
            <a:pPr marL="342900" lvl="0" indent="-342900">
              <a:lnSpc>
                <a:spcPts val="2088"/>
              </a:lnSpc>
            </a:pPr>
            <a:r>
              <a:rPr lang="en-US" dirty="0"/>
              <a:t>Click to edit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60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C12F907-4A07-BD7A-4B72-34C2950B985E}"/>
              </a:ext>
            </a:extLst>
          </p:cNvPr>
          <p:cNvSpPr/>
          <p:nvPr userDrawn="1"/>
        </p:nvSpPr>
        <p:spPr>
          <a:xfrm>
            <a:off x="0" y="-933"/>
            <a:ext cx="9144000" cy="5143500"/>
          </a:xfrm>
          <a:prstGeom prst="rect">
            <a:avLst/>
          </a:prstGeom>
          <a:solidFill>
            <a:srgbClr val="071936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D7A7DD3-6985-339A-BF16-5C86E9AD1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38711"/>
            <a:ext cx="2133600" cy="112713"/>
          </a:xfrm>
          <a:prstGeom prst="rect">
            <a:avLst/>
          </a:prstGeom>
        </p:spPr>
        <p:txBody>
          <a:bodyPr lIns="0" tIns="0" rIns="0" bIns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FD2E92-5E2A-CFFD-341F-87828B292C8C}"/>
              </a:ext>
            </a:extLst>
          </p:cNvPr>
          <p:cNvSpPr/>
          <p:nvPr userDrawn="1"/>
        </p:nvSpPr>
        <p:spPr>
          <a:xfrm>
            <a:off x="0" y="0"/>
            <a:ext cx="9150263" cy="5142567"/>
          </a:xfrm>
          <a:prstGeom prst="rect">
            <a:avLst/>
          </a:prstGeom>
          <a:gradFill flip="none" rotWithShape="1">
            <a:gsLst>
              <a:gs pos="0">
                <a:srgbClr val="061936"/>
              </a:gs>
              <a:gs pos="60000">
                <a:schemeClr val="bg1">
                  <a:alpha val="0"/>
                </a:schemeClr>
              </a:gs>
              <a:gs pos="47000">
                <a:srgbClr val="06193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FAD5371-41DC-0D8B-AB8F-7E7BC5B34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646" y="256654"/>
            <a:ext cx="1004887" cy="671513"/>
          </a:xfrm>
          <a:prstGeom prst="rect">
            <a:avLst/>
          </a:prstGeom>
        </p:spPr>
      </p:pic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0ABB278E-A6F9-7193-55BA-A1E6E5014C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4861582"/>
            <a:ext cx="2743200" cy="23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1658293"/>
            <a:ext cx="5158260" cy="584775"/>
          </a:xfrm>
          <a:noFill/>
          <a:ln/>
        </p:spPr>
        <p:txBody>
          <a:bodyPr wrap="none" lIns="0" tIns="0" rIns="0" bIns="0" rtlCol="0" anchor="ctr"/>
          <a:lstStyle>
            <a:lvl1pPr>
              <a:defRPr lang="en-US" sz="3800" kern="0" spc="-374">
                <a:solidFill>
                  <a:srgbClr val="FFFFFF"/>
                </a:solidFill>
                <a:latin typeface="Comfortaa Medium" pitchFamily="2" charset="0"/>
                <a:ea typeface="Comfortaa Medium" pitchFamily="2" charset="0"/>
                <a:cs typeface="Comfortaa Medium" pitchFamily="2" charset="0"/>
              </a:defRPr>
            </a:lvl1pPr>
          </a:lstStyle>
          <a:p>
            <a:pPr marL="0" lvl="0" indent="0">
              <a:spcBef>
                <a:spcPts val="1620"/>
              </a:spcBef>
            </a:pPr>
            <a:r>
              <a:rPr lang="en-US" dirty="0"/>
              <a:t>Click to edit title text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38711"/>
            <a:ext cx="2898003" cy="151471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6CD224-EA2A-3B4E-4707-216D05574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233" y="1219437"/>
            <a:ext cx="5159226" cy="344487"/>
          </a:xfrm>
          <a:noFill/>
          <a:ln/>
        </p:spPr>
        <p:txBody>
          <a:bodyPr wrap="none" lIns="0" tIns="0" rIns="0" bIns="0" rtlCol="0" anchor="ctr">
            <a:normAutofit/>
          </a:bodyPr>
          <a:lstStyle>
            <a:lvl1pPr marL="4763" indent="-4763">
              <a:buNone/>
              <a:tabLst/>
              <a:defRPr lang="en-US" sz="900" b="1" kern="0" spc="151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E" sz="1800"/>
            </a:lvl5pPr>
          </a:lstStyle>
          <a:p>
            <a:pPr marL="342900" lvl="0" indent="-342900"/>
            <a:r>
              <a:rPr lang="en-US" dirty="0"/>
              <a:t>Click to edit 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8EBDA-DEB3-D3AF-CEE0-8B98669C3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65" y="3328640"/>
            <a:ext cx="3903794" cy="754062"/>
          </a:xfrm>
          <a:noFill/>
          <a:ln/>
        </p:spPr>
        <p:txBody>
          <a:bodyPr wrap="square" lIns="0" tIns="0" rIns="0" bIns="0" rtlCol="0" anchor="t">
            <a:normAutofit/>
          </a:bodyPr>
          <a:lstStyle>
            <a:lvl1pPr marL="4763" indent="-4763">
              <a:buNone/>
              <a:tabLst/>
              <a:defRPr lang="en-US" sz="1400" dirty="0" smtClean="0">
                <a:solidFill>
                  <a:srgbClr val="DBE3F0"/>
                </a:solidFill>
                <a:latin typeface="Comfortaa Medium" pitchFamily="2" charset="0"/>
                <a:ea typeface="Inter" panose="02000503000000020004" pitchFamily="2" charset="0"/>
                <a:cs typeface="Comfortaa Medium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AE" sz="1800" dirty="0"/>
            </a:lvl5pPr>
          </a:lstStyle>
          <a:p>
            <a:pPr marL="342900" lvl="0" indent="-342900">
              <a:lnSpc>
                <a:spcPts val="2088"/>
              </a:lnSpc>
            </a:pPr>
            <a:r>
              <a:rPr lang="en-US" dirty="0"/>
              <a:t>Click to edit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398020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60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C12F907-4A07-BD7A-4B72-34C2950B985E}"/>
              </a:ext>
            </a:extLst>
          </p:cNvPr>
          <p:cNvSpPr/>
          <p:nvPr userDrawn="1"/>
        </p:nvSpPr>
        <p:spPr>
          <a:xfrm>
            <a:off x="0" y="-933"/>
            <a:ext cx="9144000" cy="5143500"/>
          </a:xfrm>
          <a:prstGeom prst="rect">
            <a:avLst/>
          </a:prstGeom>
          <a:solidFill>
            <a:srgbClr val="071936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F7F2800-A5CE-CA58-F5E8-FC4E749627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023866" y="0"/>
            <a:ext cx="5119688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38711"/>
            <a:ext cx="2133600" cy="112713"/>
          </a:xfrm>
          <a:prstGeom prst="rect">
            <a:avLst/>
          </a:prstGeom>
        </p:spPr>
        <p:txBody>
          <a:bodyPr lIns="0" tIns="0" rIns="0" bIns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A1E2D0-318D-793C-52DD-8134F64C8641}"/>
              </a:ext>
            </a:extLst>
          </p:cNvPr>
          <p:cNvSpPr/>
          <p:nvPr userDrawn="1"/>
        </p:nvSpPr>
        <p:spPr>
          <a:xfrm>
            <a:off x="0" y="0"/>
            <a:ext cx="9150263" cy="5142567"/>
          </a:xfrm>
          <a:prstGeom prst="rect">
            <a:avLst/>
          </a:prstGeom>
          <a:gradFill flip="none" rotWithShape="1">
            <a:gsLst>
              <a:gs pos="0">
                <a:srgbClr val="061936"/>
              </a:gs>
              <a:gs pos="60000">
                <a:schemeClr val="bg1">
                  <a:alpha val="0"/>
                </a:schemeClr>
              </a:gs>
              <a:gs pos="47000">
                <a:srgbClr val="06193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FAD5371-41DC-0D8B-AB8F-7E7BC5B34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646" y="256654"/>
            <a:ext cx="1004887" cy="671513"/>
          </a:xfrm>
          <a:prstGeom prst="rect">
            <a:avLst/>
          </a:prstGeom>
        </p:spPr>
      </p:pic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0ABB278E-A6F9-7193-55BA-A1E6E5014C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4861582"/>
            <a:ext cx="2743200" cy="23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1658293"/>
            <a:ext cx="5158259" cy="584775"/>
          </a:xfrm>
          <a:noFill/>
          <a:ln/>
        </p:spPr>
        <p:txBody>
          <a:bodyPr wrap="none" lIns="0" tIns="0" rIns="0" bIns="0" rtlCol="0" anchor="ctr"/>
          <a:lstStyle>
            <a:lvl1pPr>
              <a:defRPr lang="en-US" sz="3800" kern="0" spc="-374">
                <a:solidFill>
                  <a:srgbClr val="FFFFFF"/>
                </a:solidFill>
                <a:latin typeface="Comfortaa Medium" pitchFamily="2" charset="0"/>
                <a:ea typeface="Comfortaa Medium" pitchFamily="2" charset="0"/>
                <a:cs typeface="Comfortaa Medium" pitchFamily="2" charset="0"/>
              </a:defRPr>
            </a:lvl1pPr>
          </a:lstStyle>
          <a:p>
            <a:pPr marL="0" lvl="0" indent="0">
              <a:spcBef>
                <a:spcPts val="1620"/>
              </a:spcBef>
            </a:pPr>
            <a:r>
              <a:rPr lang="en-US" dirty="0"/>
              <a:t>Click to edit title line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38711"/>
            <a:ext cx="2898003" cy="151471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6CD224-EA2A-3B4E-4707-216D05574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233" y="1219437"/>
            <a:ext cx="5159226" cy="344487"/>
          </a:xfrm>
          <a:noFill/>
          <a:ln/>
        </p:spPr>
        <p:txBody>
          <a:bodyPr wrap="none" lIns="0" tIns="0" rIns="0" bIns="0" rtlCol="0" anchor="ctr">
            <a:normAutofit/>
          </a:bodyPr>
          <a:lstStyle>
            <a:lvl1pPr marL="4763" indent="-4763">
              <a:buNone/>
              <a:tabLst/>
              <a:defRPr lang="en-US" sz="900" b="1" kern="0" spc="151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E" sz="1800"/>
            </a:lvl5pPr>
          </a:lstStyle>
          <a:p>
            <a:pPr marL="342900" lvl="0" indent="-342900"/>
            <a:r>
              <a:rPr lang="en-US" dirty="0"/>
              <a:t>Click to edit 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8EBDA-DEB3-D3AF-CEE0-8B98669C3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65" y="3328640"/>
            <a:ext cx="4116736" cy="754062"/>
          </a:xfrm>
          <a:noFill/>
          <a:ln/>
        </p:spPr>
        <p:txBody>
          <a:bodyPr wrap="square" lIns="0" tIns="0" rIns="0" bIns="0" rtlCol="0" anchor="t">
            <a:normAutofit/>
          </a:bodyPr>
          <a:lstStyle>
            <a:lvl1pPr marL="4763" indent="-4763">
              <a:buNone/>
              <a:tabLst/>
              <a:defRPr lang="en-US" sz="1400" dirty="0" smtClean="0">
                <a:solidFill>
                  <a:srgbClr val="DBE3F0"/>
                </a:solidFill>
                <a:latin typeface="Comfortaa Medium" pitchFamily="2" charset="0"/>
                <a:ea typeface="Inter" panose="02000503000000020004" pitchFamily="2" charset="0"/>
                <a:cs typeface="Comfortaa Medium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AE" sz="1800" dirty="0"/>
            </a:lvl5pPr>
          </a:lstStyle>
          <a:p>
            <a:pPr marL="342900" lvl="0" indent="-342900">
              <a:lnSpc>
                <a:spcPts val="2088"/>
              </a:lnSpc>
            </a:pPr>
            <a:r>
              <a:rPr lang="en-US" dirty="0"/>
              <a:t>Click to edit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295485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6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C12F907-4A07-BD7A-4B72-34C2950B985E}"/>
              </a:ext>
            </a:extLst>
          </p:cNvPr>
          <p:cNvSpPr/>
          <p:nvPr userDrawn="1"/>
        </p:nvSpPr>
        <p:spPr>
          <a:xfrm>
            <a:off x="0" y="-933"/>
            <a:ext cx="9144000" cy="5143500"/>
          </a:xfrm>
          <a:prstGeom prst="rect">
            <a:avLst/>
          </a:prstGeom>
          <a:solidFill>
            <a:srgbClr val="071936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0695E5-E5F5-D667-49EF-A7D3AA8DC4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717"/>
          <a:stretch>
            <a:fillRect/>
          </a:stretch>
        </p:blipFill>
        <p:spPr>
          <a:xfrm>
            <a:off x="4191694" y="0"/>
            <a:ext cx="4952306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38711"/>
            <a:ext cx="2133600" cy="112713"/>
          </a:xfrm>
          <a:prstGeom prst="rect">
            <a:avLst/>
          </a:prstGeom>
        </p:spPr>
        <p:txBody>
          <a:bodyPr lIns="0" tIns="0" rIns="0" bIns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0ABB278E-A6F9-7193-55BA-A1E6E5014C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0" y="4861582"/>
            <a:ext cx="2743200" cy="2381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38711"/>
            <a:ext cx="2898003" cy="151471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© Cognirise 2026. All Rights Reserved.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F7B9CA-571D-21A8-6A17-647D8DF56D97}"/>
              </a:ext>
            </a:extLst>
          </p:cNvPr>
          <p:cNvSpPr/>
          <p:nvPr userDrawn="1"/>
        </p:nvSpPr>
        <p:spPr>
          <a:xfrm>
            <a:off x="0" y="0"/>
            <a:ext cx="9150263" cy="5142567"/>
          </a:xfrm>
          <a:prstGeom prst="rect">
            <a:avLst/>
          </a:prstGeom>
          <a:gradFill flip="none" rotWithShape="1">
            <a:gsLst>
              <a:gs pos="0">
                <a:srgbClr val="061936"/>
              </a:gs>
              <a:gs pos="60000">
                <a:schemeClr val="bg1">
                  <a:alpha val="0"/>
                </a:schemeClr>
              </a:gs>
              <a:gs pos="47000">
                <a:srgbClr val="06193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FAD5371-41DC-0D8B-AB8F-7E7BC5B34E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4513" y="256654"/>
            <a:ext cx="1004887" cy="6715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1658293"/>
            <a:ext cx="5158259" cy="584775"/>
          </a:xfrm>
          <a:noFill/>
          <a:ln/>
        </p:spPr>
        <p:txBody>
          <a:bodyPr wrap="none" lIns="0" tIns="0" rIns="0" bIns="0" rtlCol="0" anchor="ctr"/>
          <a:lstStyle>
            <a:lvl1pPr>
              <a:defRPr lang="en-US" sz="3800" kern="0" spc="-374">
                <a:solidFill>
                  <a:srgbClr val="FFFFFF"/>
                </a:solidFill>
                <a:latin typeface="Comfortaa Medium" pitchFamily="2" charset="0"/>
                <a:ea typeface="Comfortaa Medium" pitchFamily="2" charset="0"/>
                <a:cs typeface="Comfortaa Medium" pitchFamily="2" charset="0"/>
              </a:defRPr>
            </a:lvl1pPr>
          </a:lstStyle>
          <a:p>
            <a:pPr marL="0" lvl="0" indent="0">
              <a:spcBef>
                <a:spcPts val="1620"/>
              </a:spcBef>
            </a:pPr>
            <a:r>
              <a:rPr lang="en-US" dirty="0"/>
              <a:t>Click to edit title line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6CD224-EA2A-3B4E-4707-216D05574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233" y="1219437"/>
            <a:ext cx="5159226" cy="344487"/>
          </a:xfrm>
          <a:noFill/>
          <a:ln/>
        </p:spPr>
        <p:txBody>
          <a:bodyPr wrap="none" lIns="0" tIns="0" rIns="0" bIns="0" rtlCol="0" anchor="ctr">
            <a:normAutofit/>
          </a:bodyPr>
          <a:lstStyle>
            <a:lvl1pPr marL="4763" indent="-4763">
              <a:buFont typeface="Arial" panose="020B0604020202020204" pitchFamily="34" charset="0"/>
              <a:buNone/>
              <a:tabLst/>
              <a:defRPr lang="en-US" sz="900" b="1" kern="0" spc="151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E" sz="1800"/>
            </a:lvl5pPr>
          </a:lstStyle>
          <a:p>
            <a:pPr marL="342900" lvl="0" indent="-342900"/>
            <a:r>
              <a:rPr lang="en-US" dirty="0"/>
              <a:t>Click to edit 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8EBDA-DEB3-D3AF-CEE0-8B98669C3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64" y="3328640"/>
            <a:ext cx="3997739" cy="754062"/>
          </a:xfrm>
          <a:noFill/>
          <a:ln/>
        </p:spPr>
        <p:txBody>
          <a:bodyPr wrap="square" lIns="0" tIns="0" rIns="0" bIns="0" rtlCol="0" anchor="t">
            <a:normAutofit/>
          </a:bodyPr>
          <a:lstStyle>
            <a:lvl1pPr marL="4763" indent="-4763">
              <a:buNone/>
              <a:tabLst/>
              <a:defRPr lang="en-US" sz="1400" dirty="0" smtClean="0">
                <a:solidFill>
                  <a:srgbClr val="DBE3F0"/>
                </a:solidFill>
                <a:latin typeface="Comfortaa Medium" pitchFamily="2" charset="0"/>
                <a:ea typeface="Inter" panose="02000503000000020004" pitchFamily="2" charset="0"/>
                <a:cs typeface="Comfortaa Medium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AE" sz="1800" dirty="0"/>
            </a:lvl5pPr>
          </a:lstStyle>
          <a:p>
            <a:pPr marL="342900" lvl="0" indent="-342900">
              <a:lnSpc>
                <a:spcPts val="2088"/>
              </a:lnSpc>
            </a:pPr>
            <a:r>
              <a:rPr lang="en-US" dirty="0"/>
              <a:t>Click to edit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268013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60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C12F907-4A07-BD7A-4B72-34C2950B985E}"/>
              </a:ext>
            </a:extLst>
          </p:cNvPr>
          <p:cNvSpPr/>
          <p:nvPr userDrawn="1"/>
        </p:nvSpPr>
        <p:spPr>
          <a:xfrm>
            <a:off x="0" y="-933"/>
            <a:ext cx="9144000" cy="5143500"/>
          </a:xfrm>
          <a:prstGeom prst="rect">
            <a:avLst/>
          </a:prstGeom>
          <a:solidFill>
            <a:srgbClr val="071936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127294-31AA-D697-CA9F-949C62B864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2C70792-C815-4492-C5DD-7B11ED78A698}"/>
              </a:ext>
            </a:extLst>
          </p:cNvPr>
          <p:cNvSpPr/>
          <p:nvPr userDrawn="1"/>
        </p:nvSpPr>
        <p:spPr>
          <a:xfrm>
            <a:off x="0" y="0"/>
            <a:ext cx="9150263" cy="5142567"/>
          </a:xfrm>
          <a:prstGeom prst="rect">
            <a:avLst/>
          </a:prstGeom>
          <a:gradFill flip="none" rotWithShape="1">
            <a:gsLst>
              <a:gs pos="0">
                <a:srgbClr val="061936"/>
              </a:gs>
              <a:gs pos="60000">
                <a:schemeClr val="bg1">
                  <a:alpha val="0"/>
                </a:schemeClr>
              </a:gs>
              <a:gs pos="47000">
                <a:srgbClr val="06193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38711"/>
            <a:ext cx="2133600" cy="112713"/>
          </a:xfrm>
          <a:prstGeom prst="rect">
            <a:avLst/>
          </a:prstGeom>
        </p:spPr>
        <p:txBody>
          <a:bodyPr lIns="0" tIns="0" rIns="0" bIns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0ABB278E-A6F9-7193-55BA-A1E6E5014C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0" y="4861582"/>
            <a:ext cx="2743200" cy="2381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38711"/>
            <a:ext cx="2898003" cy="151471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© Cognirise 2026. All Rights Reserved.</a:t>
            </a:r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FAD5371-41DC-0D8B-AB8F-7E7BC5B34E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646" y="256654"/>
            <a:ext cx="1004887" cy="6715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1658293"/>
            <a:ext cx="5158259" cy="584775"/>
          </a:xfrm>
          <a:noFill/>
          <a:ln/>
        </p:spPr>
        <p:txBody>
          <a:bodyPr wrap="none" lIns="0" tIns="0" rIns="0" bIns="0" rtlCol="0" anchor="ctr"/>
          <a:lstStyle>
            <a:lvl1pPr>
              <a:defRPr lang="en-US" sz="3800" kern="0" spc="-374">
                <a:solidFill>
                  <a:srgbClr val="FFFFFF"/>
                </a:solidFill>
                <a:latin typeface="Comfortaa Medium" pitchFamily="2" charset="0"/>
                <a:ea typeface="Comfortaa Medium" pitchFamily="2" charset="0"/>
                <a:cs typeface="Comfortaa Medium" pitchFamily="2" charset="0"/>
              </a:defRPr>
            </a:lvl1pPr>
          </a:lstStyle>
          <a:p>
            <a:pPr marL="0" lvl="0" indent="0">
              <a:spcBef>
                <a:spcPts val="1620"/>
              </a:spcBef>
            </a:pPr>
            <a:r>
              <a:rPr lang="en-US" dirty="0"/>
              <a:t>Click to edit title line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6CD224-EA2A-3B4E-4707-216D05574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233" y="1219437"/>
            <a:ext cx="5159226" cy="344487"/>
          </a:xfrm>
          <a:noFill/>
          <a:ln/>
        </p:spPr>
        <p:txBody>
          <a:bodyPr wrap="none" lIns="0" tIns="0" rIns="0" bIns="0" rtlCol="0" anchor="ctr">
            <a:normAutofit/>
          </a:bodyPr>
          <a:lstStyle>
            <a:lvl1pPr marL="4763" indent="-4763">
              <a:buFont typeface="Arial" panose="020B0604020202020204" pitchFamily="34" charset="0"/>
              <a:buNone/>
              <a:tabLst/>
              <a:defRPr lang="en-US" sz="900" b="1" kern="0" spc="151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E" sz="1800"/>
            </a:lvl5pPr>
          </a:lstStyle>
          <a:p>
            <a:pPr marL="342900" lvl="0" indent="-342900"/>
            <a:r>
              <a:rPr lang="en-US" dirty="0"/>
              <a:t>Click to edit 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8EBDA-DEB3-D3AF-CEE0-8B98669C3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64" y="3328640"/>
            <a:ext cx="4060369" cy="754062"/>
          </a:xfrm>
          <a:noFill/>
          <a:ln/>
        </p:spPr>
        <p:txBody>
          <a:bodyPr wrap="square" lIns="0" tIns="0" rIns="0" bIns="0" rtlCol="0" anchor="t">
            <a:normAutofit/>
          </a:bodyPr>
          <a:lstStyle>
            <a:lvl1pPr marL="4763" indent="-4763">
              <a:buNone/>
              <a:tabLst/>
              <a:defRPr lang="en-US" sz="1400" dirty="0" smtClean="0">
                <a:solidFill>
                  <a:srgbClr val="DBE3F0"/>
                </a:solidFill>
                <a:latin typeface="Comfortaa Medium" pitchFamily="2" charset="0"/>
                <a:ea typeface="Inter" panose="02000503000000020004" pitchFamily="2" charset="0"/>
                <a:cs typeface="Comfortaa Medium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AE" sz="1800" dirty="0"/>
            </a:lvl5pPr>
          </a:lstStyle>
          <a:p>
            <a:pPr marL="342900" lvl="0" indent="-342900">
              <a:lnSpc>
                <a:spcPts val="2088"/>
              </a:lnSpc>
            </a:pPr>
            <a:r>
              <a:rPr lang="en-US" dirty="0"/>
              <a:t>Click to edit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168829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4917674"/>
            <a:ext cx="2217420" cy="127975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500">
                <a:solidFill>
                  <a:srgbClr val="5F708D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© Cognirise 2026.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19872" y="4917674"/>
            <a:ext cx="466928" cy="127975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500">
                <a:solidFill>
                  <a:srgbClr val="5F708D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3ACB4A-3A6B-AA94-E5A0-2F4241ED99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975"/>
            <a:ext cx="2378075" cy="184150"/>
          </a:xfrm>
          <a:noFill/>
          <a:ln/>
        </p:spPr>
        <p:txBody>
          <a:bodyPr wrap="none" lIns="0" tIns="0" rIns="0" bIns="0" rtlCol="0" anchor="ctr"/>
          <a:lstStyle>
            <a:lvl1pPr>
              <a:buNone/>
              <a:defRPr lang="en-AE" sz="600" kern="0" spc="140" dirty="0">
                <a:solidFill>
                  <a:srgbClr val="60708D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/>
            <a:endParaRPr lang="en-A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88926A-055B-6A18-84F8-9674AFB4C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899478"/>
            <a:ext cx="7315200" cy="157351"/>
          </a:xfrm>
          <a:noFill/>
        </p:spPr>
        <p:txBody>
          <a:bodyPr wrap="square" lIns="0" tIns="0" rIns="0" bIns="0" anchor="t">
            <a:spAutoFit/>
          </a:bodyPr>
          <a:lstStyle>
            <a:lvl1pPr marL="0" indent="4763">
              <a:buNone/>
              <a:tabLst/>
              <a:defRPr lang="en-AE" sz="1000" b="0" dirty="0">
                <a:solidFill>
                  <a:srgbClr val="60708D"/>
                </a:solidFill>
                <a:latin typeface="Comfortaa Medium" pitchFamily="2" charset="0"/>
              </a:defRPr>
            </a:lvl1pPr>
          </a:lstStyle>
          <a:p>
            <a:pPr marL="0" lvl="0">
              <a:lnSpc>
                <a:spcPts val="1296"/>
              </a:lnSpc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686299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686299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Cognirise 2026. All Rights Protected &amp;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686299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1813"/>
            <a:ext cx="7315200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lvl="0">
              <a:lnSpc>
                <a:spcPts val="2592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954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3630B9-1D51-3C28-DE24-AB0619928DA8}"/>
              </a:ext>
            </a:extLst>
          </p:cNvPr>
          <p:cNvCxnSpPr>
            <a:cxnSpLocks/>
          </p:cNvCxnSpPr>
          <p:nvPr userDrawn="1"/>
        </p:nvCxnSpPr>
        <p:spPr>
          <a:xfrm>
            <a:off x="0" y="-230013"/>
            <a:ext cx="493477" cy="0"/>
          </a:xfrm>
          <a:prstGeom prst="line">
            <a:avLst/>
          </a:prstGeom>
          <a:ln w="76200">
            <a:solidFill>
              <a:srgbClr val="E26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4A3319-B222-26EE-654F-88F9CC896C05}"/>
              </a:ext>
            </a:extLst>
          </p:cNvPr>
          <p:cNvCxnSpPr>
            <a:cxnSpLocks/>
          </p:cNvCxnSpPr>
          <p:nvPr userDrawn="1"/>
        </p:nvCxnSpPr>
        <p:spPr>
          <a:xfrm>
            <a:off x="0" y="-323247"/>
            <a:ext cx="493477" cy="0"/>
          </a:xfrm>
          <a:prstGeom prst="line">
            <a:avLst/>
          </a:prstGeom>
          <a:ln w="76200">
            <a:solidFill>
              <a:srgbClr val="A858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62D943-651A-DE87-E2B6-43C18548AA66}"/>
              </a:ext>
            </a:extLst>
          </p:cNvPr>
          <p:cNvCxnSpPr>
            <a:cxnSpLocks/>
          </p:cNvCxnSpPr>
          <p:nvPr userDrawn="1"/>
        </p:nvCxnSpPr>
        <p:spPr>
          <a:xfrm>
            <a:off x="0" y="-432338"/>
            <a:ext cx="493477" cy="0"/>
          </a:xfrm>
          <a:prstGeom prst="line">
            <a:avLst/>
          </a:prstGeom>
          <a:ln w="76200">
            <a:solidFill>
              <a:srgbClr val="7559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DC49DC-9469-044F-4339-CB7B06B23FEC}"/>
              </a:ext>
            </a:extLst>
          </p:cNvPr>
          <p:cNvCxnSpPr>
            <a:cxnSpLocks/>
          </p:cNvCxnSpPr>
          <p:nvPr userDrawn="1"/>
        </p:nvCxnSpPr>
        <p:spPr>
          <a:xfrm>
            <a:off x="0" y="-545184"/>
            <a:ext cx="493477" cy="0"/>
          </a:xfrm>
          <a:prstGeom prst="line">
            <a:avLst/>
          </a:prstGeom>
          <a:ln w="76200">
            <a:solidFill>
              <a:srgbClr val="4A76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911AED70-B1D7-2383-8EFC-B91CAB6DB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4827734"/>
            <a:ext cx="2217420" cy="127975"/>
          </a:xfrm>
          <a:prstGeom prst="rect">
            <a:avLst/>
          </a:prstGeom>
        </p:spPr>
        <p:txBody>
          <a:bodyPr/>
          <a:lstStyle>
            <a:lvl1pPr algn="l">
              <a:defRPr sz="500">
                <a:solidFill>
                  <a:srgbClr val="5F708D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© Cognirise 2026. All Rights Reserved.</a:t>
            </a: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B4B44718-2715-FC1B-404E-7FCE9C59B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19872" y="4827734"/>
            <a:ext cx="466928" cy="127975"/>
          </a:xfrm>
          <a:prstGeom prst="rect">
            <a:avLst/>
          </a:prstGeom>
        </p:spPr>
        <p:txBody>
          <a:bodyPr/>
          <a:lstStyle>
            <a:lvl1pPr algn="r">
              <a:defRPr sz="500">
                <a:solidFill>
                  <a:srgbClr val="5F708D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/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954B5E3-9C22-489D-0205-D31892CDFE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39977" y="0"/>
            <a:ext cx="1146823" cy="76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  <p:sldLayoutId id="2147483664" r:id="rId5"/>
    <p:sldLayoutId id="2147483654" r:id="rId6"/>
    <p:sldLayoutId id="2147483655" r:id="rId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lang="en-US" sz="2400" kern="1200" dirty="0">
          <a:solidFill>
            <a:srgbClr val="102957"/>
          </a:solidFill>
          <a:latin typeface="Comfortaa Medium"/>
          <a:ea typeface="+mn-ea"/>
          <a:cs typeface="+mn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bank. Three levels of AI value.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THE VALUE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14248"/>
            <a:ext cx="2590800" cy="24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14248"/>
            <a:ext cx="259080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7200" y="1824248"/>
            <a:ext cx="300000" cy="190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7200" y="1859248"/>
            <a:ext cx="30000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omfortaa Medium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200" y="1854248"/>
            <a:ext cx="18108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Individual Assistants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00" y="2214248"/>
            <a:ext cx="21908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800" b="0">
                <a:solidFill>
                  <a:srgbClr val="4A76F5"/>
                </a:solidFill>
                <a:latin typeface="Inter"/>
              </a:rPr>
              <a:t>AI assistants for every employee.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00" y="2464248"/>
            <a:ext cx="21908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20" b="0">
                <a:solidFill>
                  <a:srgbClr val="60708D"/>
                </a:solidFill>
                <a:latin typeface="Inter"/>
              </a:rPr>
              <a:t>Every banker gets an assistant that drafts, summarises, searches policy and prepares meetings.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7200" y="3064248"/>
            <a:ext cx="2190800" cy="14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200" y="3184248"/>
            <a:ext cx="1095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dirty="0">
                <a:solidFill>
                  <a:srgbClr val="4A76F5"/>
                </a:solidFill>
                <a:latin typeface="Comfortaa Medium"/>
              </a:rPr>
              <a:t>+3</a:t>
            </a:r>
            <a:r>
              <a:rPr lang="en-US" sz="1500" b="0" dirty="0">
                <a:solidFill>
                  <a:srgbClr val="4A76F5"/>
                </a:solidFill>
                <a:latin typeface="Comfortaa Medium"/>
              </a:rPr>
              <a:t>0</a:t>
            </a:r>
            <a:r>
              <a:rPr sz="1500" b="0" dirty="0">
                <a:solidFill>
                  <a:srgbClr val="4A76F5"/>
                </a:solidFill>
                <a:latin typeface="Comfortaa Medium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00" y="3504248"/>
            <a:ext cx="1095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5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Productivity gain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2600" y="3234248"/>
            <a:ext cx="1095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2957"/>
                </a:solidFill>
                <a:latin typeface="Comfortaa Medium"/>
              </a:rPr>
              <a:t>8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2600" y="3504248"/>
            <a:ext cx="1095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5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Time to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6600" y="1614248"/>
            <a:ext cx="2590800" cy="24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600" y="1614248"/>
            <a:ext cx="259080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6600" y="1824248"/>
            <a:ext cx="300000" cy="190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6600" y="1859248"/>
            <a:ext cx="30000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omfortaa Medium"/>
              </a:rPr>
              <a:t>L2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6600" y="1854248"/>
            <a:ext cx="18108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Agentic Functions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6600" y="2214248"/>
            <a:ext cx="21908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800" b="0">
                <a:solidFill>
                  <a:srgbClr val="946EF5"/>
                </a:solidFill>
                <a:latin typeface="Inter"/>
              </a:rPr>
              <a:t>AI-powered domain processes.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6600" y="2464248"/>
            <a:ext cx="21908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20" b="0">
                <a:solidFill>
                  <a:srgbClr val="60708D"/>
                </a:solidFill>
                <a:latin typeface="Inter"/>
              </a:rPr>
              <a:t>AI takes over whole steps inside credit, operations, compliance and servicing — with human gates.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6600" y="3064248"/>
            <a:ext cx="2190800" cy="14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6600" y="3184248"/>
            <a:ext cx="1095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dirty="0">
                <a:solidFill>
                  <a:srgbClr val="946EF5"/>
                </a:solidFill>
                <a:latin typeface="Comfortaa Medium"/>
              </a:rPr>
              <a:t>+</a:t>
            </a:r>
            <a:r>
              <a:rPr lang="en-US" sz="1500" b="0" dirty="0">
                <a:solidFill>
                  <a:srgbClr val="946EF5"/>
                </a:solidFill>
                <a:latin typeface="Comfortaa Medium"/>
              </a:rPr>
              <a:t>50</a:t>
            </a:r>
            <a:r>
              <a:rPr sz="1500" b="0" dirty="0">
                <a:solidFill>
                  <a:srgbClr val="946EF5"/>
                </a:solidFill>
                <a:latin typeface="Comfortaa Medium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6600" y="3504248"/>
            <a:ext cx="1095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5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Productivity gain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34248"/>
            <a:ext cx="1095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2957"/>
                </a:solidFill>
                <a:latin typeface="Comfortaa Medium"/>
              </a:rPr>
              <a:t>3–6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504248"/>
            <a:ext cx="1095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5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Time to 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0" y="1614248"/>
            <a:ext cx="2590800" cy="24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96000" y="1614248"/>
            <a:ext cx="2590800" cy="201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96000" y="1824248"/>
            <a:ext cx="300000" cy="190000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96000" y="1859248"/>
            <a:ext cx="30000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omfortaa Medium"/>
              </a:rPr>
              <a:t>L3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6000" y="1854248"/>
            <a:ext cx="18108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Agentic 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6000" y="2214248"/>
            <a:ext cx="21908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800" b="0">
                <a:solidFill>
                  <a:srgbClr val="DB509E"/>
                </a:solidFill>
                <a:latin typeface="Inter"/>
              </a:rPr>
              <a:t>Autonomous agents at scale.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6000" y="2464248"/>
            <a:ext cx="21908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20" b="0">
                <a:solidFill>
                  <a:srgbClr val="60708D"/>
                </a:solidFill>
                <a:latin typeface="Inter"/>
              </a:rPr>
              <a:t>Agents run end-to-end processes, decide inside policy, and continuously optimise the outcome.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6000" y="3064248"/>
            <a:ext cx="2190800" cy="14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96000" y="3184248"/>
            <a:ext cx="1095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dirty="0">
                <a:solidFill>
                  <a:srgbClr val="DB509E"/>
                </a:solidFill>
                <a:latin typeface="Comfortaa Medium"/>
              </a:rPr>
              <a:t>+</a:t>
            </a:r>
            <a:r>
              <a:rPr lang="en-US" sz="1500" dirty="0">
                <a:solidFill>
                  <a:srgbClr val="DB509E"/>
                </a:solidFill>
                <a:latin typeface="Comfortaa Medium"/>
              </a:rPr>
              <a:t>70</a:t>
            </a:r>
            <a:r>
              <a:rPr sz="1500" b="0" dirty="0">
                <a:solidFill>
                  <a:srgbClr val="DB509E"/>
                </a:solidFill>
                <a:latin typeface="Comfortaa Medium"/>
              </a:rPr>
              <a:t>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6000" y="3504248"/>
            <a:ext cx="1095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5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Productivity gain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1400" y="3234248"/>
            <a:ext cx="1095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2957"/>
                </a:solidFill>
                <a:latin typeface="Comfortaa Medium"/>
              </a:rPr>
              <a:t>6–12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1400" y="3504248"/>
            <a:ext cx="1095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5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Time to value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94022"/>
            <a:ext cx="8229600" cy="4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4294022"/>
            <a:ext cx="27432" cy="400000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7200" y="4399022"/>
            <a:ext cx="78296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800" b="0">
                <a:solidFill>
                  <a:srgbClr val="102957"/>
                </a:solidFill>
                <a:latin typeface="Comfortaa Medium"/>
              </a:rPr>
              <a:t>The ambition at every level is the same: additional capacity created without additional hiring.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1813"/>
            <a:ext cx="7315200" cy="369332"/>
          </a:xfrm>
        </p:spPr>
        <p:txBody>
          <a:bodyPr/>
          <a:lstStyle/>
          <a:p>
            <a:r>
              <a:rPr dirty="0"/>
              <a:t>Six areas where </a:t>
            </a:r>
            <a:r>
              <a:rPr lang="en-US" dirty="0"/>
              <a:t>we can</a:t>
            </a:r>
            <a:r>
              <a:rPr dirty="0"/>
              <a:t> create value </a:t>
            </a:r>
            <a:r>
              <a:rPr lang="en-US" dirty="0"/>
              <a:t>with AI.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WHERE TO FOCUS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50000"/>
            <a:ext cx="2621280" cy="167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50000"/>
            <a:ext cx="262128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2200" y="1335000"/>
            <a:ext cx="227128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Credit &amp; Lending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200" y="1610000"/>
            <a:ext cx="227128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</a:pPr>
            <a:r>
              <a:rPr sz="680" b="0">
                <a:solidFill>
                  <a:srgbClr val="60708D"/>
                </a:solidFill>
                <a:latin typeface="Inter"/>
              </a:rPr>
              <a:t>AI reads the file, scores it against credit policy and drafts the decision — analysts spend their time on judgement, not extraction.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200" y="2150000"/>
            <a:ext cx="2271280" cy="1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750"/>
              </a:lnSpc>
              <a:spcAft>
                <a:spcPts val="0"/>
              </a:spcAft>
            </a:pPr>
            <a:r>
              <a:rPr sz="550" b="0">
                <a:solidFill>
                  <a:srgbClr val="4A76F5"/>
                </a:solidFill>
                <a:latin typeface="Comfortaa Medium"/>
              </a:rPr>
              <a:t>EXAMPLE USE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200" y="2331000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2200" y="230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RM meeting preparation and client briefs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200" y="2496000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2200" y="2470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Credit file and collateral summarisation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200" y="2661000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2200" y="263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Automated pre-screening and risk tiering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1360" y="1150000"/>
            <a:ext cx="2621280" cy="167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1360" y="1150000"/>
            <a:ext cx="262128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36360" y="1335000"/>
            <a:ext cx="227128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Risk &amp; Fraud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6360" y="1610000"/>
            <a:ext cx="227128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</a:pPr>
            <a:r>
              <a:rPr sz="680" b="0">
                <a:solidFill>
                  <a:srgbClr val="60708D"/>
                </a:solidFill>
                <a:latin typeface="Inter"/>
              </a:rPr>
              <a:t>Models watch transactions and portfolios continuously, ranking what deserves a human look instead of flooding analysts with alerts.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6360" y="2150000"/>
            <a:ext cx="2271280" cy="1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750"/>
              </a:lnSpc>
              <a:spcAft>
                <a:spcPts val="0"/>
              </a:spcAft>
            </a:pPr>
            <a:r>
              <a:rPr sz="550" b="0">
                <a:solidFill>
                  <a:srgbClr val="946EF5"/>
                </a:solidFill>
                <a:latin typeface="Comfortaa Medium"/>
              </a:rPr>
              <a:t>EXAMPLE USE CASES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6360" y="2331000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6360" y="230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Real-time transaction anomaly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36360" y="2496000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36360" y="2470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AML alert pre-screening and prioritisation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6360" y="2661000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36360" y="263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Portfolio stress testing on demand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520" y="1150000"/>
            <a:ext cx="2621280" cy="167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65520" y="1150000"/>
            <a:ext cx="2621280" cy="20116"/>
          </a:xfrm>
          <a:prstGeom prst="rect">
            <a:avLst/>
          </a:prstGeom>
          <a:solidFill>
            <a:srgbClr val="A85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0520" y="1335000"/>
            <a:ext cx="227128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Operations &amp; 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0520" y="1610000"/>
            <a:ext cx="227128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</a:pPr>
            <a:r>
              <a:rPr sz="680" b="0">
                <a:solidFill>
                  <a:srgbClr val="60708D"/>
                </a:solidFill>
                <a:latin typeface="Inter"/>
              </a:rPr>
              <a:t>Agents remove the manual touchpoints from the middle and back office, so people handle only the exceptions.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0520" y="2150000"/>
            <a:ext cx="2271280" cy="1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750"/>
              </a:lnSpc>
              <a:spcAft>
                <a:spcPts val="0"/>
              </a:spcAft>
            </a:pPr>
            <a:r>
              <a:rPr sz="550" b="0">
                <a:solidFill>
                  <a:srgbClr val="A858BD"/>
                </a:solidFill>
                <a:latin typeface="Comfortaa Medium"/>
              </a:rPr>
              <a:t>EXAMPLE USE CASES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0520" y="2331000"/>
            <a:ext cx="34000" cy="34000"/>
          </a:xfrm>
          <a:prstGeom prst="rect">
            <a:avLst/>
          </a:prstGeom>
          <a:solidFill>
            <a:srgbClr val="A85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40520" y="230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Onboarding and document verification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0520" y="2496000"/>
            <a:ext cx="34000" cy="34000"/>
          </a:xfrm>
          <a:prstGeom prst="rect">
            <a:avLst/>
          </a:prstGeom>
          <a:solidFill>
            <a:srgbClr val="A85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40520" y="2470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Straight-through processing in the workflow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0520" y="2661000"/>
            <a:ext cx="34000" cy="34000"/>
          </a:xfrm>
          <a:prstGeom prst="rect">
            <a:avLst/>
          </a:prstGeom>
          <a:solidFill>
            <a:srgbClr val="A85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40520" y="263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Automated reconciliation and reporting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00000"/>
            <a:ext cx="2621280" cy="167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3000000"/>
            <a:ext cx="2621280" cy="201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2200" y="3185000"/>
            <a:ext cx="227128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Customer &amp; Sales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200" y="3460000"/>
            <a:ext cx="227128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</a:pPr>
            <a:r>
              <a:rPr sz="680" b="0">
                <a:solidFill>
                  <a:srgbClr val="60708D"/>
                </a:solidFill>
                <a:latin typeface="Inter"/>
              </a:rPr>
              <a:t>Every customer gets the right message at the right moment, and every banker gets the context before the conversation starts.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200" y="4000000"/>
            <a:ext cx="2271280" cy="1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750"/>
              </a:lnSpc>
              <a:spcAft>
                <a:spcPts val="0"/>
              </a:spcAft>
            </a:pPr>
            <a:r>
              <a:rPr sz="550" b="0">
                <a:solidFill>
                  <a:srgbClr val="DB509E"/>
                </a:solidFill>
                <a:latin typeface="Comfortaa Medium"/>
              </a:rPr>
              <a:t>EXAMPLE USE CASES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200" y="4181000"/>
            <a:ext cx="34000" cy="34000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2200" y="415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AI voice and chat servicing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200" y="4346000"/>
            <a:ext cx="34000" cy="34000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2200" y="4320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Next-best-action recommendations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2200" y="4511000"/>
            <a:ext cx="34000" cy="34000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2200" y="448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Churn prediction and retention offers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1360" y="3000000"/>
            <a:ext cx="2621280" cy="167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61360" y="3000000"/>
            <a:ext cx="2621280" cy="20116"/>
          </a:xfrm>
          <a:prstGeom prst="rect">
            <a:avLst/>
          </a:prstGeom>
          <a:solidFill>
            <a:srgbClr val="E65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36360" y="3185000"/>
            <a:ext cx="227128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Engineering &amp; 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36360" y="3460000"/>
            <a:ext cx="227128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</a:pPr>
            <a:r>
              <a:rPr sz="680" b="0">
                <a:solidFill>
                  <a:srgbClr val="60708D"/>
                </a:solidFill>
                <a:latin typeface="Inter"/>
              </a:rPr>
              <a:t>AI writes, reviews and tests code, and reads the legacy nobody wants to touch — delivery accelerates without more headcount.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36360" y="4000000"/>
            <a:ext cx="2271280" cy="1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750"/>
              </a:lnSpc>
              <a:spcAft>
                <a:spcPts val="0"/>
              </a:spcAft>
            </a:pPr>
            <a:r>
              <a:rPr sz="550" b="0">
                <a:solidFill>
                  <a:srgbClr val="E65CAC"/>
                </a:solidFill>
                <a:latin typeface="Comfortaa Medium"/>
              </a:rPr>
              <a:t>EXAMPLE USE CASES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36360" y="4181000"/>
            <a:ext cx="34000" cy="34000"/>
          </a:xfrm>
          <a:prstGeom prst="rect">
            <a:avLst/>
          </a:prstGeom>
          <a:solidFill>
            <a:srgbClr val="E65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36360" y="415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Coding assistants across the engineering team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36360" y="4346000"/>
            <a:ext cx="34000" cy="34000"/>
          </a:xfrm>
          <a:prstGeom prst="rect">
            <a:avLst/>
          </a:prstGeom>
          <a:solidFill>
            <a:srgbClr val="E65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536360" y="4320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Automated test and regression generation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36360" y="4511000"/>
            <a:ext cx="34000" cy="34000"/>
          </a:xfrm>
          <a:prstGeom prst="rect">
            <a:avLst/>
          </a:prstGeom>
          <a:solidFill>
            <a:srgbClr val="E65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36360" y="448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Legacy code analysis and modernisation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65520" y="3000000"/>
            <a:ext cx="2621280" cy="167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065520" y="3000000"/>
            <a:ext cx="2621280" cy="20116"/>
          </a:xfrm>
          <a:prstGeom prst="rect">
            <a:avLst/>
          </a:prstGeom>
          <a:solidFill>
            <a:srgbClr val="FF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0520" y="3185000"/>
            <a:ext cx="227128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Compliance &amp; Regulation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0520" y="3460000"/>
            <a:ext cx="227128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</a:pPr>
            <a:r>
              <a:rPr sz="680" b="0">
                <a:solidFill>
                  <a:srgbClr val="60708D"/>
                </a:solidFill>
                <a:latin typeface="Inter"/>
              </a:rPr>
              <a:t>The regulatory corpus becomes searchable and self-monitoring, with every answer traced back to its source.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0520" y="4000000"/>
            <a:ext cx="2271280" cy="1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750"/>
              </a:lnSpc>
              <a:spcAft>
                <a:spcPts val="0"/>
              </a:spcAft>
            </a:pPr>
            <a:r>
              <a:rPr sz="550" b="0">
                <a:solidFill>
                  <a:srgbClr val="FF7658"/>
                </a:solidFill>
                <a:latin typeface="Comfortaa Medium"/>
              </a:rPr>
              <a:t>EXAMPLE USE CASES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40520" y="4181000"/>
            <a:ext cx="34000" cy="34000"/>
          </a:xfrm>
          <a:prstGeom prst="rect">
            <a:avLst/>
          </a:prstGeom>
          <a:solidFill>
            <a:srgbClr val="FF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40520" y="415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Regulation and internal policy search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40520" y="4346000"/>
            <a:ext cx="34000" cy="34000"/>
          </a:xfrm>
          <a:prstGeom prst="rect">
            <a:avLst/>
          </a:prstGeom>
          <a:solidFill>
            <a:srgbClr val="FF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40520" y="4320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Circular and rule-change impact analysis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40520" y="4511000"/>
            <a:ext cx="34000" cy="34000"/>
          </a:xfrm>
          <a:prstGeom prst="rect">
            <a:avLst/>
          </a:prstGeom>
          <a:solidFill>
            <a:srgbClr val="FF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40520" y="4485000"/>
            <a:ext cx="217128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40" b="0">
                <a:solidFill>
                  <a:srgbClr val="102957"/>
                </a:solidFill>
                <a:latin typeface="Inter"/>
              </a:rPr>
              <a:t>KYC and regulatory reporting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1813"/>
            <a:ext cx="7315200" cy="369332"/>
          </a:xfrm>
        </p:spPr>
        <p:txBody>
          <a:bodyPr/>
          <a:lstStyle/>
          <a:p>
            <a:r>
              <a:rPr lang="en-US" dirty="0"/>
              <a:t>Example starting points to consider.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WHERE TO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30000"/>
            <a:ext cx="1920240" cy="330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30000"/>
            <a:ext cx="192024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200" y="1505000"/>
            <a:ext cx="161024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A76F5"/>
                </a:solidFill>
                <a:latin typeface="Comfortaa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200" y="1685000"/>
            <a:ext cx="161024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AI-Powered Core Banking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200" y="2260000"/>
            <a:ext cx="161024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700" b="0">
                <a:solidFill>
                  <a:srgbClr val="60708D"/>
                </a:solidFill>
                <a:latin typeface="Inter"/>
              </a:rPr>
              <a:t>Agents take on the process-heavy, rule-bound core — credit decisioning and the RM desk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200" y="281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A76F5"/>
                </a:solidFill>
                <a:latin typeface="Comfortaa Medium"/>
              </a:rPr>
              <a:t>&lt; 1 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200" y="303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Clean-file credit decision, from 2–3 analyst-days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200" y="328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A76F5"/>
                </a:solidFill>
                <a:latin typeface="Comfortaa Medium"/>
              </a:rPr>
              <a:t>45–60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200" y="350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Recovered per RM client meeting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200" y="375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A76F5"/>
                </a:solidFill>
                <a:latin typeface="Comfortaa Medium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200" y="397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Auditable gates — explainable to the regulator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200" y="4270000"/>
            <a:ext cx="1610240" cy="14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60320" y="1330000"/>
            <a:ext cx="1920240" cy="330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60320" y="1330000"/>
            <a:ext cx="192024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15320" y="1505000"/>
            <a:ext cx="161024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46EF5"/>
                </a:solidFill>
                <a:latin typeface="Comfortaa Medium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320" y="1685000"/>
            <a:ext cx="161024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AI-Powered Contact Centre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320" y="2260000"/>
            <a:ext cx="161024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700" b="0">
                <a:solidFill>
                  <a:srgbClr val="60708D"/>
                </a:solidFill>
                <a:latin typeface="Inter"/>
              </a:rPr>
              <a:t>Voice AI that sounds human, serves and sells, and never sleeps — powered by Lupitor.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320" y="281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6EF5"/>
                </a:solidFill>
                <a:latin typeface="Comfortaa Medium"/>
              </a:rPr>
              <a:t>On-prem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320" y="303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Voice and data never leave the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320" y="328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6EF5"/>
                </a:solidFill>
                <a:latin typeface="Comfortaa Medium"/>
              </a:rPr>
              <a:t>In +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320" y="350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Full inbound and outbound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320" y="375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6EF5"/>
                </a:solidFill>
                <a:latin typeface="Comfortaa Medium"/>
              </a:rPr>
              <a:t>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320" y="397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Executes payments, updates and scheduling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15320" y="4270000"/>
            <a:ext cx="1610240" cy="14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1330000"/>
            <a:ext cx="1920240" cy="330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63440" y="1330000"/>
            <a:ext cx="1920240" cy="201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18440" y="1505000"/>
            <a:ext cx="161024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DB509E"/>
                </a:solidFill>
                <a:latin typeface="Comfortaa Medium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8440" y="1685000"/>
            <a:ext cx="161024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AI-Powered Software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440" y="2260000"/>
            <a:ext cx="161024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700" b="0">
                <a:solidFill>
                  <a:srgbClr val="60708D"/>
                </a:solidFill>
                <a:latin typeface="Inter"/>
              </a:rPr>
              <a:t>The bank's engineers amplified — starting where AI output can be mechanically verified.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440" y="281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B509E"/>
                </a:solidFill>
                <a:latin typeface="Comfortaa Medium"/>
              </a:rPr>
              <a:t>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440" y="303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Reduction in delivery lead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440" y="328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B509E"/>
                </a:solidFill>
                <a:latin typeface="Comfortaa Medium"/>
              </a:rPr>
              <a:t>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8440" y="350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Productivity gain in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440" y="375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B509E"/>
                </a:solidFill>
                <a:latin typeface="Comfortaa Medium"/>
              </a:rPr>
              <a:t>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440" y="397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Productivity gain in testing &amp; QA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18440" y="4270000"/>
            <a:ext cx="1610240" cy="14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766560" y="1330000"/>
            <a:ext cx="1920240" cy="330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766560" y="1330000"/>
            <a:ext cx="1920240" cy="20116"/>
          </a:xfrm>
          <a:prstGeom prst="rect">
            <a:avLst/>
          </a:prstGeom>
          <a:solidFill>
            <a:srgbClr val="FF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21560" y="1505000"/>
            <a:ext cx="161024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7658"/>
                </a:solidFill>
                <a:latin typeface="Comfortaa Medium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21560" y="1685000"/>
            <a:ext cx="161024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AI-Powered Marketing Intelligence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21560" y="2260000"/>
            <a:ext cx="161024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700" b="0">
                <a:solidFill>
                  <a:srgbClr val="60708D"/>
                </a:solidFill>
                <a:latin typeface="Inter"/>
              </a:rPr>
              <a:t>Know which spend drives growth, and act on every customer at the right moment — with Ekimetrics.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21560" y="281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7658"/>
                </a:solidFill>
                <a:latin typeface="Comfortaa Medium"/>
              </a:rPr>
              <a:t>60%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21560" y="303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Marketing ROI increase from mix modelling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1560" y="328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7658"/>
                </a:solidFill>
                <a:latin typeface="Comfortaa Medium"/>
              </a:rPr>
              <a:t>+40%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21560" y="350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Customer lifetime value via orchestration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21560" y="3750000"/>
            <a:ext cx="161024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7658"/>
                </a:solidFill>
                <a:latin typeface="Comfortaa Medium"/>
              </a:rPr>
              <a:t>&lt; 3 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21560" y="3970000"/>
            <a:ext cx="161024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30" b="0">
                <a:solidFill>
                  <a:srgbClr val="60708D"/>
                </a:solidFill>
                <a:latin typeface="Inter"/>
              </a:rPr>
              <a:t>Time to first measurable impact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21560" y="4270000"/>
            <a:ext cx="1610240" cy="14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1813"/>
            <a:ext cx="7315200" cy="369332"/>
          </a:xfrm>
        </p:spPr>
        <p:txBody>
          <a:bodyPr/>
          <a:lstStyle/>
          <a:p>
            <a:r>
              <a:rPr lang="en-US" dirty="0"/>
              <a:t>Example: </a:t>
            </a:r>
            <a:r>
              <a:rPr dirty="0"/>
              <a:t>AI voice agents for </a:t>
            </a:r>
            <a:r>
              <a:rPr lang="en-US" dirty="0"/>
              <a:t>sales &amp; service.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CUSTOMER JOURNEYS  ·  WITH LUPITOR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01193"/>
            <a:ext cx="1954530" cy="1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01193"/>
            <a:ext cx="1954530" cy="1380000"/>
          </a:xfrm>
          <a:prstGeom prst="rect">
            <a:avLst/>
          </a:prstGeom>
          <a:noFill/>
          <a:ln w="6350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01193"/>
            <a:ext cx="195453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01193"/>
            <a:ext cx="195453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7200" y="1541193"/>
            <a:ext cx="169453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Accounts &amp; cards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7200" y="1821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7200" y="179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Balance and transaction queries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7200" y="2036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7200" y="2006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Card debt, limits and statements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7200" y="2251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200" y="222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Card delivery and activation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200" y="2481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4A76F5"/>
                </a:solidFill>
                <a:latin typeface="Inter"/>
              </a:rPr>
              <a:t>▲  resolution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200" y="2606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4A76F5"/>
                </a:solidFill>
                <a:latin typeface="Inter"/>
              </a:rPr>
              <a:t>▼  handling time (AHT)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31965" y="2781193"/>
            <a:ext cx="5000" cy="1000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9465" y="2836193"/>
            <a:ext cx="90000" cy="90000"/>
          </a:xfrm>
          <a:prstGeom prst="ellipse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48890" y="1401193"/>
            <a:ext cx="1954530" cy="1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48890" y="1401193"/>
            <a:ext cx="1954530" cy="1380000"/>
          </a:xfrm>
          <a:prstGeom prst="rect">
            <a:avLst/>
          </a:prstGeom>
          <a:noFill/>
          <a:ln w="6350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48890" y="1401193"/>
            <a:ext cx="195453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548890" y="1401193"/>
            <a:ext cx="195453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78890" y="1541193"/>
            <a:ext cx="169453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Payments &amp; transfers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8890" y="1821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78890" y="179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Transfer and EFT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8890" y="2036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78890" y="2006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Failed or duplicate payments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8890" y="2251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78890" y="222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Standing orders and bill payments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8890" y="2481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4A76F5"/>
                </a:solidFill>
                <a:latin typeface="Inter"/>
              </a:rPr>
              <a:t>▲  straight-through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8890" y="2606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4A76F5"/>
                </a:solidFill>
                <a:latin typeface="Inter"/>
              </a:rPr>
              <a:t>▼  manual fixes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3655" y="2781193"/>
            <a:ext cx="5000" cy="1000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81155" y="2836193"/>
            <a:ext cx="90000" cy="90000"/>
          </a:xfrm>
          <a:prstGeom prst="ellipse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40580" y="1401193"/>
            <a:ext cx="1954530" cy="1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640580" y="1401193"/>
            <a:ext cx="1954530" cy="1380000"/>
          </a:xfrm>
          <a:prstGeom prst="rect">
            <a:avLst/>
          </a:prstGeom>
          <a:noFill/>
          <a:ln w="6350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40580" y="1401193"/>
            <a:ext cx="195453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640580" y="1401193"/>
            <a:ext cx="195453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70580" y="1541193"/>
            <a:ext cx="169453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Loans &amp; deposits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70580" y="1821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70580" y="179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Rate, instalment and limit questions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70580" y="2036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70580" y="2006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Early repayment and payoff figures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70580" y="2251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70580" y="222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Deposit maturity and renewal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0580" y="2481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4A76F5"/>
                </a:solidFill>
                <a:latin typeface="Inter"/>
              </a:rPr>
              <a:t>▲  conversion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70580" y="2606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4A76F5"/>
                </a:solidFill>
                <a:latin typeface="Inter"/>
              </a:rPr>
              <a:t>▲  cross-sell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15345" y="2781193"/>
            <a:ext cx="5000" cy="1000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572845" y="2836193"/>
            <a:ext cx="90000" cy="90000"/>
          </a:xfrm>
          <a:prstGeom prst="ellipse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732270" y="1401193"/>
            <a:ext cx="1954530" cy="1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732270" y="1401193"/>
            <a:ext cx="1954530" cy="1380000"/>
          </a:xfrm>
          <a:prstGeom prst="rect">
            <a:avLst/>
          </a:prstGeom>
          <a:noFill/>
          <a:ln w="6350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732270" y="1401193"/>
            <a:ext cx="195453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732270" y="1401193"/>
            <a:ext cx="195453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62270" y="1541193"/>
            <a:ext cx="169453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Fraud &amp; card security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62270" y="1821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62270" y="179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Lost or stolen card blocking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62270" y="2036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962270" y="2006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Disputed transaction reporting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62270" y="2251193"/>
            <a:ext cx="34000" cy="34000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962270" y="222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Suspicious activity capture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62270" y="2481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4A76F5"/>
                </a:solidFill>
                <a:latin typeface="Inter"/>
              </a:rPr>
              <a:t>▼  time to block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62270" y="2606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4A76F5"/>
                </a:solidFill>
                <a:latin typeface="Inter"/>
              </a:rPr>
              <a:t>▲  containment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07035" y="2781193"/>
            <a:ext cx="5000" cy="1000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664535" y="2836193"/>
            <a:ext cx="90000" cy="90000"/>
          </a:xfrm>
          <a:prstGeom prst="ellipse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57200" y="2877993"/>
            <a:ext cx="8229600" cy="6400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503045" y="2981193"/>
            <a:ext cx="1954530" cy="1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503045" y="2981193"/>
            <a:ext cx="1954530" cy="1380000"/>
          </a:xfrm>
          <a:prstGeom prst="rect">
            <a:avLst/>
          </a:prstGeom>
          <a:noFill/>
          <a:ln w="6350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503045" y="2981193"/>
            <a:ext cx="195453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503045" y="2981193"/>
            <a:ext cx="195453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633045" y="3121193"/>
            <a:ext cx="169453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Digital channel support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33045" y="3401193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733045" y="337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Login, password and SMS unblocking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33045" y="3616193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733045" y="3586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Mobile and internet banking issues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33045" y="3831193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733045" y="380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Limit changes and authorisations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33045" y="4061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946EF5"/>
                </a:solidFill>
                <a:latin typeface="Inter"/>
              </a:rPr>
              <a:t>▲  self-service rate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33045" y="4186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946EF5"/>
                </a:solidFill>
                <a:latin typeface="Inter"/>
              </a:rPr>
              <a:t>▼  calls to the branch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77810" y="2881193"/>
            <a:ext cx="5000" cy="1000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435310" y="2836193"/>
            <a:ext cx="90000" cy="90000"/>
          </a:xfrm>
          <a:prstGeom prst="ellipse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594735" y="2981193"/>
            <a:ext cx="1954530" cy="1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594735" y="2981193"/>
            <a:ext cx="1954530" cy="1380000"/>
          </a:xfrm>
          <a:prstGeom prst="rect">
            <a:avLst/>
          </a:prstGeom>
          <a:noFill/>
          <a:ln w="6350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594735" y="2981193"/>
            <a:ext cx="195453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594735" y="2981193"/>
            <a:ext cx="195453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724735" y="3121193"/>
            <a:ext cx="169453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Collections &amp; reminders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724735" y="3401193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824735" y="337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Payment reminders before due date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724735" y="3616193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824735" y="3586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Arrears outreach and promise-to-pay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24735" y="3831193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824735" y="380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Restructuring hand-off to a human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24735" y="4061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946EF5"/>
                </a:solidFill>
                <a:latin typeface="Inter"/>
              </a:rPr>
              <a:t>▲  recovery rate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24735" y="4186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946EF5"/>
                </a:solidFill>
                <a:latin typeface="Inter"/>
              </a:rPr>
              <a:t>▼  cost to collect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69500" y="2881193"/>
            <a:ext cx="5000" cy="1000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4527000" y="2836193"/>
            <a:ext cx="90000" cy="90000"/>
          </a:xfrm>
          <a:prstGeom prst="ellipse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5686425" y="2981193"/>
            <a:ext cx="1954530" cy="1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5686425" y="2981193"/>
            <a:ext cx="1954530" cy="1380000"/>
          </a:xfrm>
          <a:prstGeom prst="rect">
            <a:avLst/>
          </a:prstGeom>
          <a:noFill/>
          <a:ln w="6350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5686425" y="2981193"/>
            <a:ext cx="195453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5686425" y="2981193"/>
            <a:ext cx="195453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816425" y="3121193"/>
            <a:ext cx="169453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102957"/>
                </a:solidFill>
                <a:latin typeface="Comfortaa Medium"/>
              </a:rPr>
              <a:t>Campaigns &amp; outbound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816425" y="3401193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916425" y="337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Limit-increase and product offers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16425" y="3616193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16425" y="3586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Campaign calls at scale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816425" y="3831193"/>
            <a:ext cx="34000" cy="34000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916425" y="3801193"/>
            <a:ext cx="159453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60708D"/>
                </a:solidFill>
                <a:latin typeface="Inter"/>
              </a:rPr>
              <a:t>Scheduled callbacks and follow-up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16425" y="4061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946EF5"/>
                </a:solidFill>
                <a:latin typeface="Inter"/>
              </a:rPr>
              <a:t>▲  campaign reach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16425" y="4186193"/>
            <a:ext cx="169453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50" b="0">
                <a:solidFill>
                  <a:srgbClr val="946EF5"/>
                </a:solidFill>
                <a:latin typeface="Inter"/>
              </a:rPr>
              <a:t>▼  cost per acquisition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661190" y="2881193"/>
            <a:ext cx="5000" cy="100000"/>
          </a:xfrm>
          <a:prstGeom prst="rect">
            <a:avLst/>
          </a:prstGeom>
          <a:solidFill>
            <a:srgbClr val="CBD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6618690" y="2836193"/>
            <a:ext cx="90000" cy="90000"/>
          </a:xfrm>
          <a:prstGeom prst="ellipse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E86FE555-DECC-3725-79A8-7D02A70B8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800" y="4538687"/>
            <a:ext cx="950000" cy="14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 voice platform a regulated bank can deploy.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WHY LUPITOR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800" y="4538687"/>
            <a:ext cx="950000" cy="14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440000"/>
            <a:ext cx="2621280" cy="126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40000"/>
            <a:ext cx="262128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00" y="1650000"/>
            <a:ext cx="2301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Sovereign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00" y="2000000"/>
            <a:ext cx="230128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20" b="0">
                <a:solidFill>
                  <a:srgbClr val="60708D"/>
                </a:solidFill>
                <a:latin typeface="Inter"/>
              </a:rPr>
              <a:t>Deployed on-premise, inside the bank's own perimeter. Voice and customer data never leave the institution, and local deployment removes external network hops.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1360" y="1440000"/>
            <a:ext cx="2621280" cy="126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61360" y="1440000"/>
            <a:ext cx="2621280" cy="20116"/>
          </a:xfrm>
          <a:prstGeom prst="rect">
            <a:avLst/>
          </a:prstGeom>
          <a:solidFill>
            <a:srgbClr val="4A7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1360" y="1650000"/>
            <a:ext cx="2301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Proven on-premise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1360" y="2000000"/>
            <a:ext cx="230128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20" b="0">
                <a:solidFill>
                  <a:srgbClr val="60708D"/>
                </a:solidFill>
                <a:latin typeface="Inter"/>
              </a:rPr>
              <a:t>15 on-premise deployments already delivered with regulated enterprises, built for SOC 2, GDPR, SAMA and CBUAE data-residency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65520" y="1440000"/>
            <a:ext cx="2621280" cy="126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65520" y="1440000"/>
            <a:ext cx="262128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25520" y="1650000"/>
            <a:ext cx="2301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Engineered for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5520" y="2000000"/>
            <a:ext cx="230128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20" b="0">
                <a:solidFill>
                  <a:srgbClr val="60708D"/>
                </a:solidFill>
                <a:latin typeface="Inter"/>
              </a:rPr>
              <a:t>Sub-0.05% hallucination rate on the HHEM benchmark. A second guardrail model checks every response for accuracy and compliance before it is spoken.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0000"/>
            <a:ext cx="2621280" cy="126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950000"/>
            <a:ext cx="2621280" cy="20116"/>
          </a:xfrm>
          <a:prstGeom prst="rect">
            <a:avLst/>
          </a:prstGeom>
          <a:solidFill>
            <a:srgbClr val="94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00" y="3160000"/>
            <a:ext cx="2301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80+ languages, natively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00" y="3510000"/>
            <a:ext cx="2301280" cy="374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20" b="0" dirty="0">
                <a:solidFill>
                  <a:srgbClr val="60708D"/>
                </a:solidFill>
                <a:latin typeface="Inter"/>
              </a:rPr>
              <a:t>Arabic with </a:t>
            </a:r>
            <a:r>
              <a:rPr lang="en-US" sz="720" b="0" dirty="0">
                <a:solidFill>
                  <a:srgbClr val="60708D"/>
                </a:solidFill>
                <a:latin typeface="Inter"/>
              </a:rPr>
              <a:t>local </a:t>
            </a:r>
            <a:r>
              <a:rPr sz="720" b="0" dirty="0">
                <a:solidFill>
                  <a:srgbClr val="60708D"/>
                </a:solidFill>
                <a:latin typeface="Inter"/>
              </a:rPr>
              <a:t>dialect, English, and the languages a Kingdom bank actually serves — Urdu, Bahasa, Hindi, Tagalog and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1360" y="2950000"/>
            <a:ext cx="2621280" cy="126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61360" y="2950000"/>
            <a:ext cx="2621280" cy="201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21360" y="3160000"/>
            <a:ext cx="2301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Natural voice, low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1360" y="3510000"/>
            <a:ext cx="230128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20" b="0">
                <a:solidFill>
                  <a:srgbClr val="60708D"/>
                </a:solidFill>
                <a:latin typeface="Inter"/>
              </a:rPr>
              <a:t>Answers in under two seconds with natural turn-taking. Interruptible mid-sentence, and it keeps track when a caller corrects themselves.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520" y="2950000"/>
            <a:ext cx="2621280" cy="126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65520" y="2950000"/>
            <a:ext cx="2621280" cy="201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25520" y="3160000"/>
            <a:ext cx="2301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050" b="0">
                <a:solidFill>
                  <a:srgbClr val="102957"/>
                </a:solidFill>
                <a:latin typeface="Comfortaa Medium"/>
              </a:rPr>
              <a:t>A tailored demo in one week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5520" y="3510000"/>
            <a:ext cx="230128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20" b="0">
                <a:solidFill>
                  <a:srgbClr val="60708D"/>
                </a:solidFill>
                <a:latin typeface="Inter"/>
              </a:rPr>
              <a:t>A working agent, built on one of the bank's own call types, agreed and demonstrated within a week — before any commitment is made.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gnirise Pulse">
      <a:dk1>
        <a:srgbClr val="000000"/>
      </a:dk1>
      <a:lt1>
        <a:srgbClr val="FFFFFF"/>
      </a:lt1>
      <a:dk2>
        <a:srgbClr val="1F497D"/>
      </a:dk2>
      <a:lt2>
        <a:srgbClr val="F6F4F1"/>
      </a:lt2>
      <a:accent1>
        <a:srgbClr val="4A75F5"/>
      </a:accent1>
      <a:accent2>
        <a:srgbClr val="7458DF"/>
      </a:accent2>
      <a:accent3>
        <a:srgbClr val="A858BD"/>
      </a:accent3>
      <a:accent4>
        <a:srgbClr val="DA4F9D"/>
      </a:accent4>
      <a:accent5>
        <a:srgbClr val="E2607F"/>
      </a:accent5>
      <a:accent6>
        <a:srgbClr val="FB785E"/>
      </a:accent6>
      <a:hlink>
        <a:srgbClr val="CAD3E1"/>
      </a:hlink>
      <a:folHlink>
        <a:srgbClr val="10285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2061</TotalTime>
  <Words>946</Words>
  <Application>Microsoft Macintosh PowerPoint</Application>
  <PresentationFormat>On-screen Show (16:9)</PresentationFormat>
  <Paragraphs>161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Comfortaa Medium</vt:lpstr>
      <vt:lpstr>Inter</vt:lpstr>
      <vt:lpstr>Office Theme</vt:lpstr>
      <vt:lpstr>One bank. Three levels of AI value.</vt:lpstr>
      <vt:lpstr>Six areas where we can create value with AI.</vt:lpstr>
      <vt:lpstr>Example starting points to consider.</vt:lpstr>
      <vt:lpstr>Example: AI voice agents for sales &amp; service.</vt:lpstr>
      <vt:lpstr>A voice platform a regulated bank can deploy.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Mounir Ariss</cp:lastModifiedBy>
  <cp:revision>17</cp:revision>
  <dcterms:created xsi:type="dcterms:W3CDTF">2013-01-27T09:14:16Z</dcterms:created>
  <dcterms:modified xsi:type="dcterms:W3CDTF">2026-09-10T10:42:17Z</dcterms:modified>
  <cp:category/>
</cp:coreProperties>
</file>