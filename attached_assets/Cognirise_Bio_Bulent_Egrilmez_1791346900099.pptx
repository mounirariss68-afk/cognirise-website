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30"/>
  </p:normalViewPr>
  <p:slideViewPr>
    <p:cSldViewPr snapToGrid="0" snapToObjects="1">
      <p:cViewPr>
        <p:scale>
          <a:sx n="142" d="100"/>
          <a:sy n="142" d="100"/>
        </p:scale>
        <p:origin x="784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2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3409" y="38750"/>
            <a:ext cx="914400" cy="6126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8209" y="651398"/>
            <a:ext cx="822960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dirty="0">
                <a:solidFill>
                  <a:srgbClr val="102957"/>
                </a:solidFill>
                <a:latin typeface="Comfortaa Medium"/>
              </a:rPr>
              <a:t>Bulent Egrilmez — </a:t>
            </a:r>
            <a:r>
              <a:rPr lang="es-ES" sz="2100" b="0" dirty="0">
                <a:solidFill>
                  <a:srgbClr val="DB509E"/>
                </a:solidFill>
                <a:latin typeface="Comfortaa Medium"/>
              </a:rPr>
              <a:t>Global CTO</a:t>
            </a:r>
            <a:r>
              <a:rPr sz="2100" b="0" dirty="0">
                <a:solidFill>
                  <a:srgbClr val="DB509E"/>
                </a:solidFill>
                <a:latin typeface="Comfortaa Medium"/>
              </a:rPr>
              <a:t>, </a:t>
            </a:r>
            <a:r>
              <a:rPr sz="2100" b="0" dirty="0" err="1">
                <a:solidFill>
                  <a:srgbClr val="DB509E"/>
                </a:solidFill>
                <a:latin typeface="Comfortaa Medium"/>
              </a:rPr>
              <a:t>Cognirise</a:t>
            </a:r>
            <a:endParaRPr sz="2100" b="0" dirty="0">
              <a:solidFill>
                <a:srgbClr val="DB509E"/>
              </a:solidFill>
              <a:latin typeface="Comfortaa Medium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8209" y="1264046"/>
            <a:ext cx="2651760" cy="3401568"/>
          </a:xfrm>
          <a:prstGeom prst="rect">
            <a:avLst/>
          </a:prstGeom>
          <a:solidFill>
            <a:srgbClr val="102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headshot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569" y="1474358"/>
            <a:ext cx="1463040" cy="1463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5369" y="305627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omfortaa Medium"/>
              </a:rPr>
              <a:t>Bulent Egrilmez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5369" y="3275726"/>
            <a:ext cx="2377440" cy="1169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ES" sz="760" b="0" dirty="0">
                <a:solidFill>
                  <a:srgbClr val="DCE4F0"/>
                </a:solidFill>
                <a:latin typeface="Inter"/>
              </a:rPr>
              <a:t>Global CTO</a:t>
            </a:r>
            <a:r>
              <a:rPr sz="760" b="0" dirty="0">
                <a:solidFill>
                  <a:srgbClr val="DCE4F0"/>
                </a:solidFill>
                <a:latin typeface="Inter"/>
              </a:rPr>
              <a:t> · </a:t>
            </a:r>
            <a:r>
              <a:rPr sz="760" b="0" dirty="0" err="1">
                <a:solidFill>
                  <a:srgbClr val="DCE4F0"/>
                </a:solidFill>
                <a:latin typeface="Inter"/>
              </a:rPr>
              <a:t>Cognirise</a:t>
            </a:r>
            <a:endParaRPr sz="760" b="0" dirty="0">
              <a:solidFill>
                <a:srgbClr val="DCE4F0"/>
              </a:solidFill>
              <a:latin typeface="Inter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8249" y="3696350"/>
            <a:ext cx="2011680" cy="9144"/>
          </a:xfrm>
          <a:prstGeom prst="rect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5369" y="3787790"/>
            <a:ext cx="2377440" cy="350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60" b="0" dirty="0">
                <a:solidFill>
                  <a:srgbClr val="DCE4F0"/>
                </a:solidFill>
                <a:latin typeface="Inter"/>
              </a:rPr>
              <a:t>Amsterdam ·</a:t>
            </a:r>
          </a:p>
          <a:p>
            <a:pPr algn="ctr"/>
            <a:r>
              <a:rPr sz="760" b="0" dirty="0" err="1">
                <a:solidFill>
                  <a:srgbClr val="DCE4F0"/>
                </a:solidFill>
                <a:latin typeface="Inter"/>
              </a:rPr>
              <a:t>bulent.egrilmez@cognirise.ai</a:t>
            </a:r>
            <a:endParaRPr sz="760" b="0" dirty="0">
              <a:solidFill>
                <a:srgbClr val="DCE4F0"/>
              </a:solidFill>
              <a:latin typeface="Inter"/>
            </a:endParaRPr>
          </a:p>
          <a:p>
            <a:pPr algn="ctr"/>
            <a:endParaRPr sz="760" b="0" dirty="0">
              <a:solidFill>
                <a:srgbClr val="DCE4F0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5369" y="4373006"/>
            <a:ext cx="2377440" cy="1046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80" b="0" dirty="0">
                <a:solidFill>
                  <a:srgbClr val="DCE4F0"/>
                </a:solidFill>
                <a:latin typeface="Inter"/>
              </a:rPr>
              <a:t>MBA Istanbul Bilgi · BSc </a:t>
            </a:r>
            <a:r>
              <a:rPr sz="680" b="0" dirty="0" err="1">
                <a:solidFill>
                  <a:srgbClr val="DCE4F0"/>
                </a:solidFill>
                <a:latin typeface="Inter"/>
              </a:rPr>
              <a:t>Boğaziçi</a:t>
            </a:r>
            <a:r>
              <a:rPr sz="680" b="0" dirty="0">
                <a:solidFill>
                  <a:srgbClr val="DCE4F0"/>
                </a:solidFill>
                <a:latin typeface="Inter"/>
              </a:rP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289" y="1264046"/>
            <a:ext cx="5303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spc="80">
                <a:solidFill>
                  <a:srgbClr val="102957"/>
                </a:solidFill>
                <a:latin typeface="Inter"/>
              </a:rPr>
              <a:t>IN SHORT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289" y="1465214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>
                <a:solidFill>
                  <a:srgbClr val="60708D"/>
                </a:solidFill>
                <a:latin typeface="Inter"/>
              </a:rPr>
              <a:t>25+ years building and running technology in regulated industries — payments, banking, insurance and enterprise software — now focused on agentic AI systems that go beyond pilots into production. Bulent leads engagements end to end: from scoping and architecture to hands-on delivery with human + agent teams, across Europe, MENA, Africa and the CIS.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64289" y="2388758"/>
            <a:ext cx="1691640" cy="65836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017" y="2434478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FF7A63"/>
                </a:solidFill>
                <a:latin typeface="Comfortaa Medium"/>
              </a:rPr>
              <a:t>25+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017" y="2781950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60708D"/>
                </a:solidFill>
                <a:latin typeface="Inter"/>
              </a:rPr>
              <a:t>years in technology and consulting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65657" y="2388758"/>
            <a:ext cx="1691640" cy="65836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75385" y="2434478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FF7A63"/>
                </a:solidFill>
                <a:latin typeface="Comfortaa Medium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5385" y="2781950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60708D"/>
                </a:solidFill>
                <a:latin typeface="Inter"/>
              </a:rPr>
              <a:t>regions: Europe · MENA · Africa · CIS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67025" y="2388758"/>
            <a:ext cx="1691640" cy="65836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76753" y="2434478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FF7A63"/>
                </a:solidFill>
                <a:latin typeface="Comfortaa Medium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76753" y="2781950"/>
            <a:ext cx="150876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dirty="0">
                <a:solidFill>
                  <a:srgbClr val="60708D"/>
                </a:solidFill>
                <a:latin typeface="Inter"/>
              </a:rPr>
              <a:t>firms led: </a:t>
            </a:r>
            <a:r>
              <a:rPr sz="700" b="0" dirty="0" err="1">
                <a:solidFill>
                  <a:srgbClr val="60708D"/>
                </a:solidFill>
                <a:latin typeface="Inter"/>
              </a:rPr>
              <a:t>Cognirise</a:t>
            </a:r>
            <a:r>
              <a:rPr sz="700" b="0" dirty="0">
                <a:solidFill>
                  <a:srgbClr val="60708D"/>
                </a:solidFill>
                <a:latin typeface="Inter"/>
              </a:rPr>
              <a:t> · Agentic Dynamic 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64289" y="3211718"/>
            <a:ext cx="2606040" cy="1453896"/>
          </a:xfrm>
          <a:prstGeom prst="rect">
            <a:avLst/>
          </a:prstGeom>
          <a:noFill/>
          <a:ln w="9525">
            <a:solidFill>
              <a:srgbClr val="CBD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364289" y="3211718"/>
            <a:ext cx="2606040" cy="18288"/>
          </a:xfrm>
          <a:prstGeom prst="rect">
            <a:avLst/>
          </a:prstGeom>
          <a:solidFill>
            <a:srgbClr val="102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92305" y="3330590"/>
            <a:ext cx="23774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spc="80">
                <a:solidFill>
                  <a:srgbClr val="102957"/>
                </a:solidFill>
                <a:latin typeface="Inter"/>
              </a:rPr>
              <a:t>WHAT HE BRINGS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92305" y="3513470"/>
            <a:ext cx="237744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740" b="1">
                <a:solidFill>
                  <a:srgbClr val="DB509E"/>
                </a:solidFill>
                <a:latin typeface="Inter"/>
              </a:rPr>
              <a:t>•  </a:t>
            </a:r>
            <a:r>
              <a:rPr sz="740">
                <a:solidFill>
                  <a:srgbClr val="60708D"/>
                </a:solidFill>
                <a:latin typeface="Inter"/>
              </a:rPr>
              <a:t>Sovereign AI infrastructure, enterprise RAG, agentic workflows, voice AI</a:t>
            </a:r>
          </a:p>
          <a:p>
            <a:pPr>
              <a:spcAft>
                <a:spcPts val="250"/>
              </a:spcAft>
            </a:pPr>
            <a:r>
              <a:rPr sz="740" b="1">
                <a:solidFill>
                  <a:srgbClr val="DB509E"/>
                </a:solidFill>
                <a:latin typeface="Inter"/>
              </a:rPr>
              <a:t>•  </a:t>
            </a:r>
            <a:r>
              <a:rPr sz="740">
                <a:solidFill>
                  <a:srgbClr val="60708D"/>
                </a:solidFill>
                <a:latin typeface="Inter"/>
              </a:rPr>
              <a:t>Payments end to end: Visa Consulting (network) and issuer-side banking</a:t>
            </a:r>
          </a:p>
          <a:p>
            <a:pPr>
              <a:spcAft>
                <a:spcPts val="250"/>
              </a:spcAft>
            </a:pPr>
            <a:r>
              <a:rPr sz="740" b="1">
                <a:solidFill>
                  <a:srgbClr val="DB509E"/>
                </a:solidFill>
                <a:latin typeface="Inter"/>
              </a:rPr>
              <a:t>•  </a:t>
            </a:r>
            <a:r>
              <a:rPr sz="740">
                <a:solidFill>
                  <a:srgbClr val="60708D"/>
                </a:solidFill>
                <a:latin typeface="Inter"/>
              </a:rPr>
              <a:t>SAP S/4HANA transformations, fintech, IoT and blockchain delivery</a:t>
            </a:r>
          </a:p>
          <a:p>
            <a:pPr>
              <a:spcAft>
                <a:spcPts val="250"/>
              </a:spcAft>
            </a:pPr>
            <a:r>
              <a:rPr sz="740" b="1">
                <a:solidFill>
                  <a:srgbClr val="DB509E"/>
                </a:solidFill>
                <a:latin typeface="Inter"/>
              </a:rPr>
              <a:t>•  </a:t>
            </a:r>
            <a:r>
              <a:rPr sz="740">
                <a:solidFill>
                  <a:srgbClr val="60708D"/>
                </a:solidFill>
                <a:latin typeface="Inter"/>
              </a:rPr>
              <a:t>Azure: Databricks, Functions, DevOps, Terraform; on-prem LLMs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61769" y="3211718"/>
            <a:ext cx="2606040" cy="1453896"/>
          </a:xfrm>
          <a:prstGeom prst="rect">
            <a:avLst/>
          </a:prstGeom>
          <a:noFill/>
          <a:ln w="9525">
            <a:solidFill>
              <a:srgbClr val="CBD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061769" y="3211718"/>
            <a:ext cx="2606040" cy="18288"/>
          </a:xfrm>
          <a:prstGeom prst="rect">
            <a:avLst/>
          </a:prstGeom>
          <a:solidFill>
            <a:srgbClr val="DB5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89785" y="3330590"/>
            <a:ext cx="23774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spc="80">
                <a:solidFill>
                  <a:srgbClr val="DB509E"/>
                </a:solidFill>
                <a:latin typeface="Inter"/>
              </a:rPr>
              <a:t>TRACK RECORD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89785" y="3513470"/>
            <a:ext cx="2377440" cy="79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740" b="1" dirty="0">
                <a:solidFill>
                  <a:srgbClr val="DB509E"/>
                </a:solidFill>
                <a:latin typeface="Inter"/>
              </a:rPr>
              <a:t>•  </a:t>
            </a:r>
            <a:r>
              <a:rPr sz="740" dirty="0">
                <a:solidFill>
                  <a:srgbClr val="60708D"/>
                </a:solidFill>
                <a:latin typeface="Inter"/>
              </a:rPr>
              <a:t>MD Strategy, </a:t>
            </a:r>
            <a:r>
              <a:rPr sz="740" dirty="0" err="1">
                <a:solidFill>
                  <a:srgbClr val="60708D"/>
                </a:solidFill>
                <a:latin typeface="Inter"/>
              </a:rPr>
              <a:t>Aktif</a:t>
            </a:r>
            <a:r>
              <a:rPr sz="740" dirty="0">
                <a:solidFill>
                  <a:srgbClr val="60708D"/>
                </a:solidFill>
                <a:latin typeface="Inter"/>
              </a:rPr>
              <a:t> Bank · CPO, </a:t>
            </a:r>
            <a:r>
              <a:rPr lang="es-ES" sz="740" dirty="0" err="1">
                <a:solidFill>
                  <a:srgbClr val="60708D"/>
                </a:solidFill>
                <a:latin typeface="Inter"/>
              </a:rPr>
              <a:t>Agentic</a:t>
            </a:r>
            <a:r>
              <a:rPr lang="es-ES" sz="740" dirty="0">
                <a:solidFill>
                  <a:srgbClr val="60708D"/>
                </a:solidFill>
                <a:latin typeface="Inter"/>
              </a:rPr>
              <a:t> Dynamic - </a:t>
            </a:r>
            <a:r>
              <a:rPr lang="es-ES" sz="740" dirty="0" err="1">
                <a:solidFill>
                  <a:srgbClr val="60708D"/>
                </a:solidFill>
                <a:latin typeface="Inter"/>
              </a:rPr>
              <a:t>Founder</a:t>
            </a:r>
            <a:endParaRPr sz="740" dirty="0">
              <a:solidFill>
                <a:srgbClr val="60708D"/>
              </a:solidFill>
              <a:latin typeface="Inter"/>
            </a:endParaRPr>
          </a:p>
          <a:p>
            <a:pPr>
              <a:spcAft>
                <a:spcPts val="250"/>
              </a:spcAft>
            </a:pPr>
            <a:r>
              <a:rPr sz="740" b="1" dirty="0">
                <a:solidFill>
                  <a:srgbClr val="DB509E"/>
                </a:solidFill>
                <a:latin typeface="Inter"/>
              </a:rPr>
              <a:t>•  </a:t>
            </a:r>
            <a:r>
              <a:rPr sz="740" dirty="0">
                <a:solidFill>
                  <a:srgbClr val="60708D"/>
                </a:solidFill>
                <a:latin typeface="Inter"/>
              </a:rPr>
              <a:t>Peppers &amp; Rogers, Pegasystems, STMicroelectronics, SAP SE</a:t>
            </a:r>
          </a:p>
          <a:p>
            <a:pPr>
              <a:spcAft>
                <a:spcPts val="250"/>
              </a:spcAft>
            </a:pPr>
            <a:r>
              <a:rPr sz="740" b="1" dirty="0">
                <a:solidFill>
                  <a:srgbClr val="DB509E"/>
                </a:solidFill>
                <a:latin typeface="Inter"/>
              </a:rPr>
              <a:t>•  </a:t>
            </a:r>
            <a:r>
              <a:rPr sz="740" dirty="0">
                <a:solidFill>
                  <a:srgbClr val="60708D"/>
                </a:solidFill>
                <a:latin typeface="Inter"/>
              </a:rPr>
              <a:t>Agentic </a:t>
            </a:r>
            <a:r>
              <a:rPr sz="740" dirty="0" err="1">
                <a:solidFill>
                  <a:srgbClr val="60708D"/>
                </a:solidFill>
                <a:latin typeface="Inter"/>
              </a:rPr>
              <a:t>PoCs</a:t>
            </a:r>
            <a:r>
              <a:rPr sz="740" dirty="0">
                <a:solidFill>
                  <a:srgbClr val="60708D"/>
                </a:solidFill>
                <a:latin typeface="Inter"/>
              </a:rPr>
              <a:t> for insurers and banks: NN, Groupama, Mastercard AML</a:t>
            </a:r>
          </a:p>
          <a:p>
            <a:pPr>
              <a:spcAft>
                <a:spcPts val="250"/>
              </a:spcAft>
            </a:pPr>
            <a:r>
              <a:rPr sz="740" b="1" dirty="0">
                <a:solidFill>
                  <a:srgbClr val="DB509E"/>
                </a:solidFill>
                <a:latin typeface="Inter"/>
              </a:rPr>
              <a:t>•  </a:t>
            </a:r>
            <a:r>
              <a:rPr sz="740" dirty="0">
                <a:solidFill>
                  <a:srgbClr val="60708D"/>
                </a:solidFill>
                <a:latin typeface="Inter"/>
              </a:rPr>
              <a:t>UAE MOEI agentic platform (19 agents); TASAMA sovereign GCP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36288" y="4747910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227</Words>
  <Application>Microsoft Macintosh PowerPoint</Application>
  <PresentationFormat>On-screen Show (16:9)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Comfortaa Medium</vt:lpstr>
      <vt:lpstr>Inter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Bulent Egrilmez</cp:lastModifiedBy>
  <cp:revision>2</cp:revision>
  <dcterms:created xsi:type="dcterms:W3CDTF">2013-01-27T09:14:16Z</dcterms:created>
  <dcterms:modified xsi:type="dcterms:W3CDTF">2026-09-29T07:34:33Z</dcterms:modified>
  <cp:category/>
</cp:coreProperties>
</file>